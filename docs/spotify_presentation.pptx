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5"/>
  </p:notesMasterIdLst>
  <p:handoutMasterIdLst>
    <p:handoutMasterId r:id="rId26"/>
  </p:handoutMasterIdLst>
  <p:sldIdLst>
    <p:sldId id="256" r:id="rId5"/>
    <p:sldId id="257" r:id="rId6"/>
    <p:sldId id="258" r:id="rId7"/>
    <p:sldId id="259" r:id="rId8"/>
    <p:sldId id="261" r:id="rId9"/>
    <p:sldId id="262" r:id="rId10"/>
    <p:sldId id="263" r:id="rId11"/>
    <p:sldId id="270" r:id="rId12"/>
    <p:sldId id="260" r:id="rId13"/>
    <p:sldId id="272" r:id="rId14"/>
    <p:sldId id="277" r:id="rId15"/>
    <p:sldId id="273" r:id="rId16"/>
    <p:sldId id="274" r:id="rId17"/>
    <p:sldId id="275" r:id="rId18"/>
    <p:sldId id="276" r:id="rId19"/>
    <p:sldId id="265" r:id="rId20"/>
    <p:sldId id="267" r:id="rId21"/>
    <p:sldId id="268" r:id="rId22"/>
    <p:sldId id="269" r:id="rId23"/>
    <p:sldId id="271"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B954"/>
    <a:srgbClr val="1ED760"/>
    <a:srgbClr val="08220B"/>
    <a:srgbClr val="2EBD59"/>
    <a:srgbClr val="A5E9BA"/>
    <a:srgbClr val="B3B3B3"/>
    <a:srgbClr val="121212"/>
    <a:srgbClr val="1914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5BDEA1-5F81-41F1-BF63-03C1E2D89E8E}" v="5398" dt="2026-02-20T14:03:56.99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57" autoAdjust="0"/>
    <p:restoredTop sz="94660"/>
  </p:normalViewPr>
  <p:slideViewPr>
    <p:cSldViewPr snapToGrid="0">
      <p:cViewPr>
        <p:scale>
          <a:sx n="85" d="100"/>
          <a:sy n="85" d="100"/>
        </p:scale>
        <p:origin x="579"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30CA107-817C-0301-E0DE-1D09598928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349CBD4B-2939-5B80-34AF-52A0FE88D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9E48D3-E09A-4573-B715-CCD8606594B0}" type="datetimeFigureOut">
              <a:rPr lang="fr-FR" smtClean="0"/>
              <a:t>26/03/2026</a:t>
            </a:fld>
            <a:endParaRPr lang="fr-FR"/>
          </a:p>
        </p:txBody>
      </p:sp>
      <p:sp>
        <p:nvSpPr>
          <p:cNvPr id="4" name="Espace réservé du pied de page 3">
            <a:extLst>
              <a:ext uri="{FF2B5EF4-FFF2-40B4-BE49-F238E27FC236}">
                <a16:creationId xmlns:a16="http://schemas.microsoft.com/office/drawing/2014/main" id="{FCABE80F-4D5D-BE2C-B109-1DDFEB56C5D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CF05043-0BF9-65A8-18F4-B092655D4C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523C75-A550-4951-97CA-0AE5D450E974}" type="slidenum">
              <a:rPr lang="fr-FR" smtClean="0"/>
              <a:t>‹N°›</a:t>
            </a:fld>
            <a:endParaRPr lang="fr-FR"/>
          </a:p>
        </p:txBody>
      </p:sp>
    </p:spTree>
    <p:extLst>
      <p:ext uri="{BB962C8B-B14F-4D97-AF65-F5344CB8AC3E}">
        <p14:creationId xmlns:p14="http://schemas.microsoft.com/office/powerpoint/2010/main" val="34263438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9CBB0E-7ECE-4EF7-A3C4-B078B919882A}" type="datetimeFigureOut">
              <a:rPr lang="fr-FR" smtClean="0"/>
              <a:t>26/03/2026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A63A2-81B1-4124-A0A7-6DC8AE0FDD7A}" type="slidenum">
              <a:rPr lang="fr-FR" smtClean="0"/>
              <a:t>‹N°›</a:t>
            </a:fld>
            <a:endParaRPr lang="fr-FR"/>
          </a:p>
        </p:txBody>
      </p:sp>
    </p:spTree>
    <p:extLst>
      <p:ext uri="{BB962C8B-B14F-4D97-AF65-F5344CB8AC3E}">
        <p14:creationId xmlns:p14="http://schemas.microsoft.com/office/powerpoint/2010/main" val="28294655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6693B4-3880-C7B5-4640-CF9482E2B02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97883BA-8037-38E2-7B06-6029824BF0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618417B-EB44-D6B0-DE61-9E721F5D16E1}"/>
              </a:ext>
            </a:extLst>
          </p:cNvPr>
          <p:cNvSpPr>
            <a:spLocks noGrp="1"/>
          </p:cNvSpPr>
          <p:nvPr>
            <p:ph type="dt" sz="half" idx="10"/>
          </p:nvPr>
        </p:nvSpPr>
        <p:spPr/>
        <p:txBody>
          <a:bodyPr/>
          <a:lstStyle/>
          <a:p>
            <a:fld id="{A5BFD48B-D2CE-42AD-8C9B-421F984CA1F0}" type="datetime1">
              <a:rPr lang="fr-FR" smtClean="0"/>
              <a:t>26/03/2026</a:t>
            </a:fld>
            <a:endParaRPr lang="fr-FR"/>
          </a:p>
        </p:txBody>
      </p:sp>
      <p:sp>
        <p:nvSpPr>
          <p:cNvPr id="5" name="Espace réservé du pied de page 4">
            <a:extLst>
              <a:ext uri="{FF2B5EF4-FFF2-40B4-BE49-F238E27FC236}">
                <a16:creationId xmlns:a16="http://schemas.microsoft.com/office/drawing/2014/main" id="{0538086A-B1FD-87E3-9F24-E6C2C99E0949}"/>
              </a:ext>
            </a:extLst>
          </p:cNvPr>
          <p:cNvSpPr>
            <a:spLocks noGrp="1"/>
          </p:cNvSpPr>
          <p:nvPr>
            <p:ph type="ftr" sz="quarter" idx="11"/>
          </p:nvPr>
        </p:nvSpPr>
        <p:spPr/>
        <p:txBody>
          <a:bodyPr/>
          <a:lstStyle/>
          <a:p>
            <a:r>
              <a:rPr lang="fr-FR"/>
              <a:t>PENVEN Carl | PETIT Sevan | RONARC'H Joshua | TIYAL Taha</a:t>
            </a:r>
          </a:p>
        </p:txBody>
      </p:sp>
      <p:sp>
        <p:nvSpPr>
          <p:cNvPr id="6" name="Espace réservé du numéro de diapositive 5">
            <a:extLst>
              <a:ext uri="{FF2B5EF4-FFF2-40B4-BE49-F238E27FC236}">
                <a16:creationId xmlns:a16="http://schemas.microsoft.com/office/drawing/2014/main" id="{2C5F500A-B4C6-FD53-C0FF-6EC2124A27DC}"/>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2197238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141987-2E57-9F5F-7D12-9EF917585DB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782F742-9B91-925D-82FA-7BC968764F4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85AC502-A3FB-A159-EE43-35ED67373195}"/>
              </a:ext>
            </a:extLst>
          </p:cNvPr>
          <p:cNvSpPr>
            <a:spLocks noGrp="1"/>
          </p:cNvSpPr>
          <p:nvPr>
            <p:ph type="dt" sz="half" idx="10"/>
          </p:nvPr>
        </p:nvSpPr>
        <p:spPr/>
        <p:txBody>
          <a:bodyPr/>
          <a:lstStyle/>
          <a:p>
            <a:fld id="{E59A8E7E-486C-4D69-9D50-1732A0246538}" type="datetime1">
              <a:rPr lang="fr-FR" smtClean="0"/>
              <a:t>26/03/2026</a:t>
            </a:fld>
            <a:endParaRPr lang="fr-FR"/>
          </a:p>
        </p:txBody>
      </p:sp>
      <p:sp>
        <p:nvSpPr>
          <p:cNvPr id="5" name="Espace réservé du pied de page 4">
            <a:extLst>
              <a:ext uri="{FF2B5EF4-FFF2-40B4-BE49-F238E27FC236}">
                <a16:creationId xmlns:a16="http://schemas.microsoft.com/office/drawing/2014/main" id="{22739482-760C-0F19-5426-B94742FF7B6B}"/>
              </a:ext>
            </a:extLst>
          </p:cNvPr>
          <p:cNvSpPr>
            <a:spLocks noGrp="1"/>
          </p:cNvSpPr>
          <p:nvPr>
            <p:ph type="ftr" sz="quarter" idx="11"/>
          </p:nvPr>
        </p:nvSpPr>
        <p:spPr/>
        <p:txBody>
          <a:bodyPr/>
          <a:lstStyle/>
          <a:p>
            <a:r>
              <a:rPr lang="fr-FR"/>
              <a:t>PENVEN Carl | PETIT Sevan | RONARC'H Joshua | TIYAL Taha</a:t>
            </a:r>
          </a:p>
        </p:txBody>
      </p:sp>
      <p:sp>
        <p:nvSpPr>
          <p:cNvPr id="6" name="Espace réservé du numéro de diapositive 5">
            <a:extLst>
              <a:ext uri="{FF2B5EF4-FFF2-40B4-BE49-F238E27FC236}">
                <a16:creationId xmlns:a16="http://schemas.microsoft.com/office/drawing/2014/main" id="{31FC8062-DC02-9555-0D8C-3D1459A6595F}"/>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659751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059D06-B566-E968-2B4C-B877CF391E5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7DC456D-DEA1-97AF-3864-7D5AC6809C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AA8593D-C3D1-BC08-EE19-1A9A2F8D2D22}"/>
              </a:ext>
            </a:extLst>
          </p:cNvPr>
          <p:cNvSpPr>
            <a:spLocks noGrp="1"/>
          </p:cNvSpPr>
          <p:nvPr>
            <p:ph type="dt" sz="half" idx="10"/>
          </p:nvPr>
        </p:nvSpPr>
        <p:spPr/>
        <p:txBody>
          <a:bodyPr/>
          <a:lstStyle/>
          <a:p>
            <a:fld id="{B3A90FB7-7DF6-49A8-8AF4-DE390DC5FCF4}" type="datetime1">
              <a:rPr lang="fr-FR" smtClean="0"/>
              <a:t>26/03/2026</a:t>
            </a:fld>
            <a:endParaRPr lang="fr-FR"/>
          </a:p>
        </p:txBody>
      </p:sp>
      <p:sp>
        <p:nvSpPr>
          <p:cNvPr id="5" name="Espace réservé du pied de page 4">
            <a:extLst>
              <a:ext uri="{FF2B5EF4-FFF2-40B4-BE49-F238E27FC236}">
                <a16:creationId xmlns:a16="http://schemas.microsoft.com/office/drawing/2014/main" id="{28BF62E0-8473-AFE9-3C1A-B4A454170AA1}"/>
              </a:ext>
            </a:extLst>
          </p:cNvPr>
          <p:cNvSpPr>
            <a:spLocks noGrp="1"/>
          </p:cNvSpPr>
          <p:nvPr>
            <p:ph type="ftr" sz="quarter" idx="11"/>
          </p:nvPr>
        </p:nvSpPr>
        <p:spPr/>
        <p:txBody>
          <a:bodyPr/>
          <a:lstStyle/>
          <a:p>
            <a:r>
              <a:rPr lang="fr-FR"/>
              <a:t>PENVEN Carl | PETIT Sevan | RONARC'H Joshua | TIYAL Taha</a:t>
            </a:r>
          </a:p>
        </p:txBody>
      </p:sp>
      <p:sp>
        <p:nvSpPr>
          <p:cNvPr id="6" name="Espace réservé du numéro de diapositive 5">
            <a:extLst>
              <a:ext uri="{FF2B5EF4-FFF2-40B4-BE49-F238E27FC236}">
                <a16:creationId xmlns:a16="http://schemas.microsoft.com/office/drawing/2014/main" id="{EC28D770-82EA-65C8-8FF0-DB805F4C4595}"/>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1881099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83721-B766-265B-AC20-48775937E59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D9BB4A1-5B80-787A-863F-D9CA9E1C7F3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694E9D0-3A95-91F8-05BA-544BB39FC9D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1EE7F7E-747B-C4FA-D798-9971CD8CBF8F}"/>
              </a:ext>
            </a:extLst>
          </p:cNvPr>
          <p:cNvSpPr>
            <a:spLocks noGrp="1"/>
          </p:cNvSpPr>
          <p:nvPr>
            <p:ph type="dt" sz="half" idx="10"/>
          </p:nvPr>
        </p:nvSpPr>
        <p:spPr/>
        <p:txBody>
          <a:bodyPr/>
          <a:lstStyle/>
          <a:p>
            <a:fld id="{DDD3CAED-6397-48CD-9309-2EFF8262553A}" type="datetime1">
              <a:rPr lang="fr-FR" smtClean="0"/>
              <a:t>26/03/2026</a:t>
            </a:fld>
            <a:endParaRPr lang="fr-FR"/>
          </a:p>
        </p:txBody>
      </p:sp>
      <p:sp>
        <p:nvSpPr>
          <p:cNvPr id="6" name="Espace réservé du pied de page 5">
            <a:extLst>
              <a:ext uri="{FF2B5EF4-FFF2-40B4-BE49-F238E27FC236}">
                <a16:creationId xmlns:a16="http://schemas.microsoft.com/office/drawing/2014/main" id="{5085B763-22E6-45F2-AFD8-D043FBC2CDD9}"/>
              </a:ext>
            </a:extLst>
          </p:cNvPr>
          <p:cNvSpPr>
            <a:spLocks noGrp="1"/>
          </p:cNvSpPr>
          <p:nvPr>
            <p:ph type="ftr" sz="quarter" idx="11"/>
          </p:nvPr>
        </p:nvSpPr>
        <p:spPr/>
        <p:txBody>
          <a:bodyPr/>
          <a:lstStyle/>
          <a:p>
            <a:r>
              <a:rPr lang="fr-FR"/>
              <a:t>PENVEN Carl | PETIT Sevan | RONARC'H Joshua | TIYAL Taha</a:t>
            </a:r>
          </a:p>
        </p:txBody>
      </p:sp>
      <p:sp>
        <p:nvSpPr>
          <p:cNvPr id="7" name="Espace réservé du numéro de diapositive 6">
            <a:extLst>
              <a:ext uri="{FF2B5EF4-FFF2-40B4-BE49-F238E27FC236}">
                <a16:creationId xmlns:a16="http://schemas.microsoft.com/office/drawing/2014/main" id="{F188E2BE-E587-057D-A8B8-B74CAA38713E}"/>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4047989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6DC256-E079-16B4-48FA-3071B5AF90C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7A3F594-7FB0-8E28-CB33-F6E12F1345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524518C-8A22-5657-8D6E-A1111CBB337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9A0F3DE-9237-49D4-F414-FA8D6A7D63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69C437B-D34B-C7D6-E756-8B11FC32BDE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9084570-9B1A-A1E1-2B59-D380F57957E6}"/>
              </a:ext>
            </a:extLst>
          </p:cNvPr>
          <p:cNvSpPr>
            <a:spLocks noGrp="1"/>
          </p:cNvSpPr>
          <p:nvPr>
            <p:ph type="dt" sz="half" idx="10"/>
          </p:nvPr>
        </p:nvSpPr>
        <p:spPr/>
        <p:txBody>
          <a:bodyPr/>
          <a:lstStyle/>
          <a:p>
            <a:fld id="{5C25334C-77CF-4701-82F2-3AC490D2D666}" type="datetime1">
              <a:rPr lang="fr-FR" smtClean="0"/>
              <a:t>26/03/2026</a:t>
            </a:fld>
            <a:endParaRPr lang="fr-FR"/>
          </a:p>
        </p:txBody>
      </p:sp>
      <p:sp>
        <p:nvSpPr>
          <p:cNvPr id="8" name="Espace réservé du pied de page 7">
            <a:extLst>
              <a:ext uri="{FF2B5EF4-FFF2-40B4-BE49-F238E27FC236}">
                <a16:creationId xmlns:a16="http://schemas.microsoft.com/office/drawing/2014/main" id="{20D31601-87FA-5885-C765-8CDEDC2ED96A}"/>
              </a:ext>
            </a:extLst>
          </p:cNvPr>
          <p:cNvSpPr>
            <a:spLocks noGrp="1"/>
          </p:cNvSpPr>
          <p:nvPr>
            <p:ph type="ftr" sz="quarter" idx="11"/>
          </p:nvPr>
        </p:nvSpPr>
        <p:spPr/>
        <p:txBody>
          <a:bodyPr/>
          <a:lstStyle/>
          <a:p>
            <a:r>
              <a:rPr lang="fr-FR"/>
              <a:t>PENVEN Carl | PETIT Sevan | RONARC'H Joshua | TIYAL Taha</a:t>
            </a:r>
          </a:p>
        </p:txBody>
      </p:sp>
      <p:sp>
        <p:nvSpPr>
          <p:cNvPr id="9" name="Espace réservé du numéro de diapositive 8">
            <a:extLst>
              <a:ext uri="{FF2B5EF4-FFF2-40B4-BE49-F238E27FC236}">
                <a16:creationId xmlns:a16="http://schemas.microsoft.com/office/drawing/2014/main" id="{F2C91D68-4034-B791-AAC7-4E6FA0F8AD99}"/>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4289302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2355D2-7017-743F-1AA9-24B062BFE2F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FF012D7-A507-1CBA-ABB1-FFFE94AEB158}"/>
              </a:ext>
            </a:extLst>
          </p:cNvPr>
          <p:cNvSpPr>
            <a:spLocks noGrp="1"/>
          </p:cNvSpPr>
          <p:nvPr>
            <p:ph type="dt" sz="half" idx="10"/>
          </p:nvPr>
        </p:nvSpPr>
        <p:spPr/>
        <p:txBody>
          <a:bodyPr/>
          <a:lstStyle/>
          <a:p>
            <a:fld id="{EB954E1C-94F3-4AF3-85F8-316A173B0B97}" type="datetime1">
              <a:rPr lang="fr-FR" smtClean="0"/>
              <a:t>26/03/2026</a:t>
            </a:fld>
            <a:endParaRPr lang="fr-FR"/>
          </a:p>
        </p:txBody>
      </p:sp>
      <p:sp>
        <p:nvSpPr>
          <p:cNvPr id="4" name="Espace réservé du pied de page 3">
            <a:extLst>
              <a:ext uri="{FF2B5EF4-FFF2-40B4-BE49-F238E27FC236}">
                <a16:creationId xmlns:a16="http://schemas.microsoft.com/office/drawing/2014/main" id="{08E8E42D-302F-F1F7-7C45-BEDF8B4A9B29}"/>
              </a:ext>
            </a:extLst>
          </p:cNvPr>
          <p:cNvSpPr>
            <a:spLocks noGrp="1"/>
          </p:cNvSpPr>
          <p:nvPr>
            <p:ph type="ftr" sz="quarter" idx="11"/>
          </p:nvPr>
        </p:nvSpPr>
        <p:spPr/>
        <p:txBody>
          <a:bodyPr/>
          <a:lstStyle/>
          <a:p>
            <a:r>
              <a:rPr lang="fr-FR"/>
              <a:t>PENVEN Carl | PETIT Sevan | RONARC'H Joshua | TIYAL Taha</a:t>
            </a:r>
          </a:p>
        </p:txBody>
      </p:sp>
      <p:sp>
        <p:nvSpPr>
          <p:cNvPr id="5" name="Espace réservé du numéro de diapositive 4">
            <a:extLst>
              <a:ext uri="{FF2B5EF4-FFF2-40B4-BE49-F238E27FC236}">
                <a16:creationId xmlns:a16="http://schemas.microsoft.com/office/drawing/2014/main" id="{12960E19-6A0B-D177-C942-9C6FC81F181D}"/>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117798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26A05AE-E8C6-8B1E-8781-25E8C256CA95}"/>
              </a:ext>
            </a:extLst>
          </p:cNvPr>
          <p:cNvSpPr>
            <a:spLocks noGrp="1"/>
          </p:cNvSpPr>
          <p:nvPr>
            <p:ph type="dt" sz="half" idx="10"/>
          </p:nvPr>
        </p:nvSpPr>
        <p:spPr/>
        <p:txBody>
          <a:bodyPr/>
          <a:lstStyle/>
          <a:p>
            <a:fld id="{4FD12EA8-D5AC-4753-ABC0-2BE9A121B8F9}" type="datetime1">
              <a:rPr lang="fr-FR" smtClean="0"/>
              <a:t>26/03/2026</a:t>
            </a:fld>
            <a:endParaRPr lang="fr-FR"/>
          </a:p>
        </p:txBody>
      </p:sp>
      <p:sp>
        <p:nvSpPr>
          <p:cNvPr id="3" name="Espace réservé du pied de page 2">
            <a:extLst>
              <a:ext uri="{FF2B5EF4-FFF2-40B4-BE49-F238E27FC236}">
                <a16:creationId xmlns:a16="http://schemas.microsoft.com/office/drawing/2014/main" id="{155AF7E8-668E-01DC-1FBA-A02B73E4BB7D}"/>
              </a:ext>
            </a:extLst>
          </p:cNvPr>
          <p:cNvSpPr>
            <a:spLocks noGrp="1"/>
          </p:cNvSpPr>
          <p:nvPr>
            <p:ph type="ftr" sz="quarter" idx="11"/>
          </p:nvPr>
        </p:nvSpPr>
        <p:spPr/>
        <p:txBody>
          <a:bodyPr/>
          <a:lstStyle/>
          <a:p>
            <a:r>
              <a:rPr lang="fr-FR"/>
              <a:t>PENVEN Carl | PETIT Sevan | RONARC'H Joshua | TIYAL Taha</a:t>
            </a:r>
          </a:p>
        </p:txBody>
      </p:sp>
      <p:sp>
        <p:nvSpPr>
          <p:cNvPr id="4" name="Espace réservé du numéro de diapositive 3">
            <a:extLst>
              <a:ext uri="{FF2B5EF4-FFF2-40B4-BE49-F238E27FC236}">
                <a16:creationId xmlns:a16="http://schemas.microsoft.com/office/drawing/2014/main" id="{0A9C963D-A08E-D0BC-E448-29DB0D032000}"/>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929627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7C8015-85CB-581B-3BFC-7986085509A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F38A6D4-BB5B-5B01-B6BA-DD59793E36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70549A5-EF3C-47DA-C725-6532E57501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BB3015A-C06B-95F7-1511-51AE092E20CE}"/>
              </a:ext>
            </a:extLst>
          </p:cNvPr>
          <p:cNvSpPr>
            <a:spLocks noGrp="1"/>
          </p:cNvSpPr>
          <p:nvPr>
            <p:ph type="dt" sz="half" idx="10"/>
          </p:nvPr>
        </p:nvSpPr>
        <p:spPr/>
        <p:txBody>
          <a:bodyPr/>
          <a:lstStyle/>
          <a:p>
            <a:fld id="{2451F727-526B-4F0D-A2B2-7B35552F74A4}" type="datetime1">
              <a:rPr lang="fr-FR" smtClean="0"/>
              <a:t>26/03/2026</a:t>
            </a:fld>
            <a:endParaRPr lang="fr-FR"/>
          </a:p>
        </p:txBody>
      </p:sp>
      <p:sp>
        <p:nvSpPr>
          <p:cNvPr id="6" name="Espace réservé du pied de page 5">
            <a:extLst>
              <a:ext uri="{FF2B5EF4-FFF2-40B4-BE49-F238E27FC236}">
                <a16:creationId xmlns:a16="http://schemas.microsoft.com/office/drawing/2014/main" id="{54DF93D4-CD6B-99D8-1CF8-8E782A7BEC48}"/>
              </a:ext>
            </a:extLst>
          </p:cNvPr>
          <p:cNvSpPr>
            <a:spLocks noGrp="1"/>
          </p:cNvSpPr>
          <p:nvPr>
            <p:ph type="ftr" sz="quarter" idx="11"/>
          </p:nvPr>
        </p:nvSpPr>
        <p:spPr/>
        <p:txBody>
          <a:bodyPr/>
          <a:lstStyle/>
          <a:p>
            <a:r>
              <a:rPr lang="fr-FR"/>
              <a:t>PENVEN Carl | PETIT Sevan | RONARC'H Joshua | TIYAL Taha</a:t>
            </a:r>
          </a:p>
        </p:txBody>
      </p:sp>
      <p:sp>
        <p:nvSpPr>
          <p:cNvPr id="7" name="Espace réservé du numéro de diapositive 6">
            <a:extLst>
              <a:ext uri="{FF2B5EF4-FFF2-40B4-BE49-F238E27FC236}">
                <a16:creationId xmlns:a16="http://schemas.microsoft.com/office/drawing/2014/main" id="{EDD74FAF-BB4C-D93C-6A61-BE00E0D48EAA}"/>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1634942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5B6D21-BCE1-5C79-4B80-810EC681901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F847DC6-AAA9-D74F-1A07-12CB9F8C08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D4B6644-96D3-73E0-42A8-75233A841B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85CBCD2-6EDA-EE8F-5C6A-AAA08B6F5E4B}"/>
              </a:ext>
            </a:extLst>
          </p:cNvPr>
          <p:cNvSpPr>
            <a:spLocks noGrp="1"/>
          </p:cNvSpPr>
          <p:nvPr>
            <p:ph type="dt" sz="half" idx="10"/>
          </p:nvPr>
        </p:nvSpPr>
        <p:spPr/>
        <p:txBody>
          <a:bodyPr/>
          <a:lstStyle/>
          <a:p>
            <a:fld id="{D6A2708E-E1EF-4A5E-8EFA-DA95F985563C}" type="datetime1">
              <a:rPr lang="fr-FR" smtClean="0"/>
              <a:t>26/03/2026</a:t>
            </a:fld>
            <a:endParaRPr lang="fr-FR"/>
          </a:p>
        </p:txBody>
      </p:sp>
      <p:sp>
        <p:nvSpPr>
          <p:cNvPr id="6" name="Espace réservé du pied de page 5">
            <a:extLst>
              <a:ext uri="{FF2B5EF4-FFF2-40B4-BE49-F238E27FC236}">
                <a16:creationId xmlns:a16="http://schemas.microsoft.com/office/drawing/2014/main" id="{494F84A0-74C8-4240-651E-9E4C0805867C}"/>
              </a:ext>
            </a:extLst>
          </p:cNvPr>
          <p:cNvSpPr>
            <a:spLocks noGrp="1"/>
          </p:cNvSpPr>
          <p:nvPr>
            <p:ph type="ftr" sz="quarter" idx="11"/>
          </p:nvPr>
        </p:nvSpPr>
        <p:spPr/>
        <p:txBody>
          <a:bodyPr/>
          <a:lstStyle/>
          <a:p>
            <a:r>
              <a:rPr lang="fr-FR"/>
              <a:t>PENVEN Carl | PETIT Sevan | RONARC'H Joshua | TIYAL Taha</a:t>
            </a:r>
          </a:p>
        </p:txBody>
      </p:sp>
      <p:sp>
        <p:nvSpPr>
          <p:cNvPr id="7" name="Espace réservé du numéro de diapositive 6">
            <a:extLst>
              <a:ext uri="{FF2B5EF4-FFF2-40B4-BE49-F238E27FC236}">
                <a16:creationId xmlns:a16="http://schemas.microsoft.com/office/drawing/2014/main" id="{C035B5C7-1D59-F143-9230-4BC4FC180F93}"/>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318872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C441B3-92DC-2A3F-E1F5-D1B953ECD14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6081E45-1088-9AAD-0E66-82C7218C135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FBD0EC5-BEBE-AD85-75CA-9B4D08028BC6}"/>
              </a:ext>
            </a:extLst>
          </p:cNvPr>
          <p:cNvSpPr>
            <a:spLocks noGrp="1"/>
          </p:cNvSpPr>
          <p:nvPr>
            <p:ph type="dt" sz="half" idx="10"/>
          </p:nvPr>
        </p:nvSpPr>
        <p:spPr/>
        <p:txBody>
          <a:bodyPr/>
          <a:lstStyle/>
          <a:p>
            <a:fld id="{CDEFFF5B-87DE-4A27-AE68-884EA80CFF63}" type="datetime1">
              <a:rPr lang="fr-FR" smtClean="0"/>
              <a:t>26/03/2026</a:t>
            </a:fld>
            <a:endParaRPr lang="fr-FR"/>
          </a:p>
        </p:txBody>
      </p:sp>
      <p:sp>
        <p:nvSpPr>
          <p:cNvPr id="5" name="Espace réservé du pied de page 4">
            <a:extLst>
              <a:ext uri="{FF2B5EF4-FFF2-40B4-BE49-F238E27FC236}">
                <a16:creationId xmlns:a16="http://schemas.microsoft.com/office/drawing/2014/main" id="{469898AC-0D8E-7B26-EECE-1E50F7050CEF}"/>
              </a:ext>
            </a:extLst>
          </p:cNvPr>
          <p:cNvSpPr>
            <a:spLocks noGrp="1"/>
          </p:cNvSpPr>
          <p:nvPr>
            <p:ph type="ftr" sz="quarter" idx="11"/>
          </p:nvPr>
        </p:nvSpPr>
        <p:spPr/>
        <p:txBody>
          <a:bodyPr/>
          <a:lstStyle/>
          <a:p>
            <a:r>
              <a:rPr lang="fr-FR"/>
              <a:t>PENVEN Carl | PETIT Sevan | RONARC'H Joshua | TIYAL Taha</a:t>
            </a:r>
          </a:p>
        </p:txBody>
      </p:sp>
      <p:sp>
        <p:nvSpPr>
          <p:cNvPr id="6" name="Espace réservé du numéro de diapositive 5">
            <a:extLst>
              <a:ext uri="{FF2B5EF4-FFF2-40B4-BE49-F238E27FC236}">
                <a16:creationId xmlns:a16="http://schemas.microsoft.com/office/drawing/2014/main" id="{449F476B-BD01-C216-E841-87F3EADDA7C6}"/>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708456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2F5BECA-80C2-94DA-D5CF-11DD270E94F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7759D16-D760-FB58-D249-9B512360973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90AE197-9A7A-5FFA-BC24-517CA245BDC4}"/>
              </a:ext>
            </a:extLst>
          </p:cNvPr>
          <p:cNvSpPr>
            <a:spLocks noGrp="1"/>
          </p:cNvSpPr>
          <p:nvPr>
            <p:ph type="dt" sz="half" idx="10"/>
          </p:nvPr>
        </p:nvSpPr>
        <p:spPr/>
        <p:txBody>
          <a:bodyPr/>
          <a:lstStyle/>
          <a:p>
            <a:fld id="{6E3ECFF7-3C9B-4A92-8135-3437C23F6F35}" type="datetime1">
              <a:rPr lang="fr-FR" smtClean="0"/>
              <a:t>26/03/2026</a:t>
            </a:fld>
            <a:endParaRPr lang="fr-FR"/>
          </a:p>
        </p:txBody>
      </p:sp>
      <p:sp>
        <p:nvSpPr>
          <p:cNvPr id="5" name="Espace réservé du pied de page 4">
            <a:extLst>
              <a:ext uri="{FF2B5EF4-FFF2-40B4-BE49-F238E27FC236}">
                <a16:creationId xmlns:a16="http://schemas.microsoft.com/office/drawing/2014/main" id="{D19816CA-55B2-834C-4F92-13E1981006E7}"/>
              </a:ext>
            </a:extLst>
          </p:cNvPr>
          <p:cNvSpPr>
            <a:spLocks noGrp="1"/>
          </p:cNvSpPr>
          <p:nvPr>
            <p:ph type="ftr" sz="quarter" idx="11"/>
          </p:nvPr>
        </p:nvSpPr>
        <p:spPr/>
        <p:txBody>
          <a:bodyPr/>
          <a:lstStyle/>
          <a:p>
            <a:r>
              <a:rPr lang="fr-FR"/>
              <a:t>PENVEN Carl | PETIT Sevan | RONARC'H Joshua | TIYAL Taha</a:t>
            </a:r>
          </a:p>
        </p:txBody>
      </p:sp>
      <p:sp>
        <p:nvSpPr>
          <p:cNvPr id="6" name="Espace réservé du numéro de diapositive 5">
            <a:extLst>
              <a:ext uri="{FF2B5EF4-FFF2-40B4-BE49-F238E27FC236}">
                <a16:creationId xmlns:a16="http://schemas.microsoft.com/office/drawing/2014/main" id="{A3EC8D73-CADC-5D67-D4AE-2B22FF7AEFF9}"/>
              </a:ext>
            </a:extLst>
          </p:cNvPr>
          <p:cNvSpPr>
            <a:spLocks noGrp="1"/>
          </p:cNvSpPr>
          <p:nvPr>
            <p:ph type="sldNum" sz="quarter" idx="12"/>
          </p:nvPr>
        </p:nvSpPr>
        <p:spPr/>
        <p:txBody>
          <a:bodyPr/>
          <a:lstStyle/>
          <a:p>
            <a:fld id="{5D5C5C60-63A0-401E-A392-47CD3E86B338}" type="slidenum">
              <a:rPr lang="fr-FR" smtClean="0"/>
              <a:t>‹N°›</a:t>
            </a:fld>
            <a:endParaRPr lang="fr-FR"/>
          </a:p>
        </p:txBody>
      </p:sp>
    </p:spTree>
    <p:extLst>
      <p:ext uri="{BB962C8B-B14F-4D97-AF65-F5344CB8AC3E}">
        <p14:creationId xmlns:p14="http://schemas.microsoft.com/office/powerpoint/2010/main" val="4283083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1B89E61-0E78-23C3-BE75-43AD3FE0ED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A0B8ACF-1EE8-A762-0711-558CBB56BC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EB47A76-889D-2D4C-9193-E4A574C9F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22ACCB-2021-4941-B1CD-A60E6EF4901A}" type="datetime1">
              <a:rPr lang="fr-FR" smtClean="0"/>
              <a:t>26/03/2026</a:t>
            </a:fld>
            <a:endParaRPr lang="fr-FR"/>
          </a:p>
        </p:txBody>
      </p:sp>
      <p:sp>
        <p:nvSpPr>
          <p:cNvPr id="5" name="Espace réservé du pied de page 4">
            <a:extLst>
              <a:ext uri="{FF2B5EF4-FFF2-40B4-BE49-F238E27FC236}">
                <a16:creationId xmlns:a16="http://schemas.microsoft.com/office/drawing/2014/main" id="{8B4F49D5-FB2D-E849-E62A-F5D0646CF3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PENVEN Carl | PETIT Sevan | RONARC'H Joshua | TIYAL Taha</a:t>
            </a:r>
          </a:p>
        </p:txBody>
      </p:sp>
      <p:sp>
        <p:nvSpPr>
          <p:cNvPr id="6" name="Espace réservé du numéro de diapositive 5">
            <a:extLst>
              <a:ext uri="{FF2B5EF4-FFF2-40B4-BE49-F238E27FC236}">
                <a16:creationId xmlns:a16="http://schemas.microsoft.com/office/drawing/2014/main" id="{D9E7A5CA-CBF1-5B4B-49CF-AB55E67A0A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5C5C60-63A0-401E-A392-47CD3E86B338}" type="slidenum">
              <a:rPr lang="fr-FR" smtClean="0"/>
              <a:t>‹N°›</a:t>
            </a:fld>
            <a:endParaRPr lang="fr-FR"/>
          </a:p>
        </p:txBody>
      </p:sp>
    </p:spTree>
    <p:extLst>
      <p:ext uri="{BB962C8B-B14F-4D97-AF65-F5344CB8AC3E}">
        <p14:creationId xmlns:p14="http://schemas.microsoft.com/office/powerpoint/2010/main" val="901272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9.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1414"/>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423A32-F6FE-304E-4809-B5B70D02D0A5}"/>
              </a:ext>
            </a:extLst>
          </p:cNvPr>
          <p:cNvSpPr>
            <a:spLocks noGrp="1"/>
          </p:cNvSpPr>
          <p:nvPr>
            <p:ph type="ctrTitle"/>
          </p:nvPr>
        </p:nvSpPr>
        <p:spPr>
          <a:xfrm>
            <a:off x="1524000" y="1809911"/>
            <a:ext cx="9144000" cy="1655762"/>
          </a:xfrm>
        </p:spPr>
        <p:txBody>
          <a:bodyPr>
            <a:normAutofit fontScale="90000"/>
          </a:bodyPr>
          <a:lstStyle/>
          <a:p>
            <a:r>
              <a:rPr lang="fr-FR" b="1">
                <a:solidFill>
                  <a:schemeClr val="bg1"/>
                </a:solidFill>
                <a:latin typeface="Calibri"/>
                <a:ea typeface="Calibri"/>
                <a:cs typeface="Calibri"/>
              </a:rPr>
              <a:t>Analyse de la popularité des musiques sur Spotify </a:t>
            </a:r>
          </a:p>
        </p:txBody>
      </p:sp>
      <p:sp>
        <p:nvSpPr>
          <p:cNvPr id="3" name="Sous-titre 2">
            <a:extLst>
              <a:ext uri="{FF2B5EF4-FFF2-40B4-BE49-F238E27FC236}">
                <a16:creationId xmlns:a16="http://schemas.microsoft.com/office/drawing/2014/main" id="{BCAEBFEA-67DC-20E0-84EE-53048A6EE7B6}"/>
              </a:ext>
            </a:extLst>
          </p:cNvPr>
          <p:cNvSpPr>
            <a:spLocks noGrp="1"/>
          </p:cNvSpPr>
          <p:nvPr>
            <p:ph type="subTitle" idx="1"/>
          </p:nvPr>
        </p:nvSpPr>
        <p:spPr>
          <a:xfrm>
            <a:off x="2368296" y="3688364"/>
            <a:ext cx="7455408" cy="1655762"/>
          </a:xfrm>
        </p:spPr>
        <p:txBody>
          <a:bodyPr vert="horz" lIns="91440" tIns="45720" rIns="91440" bIns="45720" rtlCol="0" anchor="t">
            <a:normAutofit/>
          </a:bodyPr>
          <a:lstStyle/>
          <a:p>
            <a:r>
              <a:rPr lang="fr-FR" dirty="0">
                <a:solidFill>
                  <a:schemeClr val="bg1"/>
                </a:solidFill>
                <a:latin typeface="Calibri"/>
                <a:ea typeface="Calibri"/>
                <a:cs typeface="Calibri"/>
              </a:rPr>
              <a:t>Modélisation statistique des écoutes d’une musique en fonction de ses caractéristiques</a:t>
            </a:r>
          </a:p>
        </p:txBody>
      </p:sp>
      <p:pic>
        <p:nvPicPr>
          <p:cNvPr id="4" name="Picture 3">
            <a:extLst>
              <a:ext uri="{FF2B5EF4-FFF2-40B4-BE49-F238E27FC236}">
                <a16:creationId xmlns:a16="http://schemas.microsoft.com/office/drawing/2014/main" id="{812EA456-693E-338A-BF21-AD737AA53591}"/>
              </a:ext>
            </a:extLst>
          </p:cNvPr>
          <p:cNvPicPr>
            <a:picLocks noChangeAspect="1"/>
          </p:cNvPicPr>
          <p:nvPr/>
        </p:nvPicPr>
        <p:blipFill>
          <a:blip r:embed="rId2"/>
          <a:stretch>
            <a:fillRect/>
          </a:stretch>
        </p:blipFill>
        <p:spPr>
          <a:xfrm>
            <a:off x="10666538" y="0"/>
            <a:ext cx="1520382" cy="1478628"/>
          </a:xfrm>
          <a:prstGeom prst="rect">
            <a:avLst/>
          </a:prstGeom>
        </p:spPr>
      </p:pic>
    </p:spTree>
    <p:extLst>
      <p:ext uri="{BB962C8B-B14F-4D97-AF65-F5344CB8AC3E}">
        <p14:creationId xmlns:p14="http://schemas.microsoft.com/office/powerpoint/2010/main" val="1236279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656ACD-5E20-DE95-A602-6999C1F11232}"/>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5AF57BDC-F9FF-243B-84D2-8F1FAB540B55}"/>
              </a:ext>
            </a:extLst>
          </p:cNvPr>
          <p:cNvSpPr>
            <a:spLocks noGrp="1"/>
          </p:cNvSpPr>
          <p:nvPr>
            <p:ph type="sldNum" sz="quarter" idx="12"/>
          </p:nvPr>
        </p:nvSpPr>
        <p:spPr/>
        <p:txBody>
          <a:bodyPr/>
          <a:lstStyle/>
          <a:p>
            <a:fld id="{5D5C5C60-63A0-401E-A392-47CD3E86B338}" type="slidenum">
              <a:rPr lang="fr-FR" dirty="0" smtClean="0">
                <a:solidFill>
                  <a:srgbClr val="B3B3B3"/>
                </a:solidFill>
              </a:rPr>
              <a:t>2</a:t>
            </a:fld>
            <a:endParaRPr lang="en-US">
              <a:solidFill>
                <a:srgbClr val="B3B3B3"/>
              </a:solidFill>
            </a:endParaRPr>
          </a:p>
        </p:txBody>
      </p:sp>
      <p:sp>
        <p:nvSpPr>
          <p:cNvPr id="2" name="Rectangle 1">
            <a:extLst>
              <a:ext uri="{FF2B5EF4-FFF2-40B4-BE49-F238E27FC236}">
                <a16:creationId xmlns:a16="http://schemas.microsoft.com/office/drawing/2014/main" id="{36F4118A-8D23-5F73-6022-821065202F1D}"/>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6325"/>
            <a:r>
              <a:rPr lang="fr-FR" sz="2800" b="1" dirty="0">
                <a:solidFill>
                  <a:schemeClr val="bg1"/>
                </a:solidFill>
              </a:rPr>
              <a:t>Sommaire</a:t>
            </a:r>
            <a:endParaRPr lang="fr-FR" b="1" dirty="0">
              <a:solidFill>
                <a:schemeClr val="bg1"/>
              </a:solidFill>
            </a:endParaRPr>
          </a:p>
        </p:txBody>
      </p:sp>
      <p:sp>
        <p:nvSpPr>
          <p:cNvPr id="6" name="Rectangle 5">
            <a:extLst>
              <a:ext uri="{FF2B5EF4-FFF2-40B4-BE49-F238E27FC236}">
                <a16:creationId xmlns:a16="http://schemas.microsoft.com/office/drawing/2014/main" id="{1EC2D148-EF7E-5BB6-1DF5-965B31EA69C8}"/>
              </a:ext>
            </a:extLst>
          </p:cNvPr>
          <p:cNvSpPr/>
          <p:nvPr/>
        </p:nvSpPr>
        <p:spPr>
          <a:xfrm>
            <a:off x="1310827" y="921659"/>
            <a:ext cx="9570346" cy="4985656"/>
          </a:xfrm>
          <a:prstGeom prst="rect">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spcBef>
                <a:spcPts val="600"/>
              </a:spcBef>
              <a:buFont typeface="Arial" panose="020B0604020202020204" pitchFamily="34" charset="0"/>
              <a:buChar char="•"/>
            </a:pPr>
            <a:r>
              <a:rPr lang="fr-FR" sz="2600" dirty="0">
                <a:solidFill>
                  <a:schemeClr val="bg1"/>
                </a:solidFill>
              </a:rPr>
              <a:t>Contexte et thème</a:t>
            </a:r>
          </a:p>
          <a:p>
            <a:pPr marL="288000" indent="-360000">
              <a:lnSpc>
                <a:spcPct val="110000"/>
              </a:lnSpc>
              <a:spcBef>
                <a:spcPts val="600"/>
              </a:spcBef>
              <a:buFont typeface="Arial" panose="020B0604020202020204" pitchFamily="34" charset="0"/>
              <a:buChar char="•"/>
            </a:pPr>
            <a:r>
              <a:rPr lang="fr-FR" sz="2600" dirty="0">
                <a:solidFill>
                  <a:schemeClr val="bg1"/>
                </a:solidFill>
              </a:rPr>
              <a:t>Présentation des données</a:t>
            </a:r>
          </a:p>
          <a:p>
            <a:pPr marL="288000" indent="-360000">
              <a:lnSpc>
                <a:spcPct val="110000"/>
              </a:lnSpc>
              <a:spcBef>
                <a:spcPts val="600"/>
              </a:spcBef>
              <a:buFont typeface="Arial" panose="020B0604020202020204" pitchFamily="34" charset="0"/>
              <a:buChar char="•"/>
            </a:pPr>
            <a:r>
              <a:rPr lang="fr-FR" sz="2600" dirty="0">
                <a:solidFill>
                  <a:schemeClr val="bg1"/>
                </a:solidFill>
              </a:rPr>
              <a:t>Enrichissement des caractéristiques</a:t>
            </a:r>
          </a:p>
          <a:p>
            <a:pPr marL="288000" indent="-360000">
              <a:lnSpc>
                <a:spcPct val="110000"/>
              </a:lnSpc>
              <a:spcBef>
                <a:spcPts val="600"/>
              </a:spcBef>
              <a:buFont typeface="Arial" panose="020B0604020202020204" pitchFamily="34" charset="0"/>
              <a:buChar char="•"/>
            </a:pPr>
            <a:r>
              <a:rPr lang="fr-FR" sz="2600" dirty="0">
                <a:solidFill>
                  <a:schemeClr val="bg1"/>
                </a:solidFill>
              </a:rPr>
              <a:t>Problématique</a:t>
            </a:r>
          </a:p>
          <a:p>
            <a:pPr marL="288000" indent="-360000">
              <a:lnSpc>
                <a:spcPct val="110000"/>
              </a:lnSpc>
              <a:spcBef>
                <a:spcPts val="600"/>
              </a:spcBef>
              <a:buFont typeface="Arial" panose="020B0604020202020204" pitchFamily="34" charset="0"/>
              <a:buChar char="•"/>
            </a:pPr>
            <a:r>
              <a:rPr lang="fr-FR" sz="2600" dirty="0">
                <a:solidFill>
                  <a:schemeClr val="bg1"/>
                </a:solidFill>
              </a:rPr>
              <a:t>Méthodologie </a:t>
            </a:r>
          </a:p>
          <a:p>
            <a:pPr marL="288000" indent="-360000">
              <a:lnSpc>
                <a:spcPct val="110000"/>
              </a:lnSpc>
              <a:spcBef>
                <a:spcPts val="600"/>
              </a:spcBef>
              <a:buFont typeface="Arial" panose="020B0604020202020204" pitchFamily="34" charset="0"/>
              <a:buChar char="•"/>
            </a:pPr>
            <a:r>
              <a:rPr lang="fr-FR" sz="2600" dirty="0">
                <a:solidFill>
                  <a:schemeClr val="bg1"/>
                </a:solidFill>
              </a:rPr>
              <a:t>Description des caractéristiques </a:t>
            </a:r>
          </a:p>
          <a:p>
            <a:pPr marL="288000" indent="-360000">
              <a:lnSpc>
                <a:spcPct val="110000"/>
              </a:lnSpc>
              <a:spcBef>
                <a:spcPts val="600"/>
              </a:spcBef>
              <a:buFont typeface="Arial" panose="020B0604020202020204" pitchFamily="34" charset="0"/>
              <a:buChar char="•"/>
            </a:pPr>
            <a:r>
              <a:rPr lang="fr-FR" sz="2600" dirty="0">
                <a:solidFill>
                  <a:schemeClr val="bg1"/>
                </a:solidFill>
              </a:rPr>
              <a:t>Modélisations</a:t>
            </a:r>
          </a:p>
          <a:p>
            <a:pPr marL="288000" indent="-360000">
              <a:lnSpc>
                <a:spcPct val="110000"/>
              </a:lnSpc>
              <a:spcBef>
                <a:spcPts val="600"/>
              </a:spcBef>
              <a:buFont typeface="Arial" panose="020B0604020202020204" pitchFamily="34" charset="0"/>
              <a:buChar char="•"/>
            </a:pPr>
            <a:r>
              <a:rPr lang="fr-FR" sz="2600" dirty="0">
                <a:solidFill>
                  <a:schemeClr val="bg1"/>
                </a:solidFill>
              </a:rPr>
              <a:t>Conclusion et perspectives</a:t>
            </a:r>
          </a:p>
        </p:txBody>
      </p:sp>
      <p:pic>
        <p:nvPicPr>
          <p:cNvPr id="7" name="Picture 3">
            <a:extLst>
              <a:ext uri="{FF2B5EF4-FFF2-40B4-BE49-F238E27FC236}">
                <a16:creationId xmlns:a16="http://schemas.microsoft.com/office/drawing/2014/main" id="{FA1D28B5-470E-82D2-9BB5-69406A9CCA97}"/>
              </a:ext>
            </a:extLst>
          </p:cNvPr>
          <p:cNvPicPr>
            <a:picLocks noChangeAspect="1"/>
          </p:cNvPicPr>
          <p:nvPr/>
        </p:nvPicPr>
        <p:blipFill>
          <a:blip r:embed="rId2"/>
          <a:stretch>
            <a:fillRect/>
          </a:stretch>
        </p:blipFill>
        <p:spPr>
          <a:xfrm>
            <a:off x="1" y="6412442"/>
            <a:ext cx="464598" cy="451839"/>
          </a:xfrm>
          <a:prstGeom prst="rect">
            <a:avLst/>
          </a:prstGeom>
        </p:spPr>
      </p:pic>
    </p:spTree>
    <p:extLst>
      <p:ext uri="{BB962C8B-B14F-4D97-AF65-F5344CB8AC3E}">
        <p14:creationId xmlns:p14="http://schemas.microsoft.com/office/powerpoint/2010/main" val="10995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1FD0B155-1D06-08AC-F70A-369B2DB719B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2964C44-4934-8353-A269-764BA37B7312}"/>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2EA564BE-C5FB-E656-4D27-923126BE4913}"/>
              </a:ext>
            </a:extLst>
          </p:cNvPr>
          <p:cNvSpPr>
            <a:spLocks noGrp="1"/>
          </p:cNvSpPr>
          <p:nvPr>
            <p:ph type="sldNum" sz="quarter" idx="12"/>
          </p:nvPr>
        </p:nvSpPr>
        <p:spPr/>
        <p:txBody>
          <a:bodyPr/>
          <a:lstStyle/>
          <a:p>
            <a:fld id="{5D5C5C60-63A0-401E-A392-47CD3E86B338}" type="slidenum">
              <a:rPr lang="fr-FR" dirty="0" smtClean="0">
                <a:solidFill>
                  <a:srgbClr val="B3B3B3"/>
                </a:solidFill>
              </a:rPr>
              <a:t>3</a:t>
            </a:fld>
            <a:endParaRPr lang="en-US">
              <a:solidFill>
                <a:srgbClr val="B3B3B3"/>
              </a:solidFill>
            </a:endParaRPr>
          </a:p>
        </p:txBody>
      </p:sp>
      <p:sp>
        <p:nvSpPr>
          <p:cNvPr id="2" name="Rectangle 1">
            <a:extLst>
              <a:ext uri="{FF2B5EF4-FFF2-40B4-BE49-F238E27FC236}">
                <a16:creationId xmlns:a16="http://schemas.microsoft.com/office/drawing/2014/main" id="{414DC8E5-FAD3-6FD9-35D8-4CCCA7AF6C2D}"/>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6325"/>
            <a:r>
              <a:rPr lang="fr-FR" sz="2800" b="1" dirty="0">
                <a:solidFill>
                  <a:schemeClr val="bg1"/>
                </a:solidFill>
              </a:rPr>
              <a:t>Contexte et thème</a:t>
            </a:r>
            <a:endParaRPr lang="fr-FR" b="1" dirty="0">
              <a:solidFill>
                <a:schemeClr val="bg1"/>
              </a:solidFill>
            </a:endParaRPr>
          </a:p>
        </p:txBody>
      </p:sp>
      <p:pic>
        <p:nvPicPr>
          <p:cNvPr id="3" name="Picture 3">
            <a:extLst>
              <a:ext uri="{FF2B5EF4-FFF2-40B4-BE49-F238E27FC236}">
                <a16:creationId xmlns:a16="http://schemas.microsoft.com/office/drawing/2014/main" id="{37CB6D82-8BE6-7377-CD84-66A3CC8210D2}"/>
              </a:ext>
            </a:extLst>
          </p:cNvPr>
          <p:cNvPicPr>
            <a:picLocks noChangeAspect="1"/>
          </p:cNvPicPr>
          <p:nvPr/>
        </p:nvPicPr>
        <p:blipFill>
          <a:blip r:embed="rId2"/>
          <a:stretch>
            <a:fillRect/>
          </a:stretch>
        </p:blipFill>
        <p:spPr>
          <a:xfrm>
            <a:off x="1" y="6412442"/>
            <a:ext cx="464598" cy="451839"/>
          </a:xfrm>
          <a:prstGeom prst="rect">
            <a:avLst/>
          </a:prstGeom>
        </p:spPr>
      </p:pic>
      <p:sp>
        <p:nvSpPr>
          <p:cNvPr id="7" name="Rectangle : coins arrondis 6">
            <a:extLst>
              <a:ext uri="{FF2B5EF4-FFF2-40B4-BE49-F238E27FC236}">
                <a16:creationId xmlns:a16="http://schemas.microsoft.com/office/drawing/2014/main" id="{8B0B465A-B713-5D71-AC13-BB03670D7FB4}"/>
              </a:ext>
            </a:extLst>
          </p:cNvPr>
          <p:cNvSpPr/>
          <p:nvPr/>
        </p:nvSpPr>
        <p:spPr>
          <a:xfrm>
            <a:off x="99011" y="1559429"/>
            <a:ext cx="6750252" cy="3635761"/>
          </a:xfrm>
          <a:prstGeom prst="roundRect">
            <a:avLst>
              <a:gd name="adj" fmla="val 50000"/>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Actuellement l’industrie musicale est </a:t>
            </a:r>
            <a:r>
              <a:rPr lang="fr-FR" b="1" dirty="0"/>
              <a:t>dominée par le streaming</a:t>
            </a:r>
            <a:r>
              <a:rPr lang="fr-FR" dirty="0"/>
              <a:t>, la compréhension du nombre d’écoute pour un titre devient cruciale pour les </a:t>
            </a:r>
            <a:r>
              <a:rPr lang="fr-FR" b="1" dirty="0"/>
              <a:t>acteurs de cette industrie </a:t>
            </a:r>
            <a:r>
              <a:rPr lang="fr-FR" dirty="0"/>
              <a:t>(labels, artistes, producteurs…). </a:t>
            </a:r>
          </a:p>
          <a:p>
            <a:pPr algn="ctr"/>
            <a:r>
              <a:rPr lang="fr-FR" dirty="0"/>
              <a:t>Au-delà d’un simple chiffre, le nombre d’écoute d’un morceau permet </a:t>
            </a:r>
            <a:r>
              <a:rPr lang="fr-FR" b="1" dirty="0"/>
              <a:t>d’analyser les tendances de consommation </a:t>
            </a:r>
            <a:r>
              <a:rPr lang="fr-FR" dirty="0"/>
              <a:t>des utilisateurs de la plateforme et fourni une </a:t>
            </a:r>
            <a:r>
              <a:rPr lang="fr-FR" b="1" dirty="0"/>
              <a:t>aide pour les choix de production </a:t>
            </a:r>
            <a:r>
              <a:rPr lang="fr-FR" dirty="0"/>
              <a:t>(investissements marketing, collaborations entre artistes).  </a:t>
            </a:r>
          </a:p>
        </p:txBody>
      </p:sp>
      <p:sp>
        <p:nvSpPr>
          <p:cNvPr id="8" name="Rectangle : coins arrondis 7">
            <a:extLst>
              <a:ext uri="{FF2B5EF4-FFF2-40B4-BE49-F238E27FC236}">
                <a16:creationId xmlns:a16="http://schemas.microsoft.com/office/drawing/2014/main" id="{17D4CFC4-995A-BF79-6BEE-71E81A5F5798}"/>
              </a:ext>
            </a:extLst>
          </p:cNvPr>
          <p:cNvSpPr/>
          <p:nvPr/>
        </p:nvSpPr>
        <p:spPr>
          <a:xfrm>
            <a:off x="7134650" y="2173137"/>
            <a:ext cx="4892331" cy="4040405"/>
          </a:xfrm>
          <a:prstGeom prst="roundRect">
            <a:avLst>
              <a:gd name="adj" fmla="val 41065"/>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En 2023, Spotify a publié les 953 </a:t>
            </a:r>
            <a:r>
              <a:rPr lang="fr-FR" b="1" dirty="0"/>
              <a:t>morceaux les plus connus de la plateforme</a:t>
            </a:r>
            <a:r>
              <a:rPr lang="fr-FR" dirty="0"/>
              <a:t>. Ces données permettent  d'analyser le succès d’un titre sous trois angles : l'</a:t>
            </a:r>
            <a:r>
              <a:rPr lang="fr-FR" b="1" dirty="0"/>
              <a:t>exposition médiatique </a:t>
            </a:r>
            <a:r>
              <a:rPr lang="fr-FR" dirty="0"/>
              <a:t>(playlists), la </a:t>
            </a:r>
            <a:r>
              <a:rPr lang="fr-FR" b="1" dirty="0"/>
              <a:t>portée médiatique </a:t>
            </a:r>
            <a:r>
              <a:rPr lang="fr-FR" dirty="0"/>
              <a:t>(charts), le </a:t>
            </a:r>
            <a:r>
              <a:rPr lang="fr-FR" b="1" dirty="0"/>
              <a:t>profil musical </a:t>
            </a:r>
            <a:r>
              <a:rPr lang="fr-FR" dirty="0"/>
              <a:t>(attributs audio) ainsi que le </a:t>
            </a:r>
            <a:r>
              <a:rPr lang="fr-FR" b="1" dirty="0"/>
              <a:t>profil de l’artiste </a:t>
            </a:r>
            <a:r>
              <a:rPr lang="fr-FR" dirty="0"/>
              <a:t>(nationalité, grammys remportés, nombre de streamer par mois), que nous avons ajouté aux données. </a:t>
            </a:r>
          </a:p>
        </p:txBody>
      </p:sp>
      <p:sp>
        <p:nvSpPr>
          <p:cNvPr id="13" name="Rectangle : coins arrondis 12">
            <a:extLst>
              <a:ext uri="{FF2B5EF4-FFF2-40B4-BE49-F238E27FC236}">
                <a16:creationId xmlns:a16="http://schemas.microsoft.com/office/drawing/2014/main" id="{0F8C2EFB-B7E5-9356-A53C-1A3DACC127A8}"/>
              </a:ext>
            </a:extLst>
          </p:cNvPr>
          <p:cNvSpPr/>
          <p:nvPr/>
        </p:nvSpPr>
        <p:spPr>
          <a:xfrm>
            <a:off x="1338943" y="1589032"/>
            <a:ext cx="4284617"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THÈME</a:t>
            </a:r>
            <a:endParaRPr lang="fr-FR" dirty="0"/>
          </a:p>
        </p:txBody>
      </p:sp>
      <p:sp>
        <p:nvSpPr>
          <p:cNvPr id="14" name="Rectangle : coins arrondis 13">
            <a:extLst>
              <a:ext uri="{FF2B5EF4-FFF2-40B4-BE49-F238E27FC236}">
                <a16:creationId xmlns:a16="http://schemas.microsoft.com/office/drawing/2014/main" id="{B1E53B58-B28E-4968-D3C2-BBE94895AC39}"/>
              </a:ext>
            </a:extLst>
          </p:cNvPr>
          <p:cNvSpPr/>
          <p:nvPr/>
        </p:nvSpPr>
        <p:spPr>
          <a:xfrm>
            <a:off x="8369845" y="2173137"/>
            <a:ext cx="237665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CONTEXTE</a:t>
            </a:r>
            <a:endParaRPr lang="fr-FR" dirty="0"/>
          </a:p>
        </p:txBody>
      </p:sp>
      <p:grpSp>
        <p:nvGrpSpPr>
          <p:cNvPr id="12" name="Groupe 11">
            <a:extLst>
              <a:ext uri="{FF2B5EF4-FFF2-40B4-BE49-F238E27FC236}">
                <a16:creationId xmlns:a16="http://schemas.microsoft.com/office/drawing/2014/main" id="{4A1BE1AE-97C8-20CC-A699-61FE9688F747}"/>
              </a:ext>
            </a:extLst>
          </p:cNvPr>
          <p:cNvGrpSpPr/>
          <p:nvPr/>
        </p:nvGrpSpPr>
        <p:grpSpPr>
          <a:xfrm>
            <a:off x="11403402" y="6411284"/>
            <a:ext cx="726492" cy="324931"/>
            <a:chOff x="11353402" y="6422166"/>
            <a:chExt cx="726492" cy="324931"/>
          </a:xfrm>
        </p:grpSpPr>
        <p:sp>
          <p:nvSpPr>
            <p:cNvPr id="15" name="Bouton d’action : avant ou précédent 14">
              <a:hlinkClick r:id="" action="ppaction://hlinkshowjump?jump=nextslide" highlightClick="1"/>
              <a:extLst>
                <a:ext uri="{FF2B5EF4-FFF2-40B4-BE49-F238E27FC236}">
                  <a16:creationId xmlns:a16="http://schemas.microsoft.com/office/drawing/2014/main" id="{4E1F9E25-E1FF-D41B-646A-ADAC5AC31121}"/>
                </a:ext>
              </a:extLst>
            </p:cNvPr>
            <p:cNvSpPr/>
            <p:nvPr/>
          </p:nvSpPr>
          <p:spPr>
            <a:xfrm>
              <a:off x="11755894"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Bouton d’action : retour ou précédent 15">
              <a:hlinkClick r:id="" action="ppaction://hlinkshowjump?jump=previousslide" highlightClick="1"/>
              <a:extLst>
                <a:ext uri="{FF2B5EF4-FFF2-40B4-BE49-F238E27FC236}">
                  <a16:creationId xmlns:a16="http://schemas.microsoft.com/office/drawing/2014/main" id="{53A4B3F7-3D74-AA76-2FEF-A4B10368B7BA}"/>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7" name="Rectangle 16">
            <a:extLst>
              <a:ext uri="{FF2B5EF4-FFF2-40B4-BE49-F238E27FC236}">
                <a16:creationId xmlns:a16="http://schemas.microsoft.com/office/drawing/2014/main" id="{2B9DF1CA-BB5B-99A0-FAF3-1106B9EEB254}"/>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b="1" dirty="0"/>
              <a:t>Contexte</a:t>
            </a:r>
            <a:r>
              <a:rPr lang="fr-FR" sz="1000" dirty="0"/>
              <a:t>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dirty="0"/>
              <a:t>Description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spTree>
    <p:extLst>
      <p:ext uri="{BB962C8B-B14F-4D97-AF65-F5344CB8AC3E}">
        <p14:creationId xmlns:p14="http://schemas.microsoft.com/office/powerpoint/2010/main" val="2974188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F366522D-12DE-BCD4-7C71-48222347F234}"/>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23F45F4-FCDD-B169-A70C-AB23FADC9BAF}"/>
              </a:ext>
            </a:extLst>
          </p:cNvPr>
          <p:cNvSpPr/>
          <p:nvPr/>
        </p:nvSpPr>
        <p:spPr>
          <a:xfrm>
            <a:off x="6991356" y="1896473"/>
            <a:ext cx="5054444" cy="4197691"/>
          </a:xfrm>
          <a:prstGeom prst="rect">
            <a:avLst/>
          </a:prstGeom>
          <a:noFill/>
          <a:ln w="57150">
            <a:solidFill>
              <a:srgbClr val="1DB9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4" name="Tableau 13">
            <a:extLst>
              <a:ext uri="{FF2B5EF4-FFF2-40B4-BE49-F238E27FC236}">
                <a16:creationId xmlns:a16="http://schemas.microsoft.com/office/drawing/2014/main" id="{5E448B52-673B-D87C-789E-BE3ABAA1AF8E}"/>
              </a:ext>
            </a:extLst>
          </p:cNvPr>
          <p:cNvGraphicFramePr>
            <a:graphicFrameLocks noGrp="1"/>
          </p:cNvGraphicFramePr>
          <p:nvPr>
            <p:extLst>
              <p:ext uri="{D42A27DB-BD31-4B8C-83A1-F6EECF244321}">
                <p14:modId xmlns:p14="http://schemas.microsoft.com/office/powerpoint/2010/main" val="1262057255"/>
              </p:ext>
            </p:extLst>
          </p:nvPr>
        </p:nvGraphicFramePr>
        <p:xfrm>
          <a:off x="7141805" y="2340819"/>
          <a:ext cx="4813562" cy="3312922"/>
        </p:xfrm>
        <a:graphic>
          <a:graphicData uri="http://schemas.openxmlformats.org/drawingml/2006/table">
            <a:tbl>
              <a:tblPr firstRow="1" firstCol="1" bandRow="1">
                <a:tableStyleId>{5C22544A-7EE6-4342-B048-85BDC9FD1C3A}</a:tableStyleId>
              </a:tblPr>
              <a:tblGrid>
                <a:gridCol w="1168067">
                  <a:extLst>
                    <a:ext uri="{9D8B030D-6E8A-4147-A177-3AD203B41FA5}">
                      <a16:colId xmlns:a16="http://schemas.microsoft.com/office/drawing/2014/main" val="36961882"/>
                    </a:ext>
                  </a:extLst>
                </a:gridCol>
                <a:gridCol w="1036865">
                  <a:extLst>
                    <a:ext uri="{9D8B030D-6E8A-4147-A177-3AD203B41FA5}">
                      <a16:colId xmlns:a16="http://schemas.microsoft.com/office/drawing/2014/main" val="882053209"/>
                    </a:ext>
                  </a:extLst>
                </a:gridCol>
                <a:gridCol w="2608630">
                  <a:extLst>
                    <a:ext uri="{9D8B030D-6E8A-4147-A177-3AD203B41FA5}">
                      <a16:colId xmlns:a16="http://schemas.microsoft.com/office/drawing/2014/main" val="1261245623"/>
                    </a:ext>
                  </a:extLst>
                </a:gridCol>
              </a:tblGrid>
              <a:tr h="0">
                <a:tc>
                  <a:txBody>
                    <a:bodyPr/>
                    <a:lstStyle/>
                    <a:p>
                      <a:pPr algn="ctr">
                        <a:lnSpc>
                          <a:spcPct val="115000"/>
                        </a:lnSpc>
                        <a:spcAft>
                          <a:spcPts val="800"/>
                        </a:spcAft>
                        <a:buNone/>
                      </a:pPr>
                      <a:r>
                        <a:rPr lang="fr-FR" sz="1200" kern="100">
                          <a:effectLst/>
                        </a:rPr>
                        <a:t>Nom de la variable</a:t>
                      </a:r>
                      <a:endParaRPr lang="fr-FR"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ctr">
                        <a:lnSpc>
                          <a:spcPct val="115000"/>
                        </a:lnSpc>
                        <a:spcAft>
                          <a:spcPts val="800"/>
                        </a:spcAft>
                        <a:buNone/>
                      </a:pPr>
                      <a:r>
                        <a:rPr lang="fr-FR" sz="1200" kern="100" dirty="0">
                          <a:effectLst/>
                        </a:rPr>
                        <a:t>Type de variable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ctr">
                        <a:lnSpc>
                          <a:spcPct val="115000"/>
                        </a:lnSpc>
                        <a:spcAft>
                          <a:spcPts val="800"/>
                        </a:spcAft>
                        <a:buNone/>
                      </a:pPr>
                      <a:r>
                        <a:rPr lang="fr-FR" sz="1200" kern="100" dirty="0">
                          <a:effectLst/>
                        </a:rPr>
                        <a:t>Description de la variable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11355357"/>
                  </a:ext>
                </a:extLst>
              </a:tr>
              <a:tr h="0">
                <a:tc>
                  <a:txBody>
                    <a:bodyPr/>
                    <a:lstStyle/>
                    <a:p>
                      <a:pPr algn="ctr">
                        <a:lnSpc>
                          <a:spcPct val="115000"/>
                        </a:lnSpc>
                        <a:spcAft>
                          <a:spcPts val="800"/>
                        </a:spcAft>
                        <a:buNone/>
                      </a:pPr>
                      <a:r>
                        <a:rPr lang="fr-FR" sz="1200" kern="100">
                          <a:effectLst/>
                        </a:rPr>
                        <a:t>streams</a:t>
                      </a:r>
                      <a:endParaRPr lang="fr-FR"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1200" kern="100" dirty="0">
                          <a:effectLst/>
                        </a:rPr>
                        <a:t>Quantitative discrète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1200" kern="100" dirty="0">
                          <a:effectLst/>
                        </a:rPr>
                        <a:t>Nombre de </a:t>
                      </a:r>
                      <a:r>
                        <a:rPr lang="fr-FR" sz="1200" kern="100" dirty="0" err="1">
                          <a:effectLst/>
                        </a:rPr>
                        <a:t>streams</a:t>
                      </a:r>
                      <a:r>
                        <a:rPr lang="fr-FR" sz="1200" kern="100" dirty="0">
                          <a:effectLst/>
                        </a:rPr>
                        <a:t> total de la musique sur Spotify</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58391360"/>
                  </a:ext>
                </a:extLst>
              </a:tr>
              <a:tr h="0">
                <a:tc>
                  <a:txBody>
                    <a:bodyPr/>
                    <a:lstStyle/>
                    <a:p>
                      <a:pPr algn="ctr">
                        <a:lnSpc>
                          <a:spcPct val="115000"/>
                        </a:lnSpc>
                        <a:spcAft>
                          <a:spcPts val="800"/>
                        </a:spcAft>
                        <a:buNone/>
                      </a:pPr>
                      <a:r>
                        <a:rPr lang="fr-FR" sz="1200" kern="100" dirty="0" err="1">
                          <a:effectLst/>
                        </a:rPr>
                        <a:t>artist_count</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1200" kern="100" dirty="0">
                          <a:effectLst/>
                        </a:rPr>
                        <a:t>Quantitative discrète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pPr algn="ctr">
                        <a:lnSpc>
                          <a:spcPct val="115000"/>
                        </a:lnSpc>
                        <a:spcAft>
                          <a:spcPts val="800"/>
                        </a:spcAft>
                        <a:buNone/>
                      </a:pPr>
                      <a:r>
                        <a:rPr lang="fr-FR" sz="1200" kern="100" dirty="0">
                          <a:effectLst/>
                        </a:rPr>
                        <a:t>Nombre d’artistes ayant participé à la musique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670751854"/>
                  </a:ext>
                </a:extLst>
              </a:tr>
              <a:tr h="0">
                <a:tc>
                  <a:txBody>
                    <a:bodyPr/>
                    <a:lstStyle/>
                    <a:p>
                      <a:pPr algn="ctr">
                        <a:lnSpc>
                          <a:spcPct val="115000"/>
                        </a:lnSpc>
                        <a:spcAft>
                          <a:spcPts val="800"/>
                        </a:spcAft>
                        <a:buNone/>
                      </a:pPr>
                      <a:r>
                        <a:rPr lang="fr-FR" sz="1200" kern="100">
                          <a:effectLst/>
                        </a:rPr>
                        <a:t>in_spotify_playlists</a:t>
                      </a:r>
                      <a:endParaRPr lang="fr-FR"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1200" kern="100" dirty="0">
                          <a:effectLst/>
                        </a:rPr>
                        <a:t>Quantitative discrète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1200" kern="100" dirty="0">
                          <a:effectLst/>
                        </a:rPr>
                        <a:t>Nombre total de playlists Spotify dans lesquelles la chanson est incluse (comptage des apparitions dans des playlists publiques)</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01411952"/>
                  </a:ext>
                </a:extLst>
              </a:tr>
              <a:tr h="0">
                <a:tc>
                  <a:txBody>
                    <a:bodyPr/>
                    <a:lstStyle/>
                    <a:p>
                      <a:pPr algn="ctr">
                        <a:lnSpc>
                          <a:spcPct val="115000"/>
                        </a:lnSpc>
                        <a:spcAft>
                          <a:spcPts val="800"/>
                        </a:spcAft>
                        <a:buNone/>
                      </a:pPr>
                      <a:r>
                        <a:rPr lang="fr-FR" sz="1200" kern="100" dirty="0" err="1">
                          <a:effectLst/>
                        </a:rPr>
                        <a:t>in_spotify_charts</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1200" kern="100" dirty="0">
                          <a:effectLst/>
                        </a:rPr>
                        <a:t>Quantitative discrète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pPr algn="ctr">
                        <a:lnSpc>
                          <a:spcPct val="115000"/>
                        </a:lnSpc>
                        <a:spcAft>
                          <a:spcPts val="800"/>
                        </a:spcAft>
                        <a:buNone/>
                      </a:pPr>
                      <a:r>
                        <a:rPr lang="fr-FR" sz="1200" kern="100" dirty="0">
                          <a:effectLst/>
                        </a:rPr>
                        <a:t>Nombre de classements Spotify (charts, généralement par pays ou région) dans lesquels la chanson apparaît. Une valeur de 0 indique que la chanson n’est présente dans aucun classement.</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641713706"/>
                  </a:ext>
                </a:extLst>
              </a:tr>
            </a:tbl>
          </a:graphicData>
        </a:graphic>
      </p:graphicFrame>
      <p:sp>
        <p:nvSpPr>
          <p:cNvPr id="4" name="Footer Placeholder 3">
            <a:extLst>
              <a:ext uri="{FF2B5EF4-FFF2-40B4-BE49-F238E27FC236}">
                <a16:creationId xmlns:a16="http://schemas.microsoft.com/office/drawing/2014/main" id="{766FC173-BD6B-65A8-4574-29127354AA79}"/>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2CE51A4F-E43A-F035-D17D-EC6570CAAB89}"/>
              </a:ext>
            </a:extLst>
          </p:cNvPr>
          <p:cNvSpPr>
            <a:spLocks noGrp="1"/>
          </p:cNvSpPr>
          <p:nvPr>
            <p:ph type="sldNum" sz="quarter" idx="12"/>
          </p:nvPr>
        </p:nvSpPr>
        <p:spPr/>
        <p:txBody>
          <a:bodyPr/>
          <a:lstStyle/>
          <a:p>
            <a:fld id="{5D5C5C60-63A0-401E-A392-47CD3E86B338}" type="slidenum">
              <a:rPr lang="fr-FR" dirty="0" smtClean="0">
                <a:solidFill>
                  <a:srgbClr val="B3B3B3"/>
                </a:solidFill>
              </a:rPr>
              <a:t>4</a:t>
            </a:fld>
            <a:endParaRPr lang="en-US">
              <a:solidFill>
                <a:srgbClr val="B3B3B3"/>
              </a:solidFill>
            </a:endParaRPr>
          </a:p>
        </p:txBody>
      </p:sp>
      <p:sp>
        <p:nvSpPr>
          <p:cNvPr id="2" name="Rectangle 1">
            <a:extLst>
              <a:ext uri="{FF2B5EF4-FFF2-40B4-BE49-F238E27FC236}">
                <a16:creationId xmlns:a16="http://schemas.microsoft.com/office/drawing/2014/main" id="{F6BF830D-DDD1-AC89-5BA2-7487E9B7DBFF}"/>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t>Présentation des données</a:t>
            </a:r>
          </a:p>
        </p:txBody>
      </p:sp>
      <p:sp>
        <p:nvSpPr>
          <p:cNvPr id="7" name="Rectangle : coins arrondis 6">
            <a:extLst>
              <a:ext uri="{FF2B5EF4-FFF2-40B4-BE49-F238E27FC236}">
                <a16:creationId xmlns:a16="http://schemas.microsoft.com/office/drawing/2014/main" id="{CE08D7A9-5BDB-B035-1907-38A031CFDCFE}"/>
              </a:ext>
            </a:extLst>
          </p:cNvPr>
          <p:cNvSpPr/>
          <p:nvPr/>
        </p:nvSpPr>
        <p:spPr>
          <a:xfrm>
            <a:off x="475396" y="1456050"/>
            <a:ext cx="5770016" cy="4197691"/>
          </a:xfrm>
          <a:prstGeom prst="roundRect">
            <a:avLst>
              <a:gd name="adj" fmla="val 35469"/>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a:p>
            <a:r>
              <a:rPr lang="fr-FR" dirty="0"/>
              <a:t>Le jeu de données contient </a:t>
            </a:r>
            <a:r>
              <a:rPr lang="fr-FR" b="1"/>
              <a:t>952 </a:t>
            </a:r>
            <a:r>
              <a:rPr lang="fr-FR" b="1" dirty="0"/>
              <a:t>individus et 27 variables</a:t>
            </a:r>
            <a:r>
              <a:rPr lang="fr-FR" dirty="0"/>
              <a:t>.</a:t>
            </a:r>
            <a:r>
              <a:rPr lang="fr-FR" b="1" dirty="0"/>
              <a:t> </a:t>
            </a:r>
          </a:p>
          <a:p>
            <a:r>
              <a:rPr lang="fr-FR" dirty="0"/>
              <a:t>Il provient de la plateforme </a:t>
            </a:r>
            <a:r>
              <a:rPr lang="fr-FR" dirty="0" err="1"/>
              <a:t>kaggle</a:t>
            </a:r>
            <a:r>
              <a:rPr lang="fr-FR" dirty="0"/>
              <a:t> et a été publié par </a:t>
            </a:r>
            <a:r>
              <a:rPr lang="fr-FR" dirty="0" err="1"/>
              <a:t>Nidula</a:t>
            </a:r>
            <a:r>
              <a:rPr lang="fr-FR" dirty="0"/>
              <a:t> </a:t>
            </a:r>
            <a:r>
              <a:rPr lang="fr-FR" dirty="0" err="1"/>
              <a:t>Elgiriyewithana</a:t>
            </a:r>
            <a:r>
              <a:rPr lang="fr-FR" dirty="0"/>
              <a:t> en </a:t>
            </a:r>
            <a:r>
              <a:rPr lang="fr-FR" b="1" dirty="0"/>
              <a:t>août 2023</a:t>
            </a:r>
            <a:r>
              <a:rPr lang="fr-FR" dirty="0"/>
              <a:t>.</a:t>
            </a:r>
          </a:p>
          <a:p>
            <a:r>
              <a:rPr lang="fr-FR" dirty="0"/>
              <a:t>Dans ce jeu de données </a:t>
            </a:r>
            <a:r>
              <a:rPr lang="fr-FR" b="1" dirty="0"/>
              <a:t>individu</a:t>
            </a:r>
            <a:r>
              <a:rPr lang="fr-FR" dirty="0"/>
              <a:t> correspond à </a:t>
            </a:r>
            <a:r>
              <a:rPr lang="fr-FR" b="1" dirty="0"/>
              <a:t>un titre parmi les </a:t>
            </a:r>
            <a:r>
              <a:rPr lang="fr-FR" b="1"/>
              <a:t>952</a:t>
            </a:r>
            <a:r>
              <a:rPr lang="fr-FR" b="1" dirty="0"/>
              <a:t> les plus écoutées de la plateforme</a:t>
            </a:r>
            <a:r>
              <a:rPr lang="fr-FR" dirty="0"/>
              <a:t>.  </a:t>
            </a:r>
          </a:p>
          <a:p>
            <a:r>
              <a:rPr lang="fr-FR" dirty="0"/>
              <a:t>L’étude portera sur la variable: « </a:t>
            </a:r>
            <a:r>
              <a:rPr lang="fr-FR" b="1" dirty="0" err="1"/>
              <a:t>stream</a:t>
            </a:r>
            <a:r>
              <a:rPr lang="fr-FR" b="1" dirty="0"/>
              <a:t> </a:t>
            </a:r>
            <a:r>
              <a:rPr lang="fr-FR" dirty="0"/>
              <a:t>» soit le nombre d’écoute d’un morceau que nous chercherons à expliquer en fonction de ses différentes caractéristiques.</a:t>
            </a:r>
          </a:p>
        </p:txBody>
      </p:sp>
      <p:sp>
        <p:nvSpPr>
          <p:cNvPr id="13" name="Rectangle : coins arrondis 12">
            <a:extLst>
              <a:ext uri="{FF2B5EF4-FFF2-40B4-BE49-F238E27FC236}">
                <a16:creationId xmlns:a16="http://schemas.microsoft.com/office/drawing/2014/main" id="{651A5DDA-D809-8177-7A67-031B6672E35D}"/>
              </a:ext>
            </a:extLst>
          </p:cNvPr>
          <p:cNvSpPr/>
          <p:nvPr/>
        </p:nvSpPr>
        <p:spPr>
          <a:xfrm>
            <a:off x="1644083" y="1456051"/>
            <a:ext cx="343443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DÉFINITION DES DONNÉES</a:t>
            </a:r>
            <a:endParaRPr lang="fr-FR" dirty="0"/>
          </a:p>
        </p:txBody>
      </p:sp>
      <p:sp>
        <p:nvSpPr>
          <p:cNvPr id="12" name="Rectangle 11">
            <a:extLst>
              <a:ext uri="{FF2B5EF4-FFF2-40B4-BE49-F238E27FC236}">
                <a16:creationId xmlns:a16="http://schemas.microsoft.com/office/drawing/2014/main" id="{3CD0A601-291B-4B82-AE65-9675E3A296E7}"/>
              </a:ext>
            </a:extLst>
          </p:cNvPr>
          <p:cNvSpPr/>
          <p:nvPr/>
        </p:nvSpPr>
        <p:spPr>
          <a:xfrm>
            <a:off x="6991356" y="1916260"/>
            <a:ext cx="5054444" cy="396046"/>
          </a:xfrm>
          <a:prstGeom prst="rect">
            <a:avLst/>
          </a:prstGeom>
          <a:solidFill>
            <a:srgbClr val="2EBD5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Extrait Dictionnaire des données</a:t>
            </a:r>
            <a:endParaRPr lang="fr-FR" dirty="0"/>
          </a:p>
        </p:txBody>
      </p:sp>
      <p:sp>
        <p:nvSpPr>
          <p:cNvPr id="17" name="Bouton d’action : vide 16">
            <a:hlinkClick r:id="rId2" action="ppaction://hlinksldjump" highlightClick="1"/>
            <a:extLst>
              <a:ext uri="{FF2B5EF4-FFF2-40B4-BE49-F238E27FC236}">
                <a16:creationId xmlns:a16="http://schemas.microsoft.com/office/drawing/2014/main" id="{5B56DB9F-BA66-7608-0DE0-0706FCCA871A}"/>
              </a:ext>
            </a:extLst>
          </p:cNvPr>
          <p:cNvSpPr/>
          <p:nvPr/>
        </p:nvSpPr>
        <p:spPr>
          <a:xfrm>
            <a:off x="7141806" y="5770095"/>
            <a:ext cx="4111982" cy="273518"/>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bg1"/>
                </a:solidFill>
              </a:rPr>
              <a:t>Voir le dictionnaire de données complet Annexe 1 (cliquer)</a:t>
            </a:r>
          </a:p>
        </p:txBody>
      </p:sp>
      <p:grpSp>
        <p:nvGrpSpPr>
          <p:cNvPr id="20" name="Groupe 19">
            <a:extLst>
              <a:ext uri="{FF2B5EF4-FFF2-40B4-BE49-F238E27FC236}">
                <a16:creationId xmlns:a16="http://schemas.microsoft.com/office/drawing/2014/main" id="{63AE9B4D-E4DC-0CC5-6CDC-BF9E5C8FF0CE}"/>
              </a:ext>
            </a:extLst>
          </p:cNvPr>
          <p:cNvGrpSpPr/>
          <p:nvPr/>
        </p:nvGrpSpPr>
        <p:grpSpPr>
          <a:xfrm>
            <a:off x="11403402" y="6411284"/>
            <a:ext cx="721729" cy="324931"/>
            <a:chOff x="11353402" y="6422166"/>
            <a:chExt cx="721729" cy="324931"/>
          </a:xfrm>
        </p:grpSpPr>
        <p:sp>
          <p:nvSpPr>
            <p:cNvPr id="21" name="Bouton d’action : avant ou précédent 20">
              <a:hlinkClick r:id="" action="ppaction://hlinkshowjump?jump=nextslide" highlightClick="1"/>
              <a:extLst>
                <a:ext uri="{FF2B5EF4-FFF2-40B4-BE49-F238E27FC236}">
                  <a16:creationId xmlns:a16="http://schemas.microsoft.com/office/drawing/2014/main" id="{C1B18E01-8F8A-6E17-A6D3-222ECFFF7742}"/>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Bouton d’action : retour ou précédent 21">
              <a:hlinkClick r:id="" action="ppaction://hlinkshowjump?jump=previousslide" highlightClick="1"/>
              <a:extLst>
                <a:ext uri="{FF2B5EF4-FFF2-40B4-BE49-F238E27FC236}">
                  <a16:creationId xmlns:a16="http://schemas.microsoft.com/office/drawing/2014/main" id="{F67E983C-CDC2-4E24-EC4F-7F995F292D76}"/>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3" name="Picture 3">
            <a:extLst>
              <a:ext uri="{FF2B5EF4-FFF2-40B4-BE49-F238E27FC236}">
                <a16:creationId xmlns:a16="http://schemas.microsoft.com/office/drawing/2014/main" id="{22C5D2DA-DC71-077D-889A-F21DD513D1E9}"/>
              </a:ext>
            </a:extLst>
          </p:cNvPr>
          <p:cNvPicPr>
            <a:picLocks noChangeAspect="1"/>
          </p:cNvPicPr>
          <p:nvPr/>
        </p:nvPicPr>
        <p:blipFill>
          <a:blip r:embed="rId3"/>
          <a:stretch>
            <a:fillRect/>
          </a:stretch>
        </p:blipFill>
        <p:spPr>
          <a:xfrm>
            <a:off x="1" y="6412442"/>
            <a:ext cx="464598" cy="451839"/>
          </a:xfrm>
          <a:prstGeom prst="rect">
            <a:avLst/>
          </a:prstGeom>
        </p:spPr>
      </p:pic>
      <p:sp>
        <p:nvSpPr>
          <p:cNvPr id="24" name="Rectangle 23">
            <a:extLst>
              <a:ext uri="{FF2B5EF4-FFF2-40B4-BE49-F238E27FC236}">
                <a16:creationId xmlns:a16="http://schemas.microsoft.com/office/drawing/2014/main" id="{FA352F87-D099-0CD7-0690-0FD533F12153}"/>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b="1"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dirty="0"/>
              <a:t>Description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spTree>
    <p:extLst>
      <p:ext uri="{BB962C8B-B14F-4D97-AF65-F5344CB8AC3E}">
        <p14:creationId xmlns:p14="http://schemas.microsoft.com/office/powerpoint/2010/main" val="2646535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0987DD40-5B1F-D5A7-2A54-5211E45299D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975A7FE-63AF-5905-A629-FC4021DE0B2D}"/>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0D6AF501-ABA4-1757-864C-B4967F475530}"/>
              </a:ext>
            </a:extLst>
          </p:cNvPr>
          <p:cNvSpPr>
            <a:spLocks noGrp="1"/>
          </p:cNvSpPr>
          <p:nvPr>
            <p:ph type="sldNum" sz="quarter" idx="12"/>
          </p:nvPr>
        </p:nvSpPr>
        <p:spPr/>
        <p:txBody>
          <a:bodyPr/>
          <a:lstStyle/>
          <a:p>
            <a:fld id="{5D5C5C60-63A0-401E-A392-47CD3E86B338}" type="slidenum">
              <a:rPr lang="fr-FR" dirty="0" smtClean="0">
                <a:solidFill>
                  <a:srgbClr val="B3B3B3"/>
                </a:solidFill>
              </a:rPr>
              <a:t>5</a:t>
            </a:fld>
            <a:endParaRPr lang="en-US">
              <a:solidFill>
                <a:srgbClr val="B3B3B3"/>
              </a:solidFill>
            </a:endParaRPr>
          </a:p>
        </p:txBody>
      </p:sp>
      <p:sp>
        <p:nvSpPr>
          <p:cNvPr id="2" name="Rectangle 1">
            <a:extLst>
              <a:ext uri="{FF2B5EF4-FFF2-40B4-BE49-F238E27FC236}">
                <a16:creationId xmlns:a16="http://schemas.microsoft.com/office/drawing/2014/main" id="{16FD1783-E5AC-605A-56FD-ECA4FED3421D}"/>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spcBef>
                <a:spcPts val="600"/>
              </a:spcBef>
            </a:pPr>
            <a:r>
              <a:rPr lang="fr-FR" sz="2800" b="1" dirty="0">
                <a:solidFill>
                  <a:schemeClr val="bg1"/>
                </a:solidFill>
              </a:rPr>
              <a:t>Enrichissement des caractéristiques</a:t>
            </a:r>
          </a:p>
        </p:txBody>
      </p:sp>
      <p:grpSp>
        <p:nvGrpSpPr>
          <p:cNvPr id="12" name="Groupe 11">
            <a:extLst>
              <a:ext uri="{FF2B5EF4-FFF2-40B4-BE49-F238E27FC236}">
                <a16:creationId xmlns:a16="http://schemas.microsoft.com/office/drawing/2014/main" id="{DEE24E01-417A-AD28-5EE3-261D1631DE6C}"/>
              </a:ext>
            </a:extLst>
          </p:cNvPr>
          <p:cNvGrpSpPr/>
          <p:nvPr/>
        </p:nvGrpSpPr>
        <p:grpSpPr>
          <a:xfrm>
            <a:off x="11403402" y="6411284"/>
            <a:ext cx="721729" cy="324931"/>
            <a:chOff x="11353402" y="6422166"/>
            <a:chExt cx="721729" cy="324931"/>
          </a:xfrm>
        </p:grpSpPr>
        <p:sp>
          <p:nvSpPr>
            <p:cNvPr id="13" name="Bouton d’action : avant ou précédent 12">
              <a:hlinkClick r:id="" action="ppaction://hlinkshowjump?jump=nextslide" highlightClick="1"/>
              <a:extLst>
                <a:ext uri="{FF2B5EF4-FFF2-40B4-BE49-F238E27FC236}">
                  <a16:creationId xmlns:a16="http://schemas.microsoft.com/office/drawing/2014/main" id="{4036F32E-5B90-7848-9AEC-3C4CB3114030}"/>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Bouton d’action : retour ou précédent 13">
              <a:hlinkClick r:id="" action="ppaction://hlinkshowjump?jump=previousslide" highlightClick="1"/>
              <a:extLst>
                <a:ext uri="{FF2B5EF4-FFF2-40B4-BE49-F238E27FC236}">
                  <a16:creationId xmlns:a16="http://schemas.microsoft.com/office/drawing/2014/main" id="{A9DB4E9F-E1D8-A37F-2E61-F90E38CC36FC}"/>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6" name="Picture 3">
            <a:extLst>
              <a:ext uri="{FF2B5EF4-FFF2-40B4-BE49-F238E27FC236}">
                <a16:creationId xmlns:a16="http://schemas.microsoft.com/office/drawing/2014/main" id="{9866EC4E-154F-0F96-EA6D-E45B78433ABC}"/>
              </a:ext>
            </a:extLst>
          </p:cNvPr>
          <p:cNvPicPr>
            <a:picLocks noChangeAspect="1"/>
          </p:cNvPicPr>
          <p:nvPr/>
        </p:nvPicPr>
        <p:blipFill>
          <a:blip r:embed="rId2"/>
          <a:stretch>
            <a:fillRect/>
          </a:stretch>
        </p:blipFill>
        <p:spPr>
          <a:xfrm>
            <a:off x="1" y="6412442"/>
            <a:ext cx="464598" cy="451839"/>
          </a:xfrm>
          <a:prstGeom prst="rect">
            <a:avLst/>
          </a:prstGeom>
        </p:spPr>
      </p:pic>
      <p:sp>
        <p:nvSpPr>
          <p:cNvPr id="19" name="Rectangle 18">
            <a:extLst>
              <a:ext uri="{FF2B5EF4-FFF2-40B4-BE49-F238E27FC236}">
                <a16:creationId xmlns:a16="http://schemas.microsoft.com/office/drawing/2014/main" id="{FC9C386B-0588-A077-0C77-EB8C882EF5E6}"/>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b="1" dirty="0"/>
              <a:t>Enrichissement</a:t>
            </a:r>
            <a:r>
              <a:rPr lang="fr-FR" sz="1000" dirty="0"/>
              <a: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dirty="0"/>
              <a:t>Description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graphicFrame>
        <p:nvGraphicFramePr>
          <p:cNvPr id="21" name="Tableau 20">
            <a:extLst>
              <a:ext uri="{FF2B5EF4-FFF2-40B4-BE49-F238E27FC236}">
                <a16:creationId xmlns:a16="http://schemas.microsoft.com/office/drawing/2014/main" id="{C8027131-4CC5-FF86-33C1-9AF46BE6156D}"/>
              </a:ext>
            </a:extLst>
          </p:cNvPr>
          <p:cNvGraphicFramePr>
            <a:graphicFrameLocks noGrp="1"/>
          </p:cNvGraphicFramePr>
          <p:nvPr>
            <p:extLst>
              <p:ext uri="{D42A27DB-BD31-4B8C-83A1-F6EECF244321}">
                <p14:modId xmlns:p14="http://schemas.microsoft.com/office/powerpoint/2010/main" val="341955016"/>
              </p:ext>
            </p:extLst>
          </p:nvPr>
        </p:nvGraphicFramePr>
        <p:xfrm>
          <a:off x="796628" y="2040096"/>
          <a:ext cx="4822043" cy="3412196"/>
        </p:xfrm>
        <a:graphic>
          <a:graphicData uri="http://schemas.openxmlformats.org/drawingml/2006/table">
            <a:tbl>
              <a:tblPr firstRow="1" firstCol="1" bandRow="1">
                <a:tableStyleId>{5C22544A-7EE6-4342-B048-85BDC9FD1C3A}</a:tableStyleId>
              </a:tblPr>
              <a:tblGrid>
                <a:gridCol w="1483354">
                  <a:extLst>
                    <a:ext uri="{9D8B030D-6E8A-4147-A177-3AD203B41FA5}">
                      <a16:colId xmlns:a16="http://schemas.microsoft.com/office/drawing/2014/main" val="36961882"/>
                    </a:ext>
                  </a:extLst>
                </a:gridCol>
                <a:gridCol w="967860">
                  <a:extLst>
                    <a:ext uri="{9D8B030D-6E8A-4147-A177-3AD203B41FA5}">
                      <a16:colId xmlns:a16="http://schemas.microsoft.com/office/drawing/2014/main" val="882053209"/>
                    </a:ext>
                  </a:extLst>
                </a:gridCol>
                <a:gridCol w="2370829">
                  <a:extLst>
                    <a:ext uri="{9D8B030D-6E8A-4147-A177-3AD203B41FA5}">
                      <a16:colId xmlns:a16="http://schemas.microsoft.com/office/drawing/2014/main" val="1261245623"/>
                    </a:ext>
                  </a:extLst>
                </a:gridCol>
              </a:tblGrid>
              <a:tr h="540439">
                <a:tc>
                  <a:txBody>
                    <a:bodyPr/>
                    <a:lstStyle/>
                    <a:p>
                      <a:pPr algn="ctr">
                        <a:lnSpc>
                          <a:spcPct val="115000"/>
                        </a:lnSpc>
                        <a:spcAft>
                          <a:spcPts val="800"/>
                        </a:spcAft>
                        <a:buNone/>
                      </a:pPr>
                      <a:r>
                        <a:rPr lang="fr-FR" sz="1200" kern="100">
                          <a:effectLst/>
                        </a:rPr>
                        <a:t>Nom de la variable</a:t>
                      </a:r>
                      <a:endParaRPr lang="fr-FR"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ctr">
                        <a:lnSpc>
                          <a:spcPct val="115000"/>
                        </a:lnSpc>
                        <a:spcAft>
                          <a:spcPts val="800"/>
                        </a:spcAft>
                        <a:buNone/>
                      </a:pPr>
                      <a:r>
                        <a:rPr lang="fr-FR" sz="1200" kern="100" dirty="0">
                          <a:effectLst/>
                        </a:rPr>
                        <a:t>Type de variable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lgn="ctr">
                        <a:lnSpc>
                          <a:spcPct val="115000"/>
                        </a:lnSpc>
                        <a:spcAft>
                          <a:spcPts val="800"/>
                        </a:spcAft>
                        <a:buNone/>
                      </a:pPr>
                      <a:r>
                        <a:rPr lang="fr-FR" sz="1200" kern="100" dirty="0">
                          <a:effectLst/>
                        </a:rPr>
                        <a:t>Description de la variable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11355357"/>
                  </a:ext>
                </a:extLst>
              </a:tr>
              <a:tr h="403635">
                <a:tc>
                  <a:txBody>
                    <a:bodyPr/>
                    <a:lstStyle/>
                    <a:p>
                      <a:pPr algn="ctr">
                        <a:lnSpc>
                          <a:spcPct val="115000"/>
                        </a:lnSpc>
                        <a:spcAft>
                          <a:spcPts val="800"/>
                        </a:spcAft>
                        <a:buNone/>
                      </a:pPr>
                      <a:r>
                        <a:rPr lang="fr-FR" sz="1200" kern="100" dirty="0" err="1">
                          <a:effectLst/>
                        </a:rPr>
                        <a:t>Primary_artist</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1200" dirty="0"/>
                        <a:t>Qualitative nominale</a:t>
                      </a:r>
                      <a:r>
                        <a:rPr lang="fr-FR" sz="1200" kern="100" dirty="0">
                          <a:effectLst/>
                        </a:rPr>
                        <a:t> </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1200" dirty="0"/>
                        <a:t>Nom de l'artiste principal de la piste ou de l'album</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58391360"/>
                  </a:ext>
                </a:extLst>
              </a:tr>
              <a:tr h="540439">
                <a:tc>
                  <a:txBody>
                    <a:bodyPr/>
                    <a:lstStyle/>
                    <a:p>
                      <a:pPr algn="ctr">
                        <a:lnSpc>
                          <a:spcPct val="115000"/>
                        </a:lnSpc>
                        <a:spcAft>
                          <a:spcPts val="800"/>
                        </a:spcAft>
                        <a:buNone/>
                      </a:pPr>
                      <a:r>
                        <a:rPr lang="fr-FR" sz="1200" kern="100" dirty="0">
                          <a:effectLst/>
                        </a:rPr>
                        <a:t>country</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1200" dirty="0"/>
                        <a:t>Qualitative nominale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pPr algn="ctr">
                        <a:lnSpc>
                          <a:spcPct val="115000"/>
                        </a:lnSpc>
                        <a:spcAft>
                          <a:spcPts val="800"/>
                        </a:spcAft>
                        <a:buNone/>
                      </a:pPr>
                      <a:r>
                        <a:rPr lang="fr-FR" sz="1200" dirty="0"/>
                        <a:t>Pays d'origine de l'artiste ("NA" si inconnu).</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670751854"/>
                  </a:ext>
                </a:extLst>
              </a:tr>
              <a:tr h="540439">
                <a:tc>
                  <a:txBody>
                    <a:bodyPr/>
                    <a:lstStyle/>
                    <a:p>
                      <a:pPr algn="ctr">
                        <a:lnSpc>
                          <a:spcPct val="115000"/>
                        </a:lnSpc>
                        <a:spcAft>
                          <a:spcPts val="800"/>
                        </a:spcAft>
                        <a:buNone/>
                      </a:pPr>
                      <a:r>
                        <a:rPr lang="fr-FR" sz="1200" kern="100" dirty="0" err="1">
                          <a:effectLst/>
                        </a:rPr>
                        <a:t>Grammy_winner</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1200" dirty="0"/>
                        <a:t>Qualitative nominale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1200" dirty="0"/>
                        <a:t>Binaire (0 ou 1) précisant si l'artiste a déjà remporté un </a:t>
                      </a:r>
                      <a:r>
                        <a:rPr lang="fr-FR" sz="1200" dirty="0" err="1"/>
                        <a:t>Grammy</a:t>
                      </a:r>
                      <a:r>
                        <a:rPr lang="fr-FR" sz="1200" dirty="0"/>
                        <a:t>.</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01411952"/>
                  </a:ext>
                </a:extLst>
              </a:tr>
              <a:tr h="650293">
                <a:tc>
                  <a:txBody>
                    <a:bodyPr/>
                    <a:lstStyle/>
                    <a:p>
                      <a:pPr algn="ctr">
                        <a:lnSpc>
                          <a:spcPct val="115000"/>
                        </a:lnSpc>
                        <a:spcAft>
                          <a:spcPts val="800"/>
                        </a:spcAft>
                        <a:buNone/>
                      </a:pPr>
                      <a:r>
                        <a:rPr lang="fr-FR" sz="1200" kern="100" dirty="0" err="1">
                          <a:effectLst/>
                        </a:rPr>
                        <a:t>language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1200" dirty="0"/>
                        <a:t>Qualitative nominale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pPr algn="ctr">
                        <a:lnSpc>
                          <a:spcPct val="115000"/>
                        </a:lnSpc>
                        <a:spcAft>
                          <a:spcPts val="800"/>
                        </a:spcAft>
                        <a:buNone/>
                      </a:pPr>
                      <a:r>
                        <a:rPr lang="fr-FR" sz="1200" dirty="0"/>
                        <a:t>Langue principale utilisée par l'artiste dans ses productions.</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641713706"/>
                  </a:ext>
                </a:extLst>
              </a:tr>
              <a:tr h="650293">
                <a:tc>
                  <a:txBody>
                    <a:bodyPr/>
                    <a:lstStyle/>
                    <a:p>
                      <a:pPr algn="ctr">
                        <a:lnSpc>
                          <a:spcPct val="115000"/>
                        </a:lnSpc>
                        <a:spcAft>
                          <a:spcPts val="800"/>
                        </a:spcAft>
                        <a:buNone/>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monthly_listeners_2023_mln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1200" dirty="0"/>
                        <a:t>Quantitative continue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dk1"/>
                          </a:solidFill>
                          <a:latin typeface="+mn-lt"/>
                          <a:ea typeface="+mn-ea"/>
                          <a:cs typeface="+mn-cs"/>
                        </a:rPr>
                        <a:t>Nombre d'auditeurs mensuels en 2023 exprimé en millions.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753471410"/>
                  </a:ext>
                </a:extLst>
              </a:tr>
            </a:tbl>
          </a:graphicData>
        </a:graphic>
      </p:graphicFrame>
      <p:sp>
        <p:nvSpPr>
          <p:cNvPr id="23" name="Rectangle : coins arrondis 22">
            <a:extLst>
              <a:ext uri="{FF2B5EF4-FFF2-40B4-BE49-F238E27FC236}">
                <a16:creationId xmlns:a16="http://schemas.microsoft.com/office/drawing/2014/main" id="{82D63098-8C00-E7AD-4FB0-D577B697880D}"/>
              </a:ext>
            </a:extLst>
          </p:cNvPr>
          <p:cNvSpPr/>
          <p:nvPr/>
        </p:nvSpPr>
        <p:spPr>
          <a:xfrm>
            <a:off x="6222913" y="1858616"/>
            <a:ext cx="5504489" cy="4133867"/>
          </a:xfrm>
          <a:prstGeom prst="roundRect">
            <a:avLst>
              <a:gd name="adj" fmla="val 32649"/>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a:p>
            <a:endParaRPr lang="fr-FR" dirty="0"/>
          </a:p>
          <a:p>
            <a:r>
              <a:rPr lang="fr-FR" dirty="0"/>
              <a:t>Le jeu de données a été </a:t>
            </a:r>
            <a:r>
              <a:rPr lang="fr-FR" b="1" dirty="0"/>
              <a:t>enrichi</a:t>
            </a:r>
            <a:r>
              <a:rPr lang="fr-FR" dirty="0"/>
              <a:t> afin d’ajouter de </a:t>
            </a:r>
            <a:r>
              <a:rPr lang="fr-FR" b="1" dirty="0"/>
              <a:t>nouvelles variables explicatives </a:t>
            </a:r>
            <a:r>
              <a:rPr lang="fr-FR" dirty="0"/>
              <a:t>pertinentes pour le sujet d’étude. En effet nous avons ajouté une variable qui présente </a:t>
            </a:r>
            <a:r>
              <a:rPr lang="fr-FR" b="1" dirty="0"/>
              <a:t>l’artiste principal </a:t>
            </a:r>
            <a:r>
              <a:rPr lang="fr-FR" dirty="0"/>
              <a:t>du morceau, une variable qui affiche la </a:t>
            </a:r>
            <a:r>
              <a:rPr lang="fr-FR" b="1" dirty="0"/>
              <a:t>nationalité</a:t>
            </a:r>
            <a:r>
              <a:rPr lang="fr-FR" dirty="0"/>
              <a:t> de l’artiste, une nouvelle variable binaire qui attribue 1 si l’artiste a déjà </a:t>
            </a:r>
            <a:r>
              <a:rPr lang="fr-FR" b="1" dirty="0"/>
              <a:t>remporté un </a:t>
            </a:r>
            <a:r>
              <a:rPr lang="fr-FR" b="1" dirty="0" err="1"/>
              <a:t>grammy</a:t>
            </a:r>
            <a:r>
              <a:rPr lang="fr-FR" b="1" dirty="0"/>
              <a:t> </a:t>
            </a:r>
            <a:r>
              <a:rPr lang="fr-FR" dirty="0"/>
              <a:t>et 0 sinon,  une variable qui annonce la </a:t>
            </a:r>
            <a:r>
              <a:rPr lang="fr-FR" b="1" dirty="0"/>
              <a:t>langue</a:t>
            </a:r>
            <a:r>
              <a:rPr lang="fr-FR" dirty="0"/>
              <a:t> du morceau et enfin une dernière variable qui présente le </a:t>
            </a:r>
            <a:r>
              <a:rPr lang="fr-FR" b="1" dirty="0"/>
              <a:t>nombre d’auditeurs pour l’artiste principal</a:t>
            </a:r>
            <a:r>
              <a:rPr lang="fr-FR" dirty="0"/>
              <a:t> par mois en 2023.    </a:t>
            </a:r>
          </a:p>
          <a:p>
            <a:endParaRPr lang="fr-FR" dirty="0"/>
          </a:p>
          <a:p>
            <a:endParaRPr lang="fr-FR" dirty="0"/>
          </a:p>
        </p:txBody>
      </p:sp>
      <p:sp>
        <p:nvSpPr>
          <p:cNvPr id="24" name="Rectangle : coins arrondis 23">
            <a:extLst>
              <a:ext uri="{FF2B5EF4-FFF2-40B4-BE49-F238E27FC236}">
                <a16:creationId xmlns:a16="http://schemas.microsoft.com/office/drawing/2014/main" id="{DBDF1C79-8E33-4889-8683-F36D58304A7A}"/>
              </a:ext>
            </a:extLst>
          </p:cNvPr>
          <p:cNvSpPr/>
          <p:nvPr/>
        </p:nvSpPr>
        <p:spPr>
          <a:xfrm>
            <a:off x="7154465" y="1885505"/>
            <a:ext cx="3498635" cy="318813"/>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Enrichissement</a:t>
            </a:r>
            <a:endParaRPr lang="fr-FR" dirty="0"/>
          </a:p>
        </p:txBody>
      </p:sp>
      <p:sp>
        <p:nvSpPr>
          <p:cNvPr id="25" name="Rectangle 24">
            <a:extLst>
              <a:ext uri="{FF2B5EF4-FFF2-40B4-BE49-F238E27FC236}">
                <a16:creationId xmlns:a16="http://schemas.microsoft.com/office/drawing/2014/main" id="{2D0824E2-4437-0092-8322-C2217658ABFF}"/>
              </a:ext>
            </a:extLst>
          </p:cNvPr>
          <p:cNvSpPr/>
          <p:nvPr/>
        </p:nvSpPr>
        <p:spPr>
          <a:xfrm>
            <a:off x="702693" y="1528412"/>
            <a:ext cx="5054444" cy="4197691"/>
          </a:xfrm>
          <a:prstGeom prst="rect">
            <a:avLst/>
          </a:prstGeom>
          <a:noFill/>
          <a:ln w="57150">
            <a:solidFill>
              <a:srgbClr val="1DB9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A100535A-3AE9-FDBF-6299-A1C0B09050AB}"/>
              </a:ext>
            </a:extLst>
          </p:cNvPr>
          <p:cNvSpPr/>
          <p:nvPr/>
        </p:nvSpPr>
        <p:spPr>
          <a:xfrm>
            <a:off x="702693" y="1548199"/>
            <a:ext cx="5054444" cy="396046"/>
          </a:xfrm>
          <a:prstGeom prst="rect">
            <a:avLst/>
          </a:prstGeom>
          <a:solidFill>
            <a:srgbClr val="2EBD59"/>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Nouvelles caractéristiques</a:t>
            </a:r>
            <a:endParaRPr lang="fr-FR" dirty="0"/>
          </a:p>
        </p:txBody>
      </p:sp>
    </p:spTree>
    <p:extLst>
      <p:ext uri="{BB962C8B-B14F-4D97-AF65-F5344CB8AC3E}">
        <p14:creationId xmlns:p14="http://schemas.microsoft.com/office/powerpoint/2010/main" val="1863886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52405847-395F-3A16-A0E1-E7D6225764B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31F2D1A5-4B02-7135-2763-BA97ECD59497}"/>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1BE1197A-0DB1-95C4-9F29-5CFC9A5E55C3}"/>
              </a:ext>
            </a:extLst>
          </p:cNvPr>
          <p:cNvSpPr>
            <a:spLocks noGrp="1"/>
          </p:cNvSpPr>
          <p:nvPr>
            <p:ph type="sldNum" sz="quarter" idx="12"/>
          </p:nvPr>
        </p:nvSpPr>
        <p:spPr/>
        <p:txBody>
          <a:bodyPr/>
          <a:lstStyle/>
          <a:p>
            <a:fld id="{5D5C5C60-63A0-401E-A392-47CD3E86B338}" type="slidenum">
              <a:rPr lang="fr-FR" dirty="0" smtClean="0">
                <a:solidFill>
                  <a:srgbClr val="B3B3B3"/>
                </a:solidFill>
              </a:rPr>
              <a:t>6</a:t>
            </a:fld>
            <a:endParaRPr lang="en-US">
              <a:solidFill>
                <a:srgbClr val="B3B3B3"/>
              </a:solidFill>
            </a:endParaRPr>
          </a:p>
        </p:txBody>
      </p:sp>
      <p:sp>
        <p:nvSpPr>
          <p:cNvPr id="2" name="Rectangle 1">
            <a:extLst>
              <a:ext uri="{FF2B5EF4-FFF2-40B4-BE49-F238E27FC236}">
                <a16:creationId xmlns:a16="http://schemas.microsoft.com/office/drawing/2014/main" id="{3B81BA5B-7B58-05A5-8E2F-37EA1E759893}"/>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t>Problématique</a:t>
            </a:r>
          </a:p>
        </p:txBody>
      </p:sp>
      <p:sp>
        <p:nvSpPr>
          <p:cNvPr id="7" name="Rectangle : coins arrondis 6">
            <a:extLst>
              <a:ext uri="{FF2B5EF4-FFF2-40B4-BE49-F238E27FC236}">
                <a16:creationId xmlns:a16="http://schemas.microsoft.com/office/drawing/2014/main" id="{372979A1-8734-4E74-D1BE-B61E66F8B64A}"/>
              </a:ext>
            </a:extLst>
          </p:cNvPr>
          <p:cNvSpPr/>
          <p:nvPr/>
        </p:nvSpPr>
        <p:spPr>
          <a:xfrm>
            <a:off x="140203" y="2042651"/>
            <a:ext cx="11911593" cy="2772697"/>
          </a:xfrm>
          <a:prstGeom prst="roundRect">
            <a:avLst/>
          </a:prstGeom>
          <a:solidFill>
            <a:srgbClr val="2EBD59"/>
          </a:solidFill>
          <a:ln w="57150">
            <a:solidFill>
              <a:srgbClr val="0822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800" dirty="0"/>
              <a:t>Comment expliquer le </a:t>
            </a:r>
            <a:r>
              <a:rPr lang="fr-FR" sz="2800" b="1" dirty="0"/>
              <a:t>succès d’un morceau </a:t>
            </a:r>
            <a:r>
              <a:rPr lang="fr-FR" sz="2800" dirty="0"/>
              <a:t>sur la plateforme de streaming Spotify ? Peut-on prédire le succès d’un morceau en fonction de l'</a:t>
            </a:r>
            <a:r>
              <a:rPr lang="fr-FR" sz="2800" b="1" dirty="0"/>
              <a:t>exposition médiatique</a:t>
            </a:r>
            <a:r>
              <a:rPr lang="fr-FR" sz="2800" dirty="0"/>
              <a:t>, le </a:t>
            </a:r>
            <a:r>
              <a:rPr lang="fr-FR" sz="2800" b="1" dirty="0"/>
              <a:t>profil musical </a:t>
            </a:r>
            <a:r>
              <a:rPr lang="fr-FR" sz="2800" dirty="0"/>
              <a:t>ou le </a:t>
            </a:r>
            <a:r>
              <a:rPr lang="fr-FR" sz="2800" b="1" dirty="0"/>
              <a:t>profil de l’artiste ?</a:t>
            </a:r>
            <a:endParaRPr lang="fr-FR" sz="2800" dirty="0"/>
          </a:p>
        </p:txBody>
      </p:sp>
      <p:grpSp>
        <p:nvGrpSpPr>
          <p:cNvPr id="13" name="Groupe 12">
            <a:extLst>
              <a:ext uri="{FF2B5EF4-FFF2-40B4-BE49-F238E27FC236}">
                <a16:creationId xmlns:a16="http://schemas.microsoft.com/office/drawing/2014/main" id="{880A1009-AEF3-1F30-B575-261EE6A29A42}"/>
              </a:ext>
            </a:extLst>
          </p:cNvPr>
          <p:cNvGrpSpPr/>
          <p:nvPr/>
        </p:nvGrpSpPr>
        <p:grpSpPr>
          <a:xfrm>
            <a:off x="11403402" y="6411284"/>
            <a:ext cx="721729" cy="324931"/>
            <a:chOff x="11353402" y="6422166"/>
            <a:chExt cx="721729" cy="324931"/>
          </a:xfrm>
        </p:grpSpPr>
        <p:sp>
          <p:nvSpPr>
            <p:cNvPr id="14" name="Bouton d’action : avant ou précédent 13">
              <a:hlinkClick r:id="" action="ppaction://hlinkshowjump?jump=nextslide" highlightClick="1"/>
              <a:extLst>
                <a:ext uri="{FF2B5EF4-FFF2-40B4-BE49-F238E27FC236}">
                  <a16:creationId xmlns:a16="http://schemas.microsoft.com/office/drawing/2014/main" id="{294F5C24-4191-3443-77F1-D5359335DC9E}"/>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Bouton d’action : retour ou précédent 14">
              <a:hlinkClick r:id="" action="ppaction://hlinkshowjump?jump=previousslide" highlightClick="1"/>
              <a:extLst>
                <a:ext uri="{FF2B5EF4-FFF2-40B4-BE49-F238E27FC236}">
                  <a16:creationId xmlns:a16="http://schemas.microsoft.com/office/drawing/2014/main" id="{D22A7C0D-4552-CD9D-22F8-59C31A726373}"/>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6" name="Picture 3">
            <a:extLst>
              <a:ext uri="{FF2B5EF4-FFF2-40B4-BE49-F238E27FC236}">
                <a16:creationId xmlns:a16="http://schemas.microsoft.com/office/drawing/2014/main" id="{2C675471-C860-F842-6B26-C36150DDF792}"/>
              </a:ext>
            </a:extLst>
          </p:cNvPr>
          <p:cNvPicPr>
            <a:picLocks noChangeAspect="1"/>
          </p:cNvPicPr>
          <p:nvPr/>
        </p:nvPicPr>
        <p:blipFill>
          <a:blip r:embed="rId2"/>
          <a:stretch>
            <a:fillRect/>
          </a:stretch>
        </p:blipFill>
        <p:spPr>
          <a:xfrm>
            <a:off x="1" y="6412442"/>
            <a:ext cx="464598" cy="451839"/>
          </a:xfrm>
          <a:prstGeom prst="rect">
            <a:avLst/>
          </a:prstGeom>
        </p:spPr>
      </p:pic>
      <p:sp>
        <p:nvSpPr>
          <p:cNvPr id="17" name="Rectangle 16">
            <a:extLst>
              <a:ext uri="{FF2B5EF4-FFF2-40B4-BE49-F238E27FC236}">
                <a16:creationId xmlns:a16="http://schemas.microsoft.com/office/drawing/2014/main" id="{B28FE3F3-3C5C-F880-74E6-5DC783C310B9}"/>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b="1"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dirty="0"/>
              <a:t>Description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spTree>
    <p:extLst>
      <p:ext uri="{BB962C8B-B14F-4D97-AF65-F5344CB8AC3E}">
        <p14:creationId xmlns:p14="http://schemas.microsoft.com/office/powerpoint/2010/main" val="3605629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5A45178C-05D8-3C7A-C9FC-72D6DC0DF24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FB45734-7C24-5820-1759-053F5BAA6FA4}"/>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1FAD99D3-F8EC-BADE-279A-917E390842CB}"/>
              </a:ext>
            </a:extLst>
          </p:cNvPr>
          <p:cNvSpPr>
            <a:spLocks noGrp="1"/>
          </p:cNvSpPr>
          <p:nvPr>
            <p:ph type="sldNum" sz="quarter" idx="12"/>
          </p:nvPr>
        </p:nvSpPr>
        <p:spPr/>
        <p:txBody>
          <a:bodyPr/>
          <a:lstStyle/>
          <a:p>
            <a:fld id="{5D5C5C60-63A0-401E-A392-47CD3E86B338}" type="slidenum">
              <a:rPr lang="fr-FR" dirty="0" smtClean="0">
                <a:solidFill>
                  <a:srgbClr val="B3B3B3"/>
                </a:solidFill>
              </a:rPr>
              <a:t>7</a:t>
            </a:fld>
            <a:endParaRPr lang="en-US">
              <a:solidFill>
                <a:srgbClr val="B3B3B3"/>
              </a:solidFill>
            </a:endParaRPr>
          </a:p>
        </p:txBody>
      </p:sp>
      <p:sp>
        <p:nvSpPr>
          <p:cNvPr id="2" name="Rectangle 1">
            <a:extLst>
              <a:ext uri="{FF2B5EF4-FFF2-40B4-BE49-F238E27FC236}">
                <a16:creationId xmlns:a16="http://schemas.microsoft.com/office/drawing/2014/main" id="{86FCCE8D-A998-BD38-E3D6-91748387187F}"/>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Méthodologie </a:t>
            </a:r>
          </a:p>
        </p:txBody>
      </p:sp>
      <p:grpSp>
        <p:nvGrpSpPr>
          <p:cNvPr id="11" name="Groupe 10">
            <a:extLst>
              <a:ext uri="{FF2B5EF4-FFF2-40B4-BE49-F238E27FC236}">
                <a16:creationId xmlns:a16="http://schemas.microsoft.com/office/drawing/2014/main" id="{D646599F-2BED-D085-9371-38E2EE111B49}"/>
              </a:ext>
            </a:extLst>
          </p:cNvPr>
          <p:cNvGrpSpPr/>
          <p:nvPr/>
        </p:nvGrpSpPr>
        <p:grpSpPr>
          <a:xfrm>
            <a:off x="11403402" y="6411284"/>
            <a:ext cx="721729" cy="324931"/>
            <a:chOff x="11353402" y="6422166"/>
            <a:chExt cx="721729" cy="324931"/>
          </a:xfrm>
        </p:grpSpPr>
        <p:sp>
          <p:nvSpPr>
            <p:cNvPr id="12" name="Bouton d’action : avant ou précédent 11">
              <a:hlinkClick r:id="" action="ppaction://hlinkshowjump?jump=nextslide" highlightClick="1"/>
              <a:extLst>
                <a:ext uri="{FF2B5EF4-FFF2-40B4-BE49-F238E27FC236}">
                  <a16:creationId xmlns:a16="http://schemas.microsoft.com/office/drawing/2014/main" id="{B7144B30-E9D0-4779-0CB5-DDE71F6F95FE}"/>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Bouton d’action : retour ou précédent 12">
              <a:hlinkClick r:id="" action="ppaction://hlinkshowjump?jump=previousslide" highlightClick="1"/>
              <a:extLst>
                <a:ext uri="{FF2B5EF4-FFF2-40B4-BE49-F238E27FC236}">
                  <a16:creationId xmlns:a16="http://schemas.microsoft.com/office/drawing/2014/main" id="{D2BD0863-F4B1-A700-4867-CBFB6DD3CCF1}"/>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15" name="Connecteur droit 14">
            <a:extLst>
              <a:ext uri="{FF2B5EF4-FFF2-40B4-BE49-F238E27FC236}">
                <a16:creationId xmlns:a16="http://schemas.microsoft.com/office/drawing/2014/main" id="{DFE3A65A-3B2A-3D0F-C8EF-F734B6EEA2C8}"/>
              </a:ext>
            </a:extLst>
          </p:cNvPr>
          <p:cNvCxnSpPr/>
          <p:nvPr/>
        </p:nvCxnSpPr>
        <p:spPr>
          <a:xfrm>
            <a:off x="558799" y="3429000"/>
            <a:ext cx="11160000" cy="0"/>
          </a:xfrm>
          <a:prstGeom prst="line">
            <a:avLst/>
          </a:prstGeom>
          <a:ln w="101600">
            <a:solidFill>
              <a:srgbClr val="2EBD59"/>
            </a:solidFill>
          </a:ln>
        </p:spPr>
        <p:style>
          <a:lnRef idx="2">
            <a:schemeClr val="accent1"/>
          </a:lnRef>
          <a:fillRef idx="0">
            <a:schemeClr val="accent1"/>
          </a:fillRef>
          <a:effectRef idx="1">
            <a:schemeClr val="accent1"/>
          </a:effectRef>
          <a:fontRef idx="minor">
            <a:schemeClr val="tx1"/>
          </a:fontRef>
        </p:style>
      </p:cxnSp>
      <p:pic>
        <p:nvPicPr>
          <p:cNvPr id="16" name="Picture 3">
            <a:extLst>
              <a:ext uri="{FF2B5EF4-FFF2-40B4-BE49-F238E27FC236}">
                <a16:creationId xmlns:a16="http://schemas.microsoft.com/office/drawing/2014/main" id="{C4D1318A-D5DF-4F2E-1C4F-C616D5AB3523}"/>
              </a:ext>
            </a:extLst>
          </p:cNvPr>
          <p:cNvPicPr>
            <a:picLocks noChangeAspect="1"/>
          </p:cNvPicPr>
          <p:nvPr/>
        </p:nvPicPr>
        <p:blipFill>
          <a:blip r:embed="rId2"/>
          <a:stretch>
            <a:fillRect/>
          </a:stretch>
        </p:blipFill>
        <p:spPr>
          <a:xfrm>
            <a:off x="1" y="6412442"/>
            <a:ext cx="464598" cy="451839"/>
          </a:xfrm>
          <a:prstGeom prst="rect">
            <a:avLst/>
          </a:prstGeom>
        </p:spPr>
      </p:pic>
      <p:cxnSp>
        <p:nvCxnSpPr>
          <p:cNvPr id="18" name="Connecteur droit 17">
            <a:extLst>
              <a:ext uri="{FF2B5EF4-FFF2-40B4-BE49-F238E27FC236}">
                <a16:creationId xmlns:a16="http://schemas.microsoft.com/office/drawing/2014/main" id="{181926A2-A542-66FB-98D6-1366995FCDED}"/>
              </a:ext>
            </a:extLst>
          </p:cNvPr>
          <p:cNvCxnSpPr>
            <a:cxnSpLocks/>
          </p:cNvCxnSpPr>
          <p:nvPr/>
        </p:nvCxnSpPr>
        <p:spPr>
          <a:xfrm flipV="1">
            <a:off x="825271" y="2982686"/>
            <a:ext cx="0" cy="446314"/>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22" name="Bouton d’action : vide 21">
            <a:hlinkClick r:id="" action="ppaction://noaction" highlightClick="1"/>
            <a:extLst>
              <a:ext uri="{FF2B5EF4-FFF2-40B4-BE49-F238E27FC236}">
                <a16:creationId xmlns:a16="http://schemas.microsoft.com/office/drawing/2014/main" id="{A499E851-65BE-F801-6B0B-A46DCCC8B83F}"/>
              </a:ext>
            </a:extLst>
          </p:cNvPr>
          <p:cNvSpPr/>
          <p:nvPr/>
        </p:nvSpPr>
        <p:spPr>
          <a:xfrm>
            <a:off x="34243" y="2313234"/>
            <a:ext cx="1582056" cy="595073"/>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Étude des données</a:t>
            </a:r>
          </a:p>
        </p:txBody>
      </p:sp>
      <p:cxnSp>
        <p:nvCxnSpPr>
          <p:cNvPr id="23" name="Connecteur droit 22">
            <a:extLst>
              <a:ext uri="{FF2B5EF4-FFF2-40B4-BE49-F238E27FC236}">
                <a16:creationId xmlns:a16="http://schemas.microsoft.com/office/drawing/2014/main" id="{38AC53D4-1CBA-879E-DBFC-88DC9EE90AFA}"/>
              </a:ext>
            </a:extLst>
          </p:cNvPr>
          <p:cNvCxnSpPr>
            <a:cxnSpLocks/>
          </p:cNvCxnSpPr>
          <p:nvPr/>
        </p:nvCxnSpPr>
        <p:spPr>
          <a:xfrm flipV="1">
            <a:off x="1336280" y="3429000"/>
            <a:ext cx="0" cy="446314"/>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25" name="Bouton d’action : vide 24">
            <a:hlinkClick r:id="" action="ppaction://noaction" highlightClick="1"/>
            <a:extLst>
              <a:ext uri="{FF2B5EF4-FFF2-40B4-BE49-F238E27FC236}">
                <a16:creationId xmlns:a16="http://schemas.microsoft.com/office/drawing/2014/main" id="{7B0AFA1E-04FD-28B1-93FB-448898A58D71}"/>
              </a:ext>
            </a:extLst>
          </p:cNvPr>
          <p:cNvSpPr/>
          <p:nvPr/>
        </p:nvSpPr>
        <p:spPr>
          <a:xfrm>
            <a:off x="977144" y="1357074"/>
            <a:ext cx="1864111" cy="594000"/>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Enrichissement des données</a:t>
            </a:r>
          </a:p>
        </p:txBody>
      </p:sp>
      <p:cxnSp>
        <p:nvCxnSpPr>
          <p:cNvPr id="26" name="Connecteur droit 25">
            <a:extLst>
              <a:ext uri="{FF2B5EF4-FFF2-40B4-BE49-F238E27FC236}">
                <a16:creationId xmlns:a16="http://schemas.microsoft.com/office/drawing/2014/main" id="{986431B6-1AE4-5711-9D06-9A0B90E0E96A}"/>
              </a:ext>
            </a:extLst>
          </p:cNvPr>
          <p:cNvCxnSpPr>
            <a:cxnSpLocks/>
          </p:cNvCxnSpPr>
          <p:nvPr/>
        </p:nvCxnSpPr>
        <p:spPr>
          <a:xfrm flipV="1">
            <a:off x="1909200" y="2026556"/>
            <a:ext cx="0" cy="1440000"/>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28" name="Bouton d’action : vide 27">
            <a:hlinkClick r:id="" action="ppaction://noaction" highlightClick="1"/>
            <a:extLst>
              <a:ext uri="{FF2B5EF4-FFF2-40B4-BE49-F238E27FC236}">
                <a16:creationId xmlns:a16="http://schemas.microsoft.com/office/drawing/2014/main" id="{BA2060DD-2CAD-8003-0374-EF2941581EBA}"/>
              </a:ext>
            </a:extLst>
          </p:cNvPr>
          <p:cNvSpPr/>
          <p:nvPr/>
        </p:nvSpPr>
        <p:spPr>
          <a:xfrm>
            <a:off x="1653152" y="4968879"/>
            <a:ext cx="1584000" cy="594000"/>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Nettoyage des données</a:t>
            </a:r>
          </a:p>
        </p:txBody>
      </p:sp>
      <p:sp>
        <p:nvSpPr>
          <p:cNvPr id="29" name="Bouton d’action : vide 28">
            <a:hlinkClick r:id="" action="ppaction://noaction" highlightClick="1"/>
            <a:extLst>
              <a:ext uri="{FF2B5EF4-FFF2-40B4-BE49-F238E27FC236}">
                <a16:creationId xmlns:a16="http://schemas.microsoft.com/office/drawing/2014/main" id="{051EB9E6-3671-448F-A954-48858DCE16E9}"/>
              </a:ext>
            </a:extLst>
          </p:cNvPr>
          <p:cNvSpPr/>
          <p:nvPr/>
        </p:nvSpPr>
        <p:spPr>
          <a:xfrm>
            <a:off x="544283" y="3944894"/>
            <a:ext cx="1656569" cy="594000"/>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Problématique</a:t>
            </a:r>
          </a:p>
        </p:txBody>
      </p:sp>
      <p:cxnSp>
        <p:nvCxnSpPr>
          <p:cNvPr id="30" name="Connecteur droit 29">
            <a:extLst>
              <a:ext uri="{FF2B5EF4-FFF2-40B4-BE49-F238E27FC236}">
                <a16:creationId xmlns:a16="http://schemas.microsoft.com/office/drawing/2014/main" id="{595FEC78-17F7-8E94-FA45-4E211556C110}"/>
              </a:ext>
            </a:extLst>
          </p:cNvPr>
          <p:cNvCxnSpPr>
            <a:cxnSpLocks/>
          </p:cNvCxnSpPr>
          <p:nvPr/>
        </p:nvCxnSpPr>
        <p:spPr>
          <a:xfrm flipV="1">
            <a:off x="2440389" y="3459299"/>
            <a:ext cx="0" cy="1440000"/>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381BBD43-388A-C66A-7303-BC6F3A3306FC}"/>
              </a:ext>
            </a:extLst>
          </p:cNvPr>
          <p:cNvCxnSpPr>
            <a:cxnSpLocks/>
          </p:cNvCxnSpPr>
          <p:nvPr/>
        </p:nvCxnSpPr>
        <p:spPr>
          <a:xfrm flipV="1">
            <a:off x="3180002" y="2984511"/>
            <a:ext cx="0" cy="446314"/>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32" name="Bouton d’action : vide 31">
            <a:hlinkClick r:id="" action="ppaction://noaction" highlightClick="1"/>
            <a:extLst>
              <a:ext uri="{FF2B5EF4-FFF2-40B4-BE49-F238E27FC236}">
                <a16:creationId xmlns:a16="http://schemas.microsoft.com/office/drawing/2014/main" id="{E98CEA75-6AFF-BBEB-321E-FCC36C91A9CA}"/>
              </a:ext>
            </a:extLst>
          </p:cNvPr>
          <p:cNvSpPr/>
          <p:nvPr/>
        </p:nvSpPr>
        <p:spPr>
          <a:xfrm>
            <a:off x="2155173" y="2090776"/>
            <a:ext cx="2049658" cy="819392"/>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Analyse de la variable d’intérêt (</a:t>
            </a:r>
            <a:r>
              <a:rPr lang="fr-FR" dirty="0" err="1"/>
              <a:t>stream</a:t>
            </a:r>
            <a:r>
              <a:rPr lang="fr-FR" dirty="0"/>
              <a:t>)</a:t>
            </a:r>
          </a:p>
        </p:txBody>
      </p:sp>
      <p:cxnSp>
        <p:nvCxnSpPr>
          <p:cNvPr id="33" name="Connecteur droit 32">
            <a:extLst>
              <a:ext uri="{FF2B5EF4-FFF2-40B4-BE49-F238E27FC236}">
                <a16:creationId xmlns:a16="http://schemas.microsoft.com/office/drawing/2014/main" id="{52CDB319-ADC9-D548-162E-D7F39A4EE0AA}"/>
              </a:ext>
            </a:extLst>
          </p:cNvPr>
          <p:cNvCxnSpPr>
            <a:cxnSpLocks/>
          </p:cNvCxnSpPr>
          <p:nvPr/>
        </p:nvCxnSpPr>
        <p:spPr>
          <a:xfrm flipV="1">
            <a:off x="3757164" y="3429000"/>
            <a:ext cx="0" cy="446314"/>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34" name="Bouton d’action : vide 33">
            <a:hlinkClick r:id="" action="ppaction://noaction" highlightClick="1"/>
            <a:extLst>
              <a:ext uri="{FF2B5EF4-FFF2-40B4-BE49-F238E27FC236}">
                <a16:creationId xmlns:a16="http://schemas.microsoft.com/office/drawing/2014/main" id="{6A3C4EC0-2B35-E0E7-1317-A7EE43FF2388}"/>
              </a:ext>
            </a:extLst>
          </p:cNvPr>
          <p:cNvSpPr/>
          <p:nvPr/>
        </p:nvSpPr>
        <p:spPr>
          <a:xfrm>
            <a:off x="2732335" y="3944894"/>
            <a:ext cx="2049658" cy="819392"/>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Analyse des variables explicatives</a:t>
            </a:r>
          </a:p>
        </p:txBody>
      </p:sp>
      <p:cxnSp>
        <p:nvCxnSpPr>
          <p:cNvPr id="35" name="Connecteur droit 34">
            <a:extLst>
              <a:ext uri="{FF2B5EF4-FFF2-40B4-BE49-F238E27FC236}">
                <a16:creationId xmlns:a16="http://schemas.microsoft.com/office/drawing/2014/main" id="{D59D7F39-6302-C2F9-C258-0639AA1AB5E9}"/>
              </a:ext>
            </a:extLst>
          </p:cNvPr>
          <p:cNvCxnSpPr>
            <a:cxnSpLocks/>
          </p:cNvCxnSpPr>
          <p:nvPr/>
        </p:nvCxnSpPr>
        <p:spPr>
          <a:xfrm flipV="1">
            <a:off x="4557077" y="2019299"/>
            <a:ext cx="0" cy="1440000"/>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36" name="Bouton d’action : vide 35">
            <a:hlinkClick r:id="" action="ppaction://noaction" highlightClick="1"/>
            <a:extLst>
              <a:ext uri="{FF2B5EF4-FFF2-40B4-BE49-F238E27FC236}">
                <a16:creationId xmlns:a16="http://schemas.microsoft.com/office/drawing/2014/main" id="{72D72110-84B1-5BE3-D1A7-392BE739D392}"/>
              </a:ext>
            </a:extLst>
          </p:cNvPr>
          <p:cNvSpPr/>
          <p:nvPr/>
        </p:nvSpPr>
        <p:spPr>
          <a:xfrm>
            <a:off x="3269331" y="859182"/>
            <a:ext cx="2622805" cy="1117635"/>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Étude de la corrélation entre les variables explicatives et la variable d’intérêt</a:t>
            </a:r>
          </a:p>
        </p:txBody>
      </p:sp>
      <p:cxnSp>
        <p:nvCxnSpPr>
          <p:cNvPr id="39" name="Connecteur droit 38">
            <a:extLst>
              <a:ext uri="{FF2B5EF4-FFF2-40B4-BE49-F238E27FC236}">
                <a16:creationId xmlns:a16="http://schemas.microsoft.com/office/drawing/2014/main" id="{3F2C3523-98E5-9A91-A2CC-E47DE810457E}"/>
              </a:ext>
            </a:extLst>
          </p:cNvPr>
          <p:cNvCxnSpPr>
            <a:cxnSpLocks/>
          </p:cNvCxnSpPr>
          <p:nvPr/>
        </p:nvCxnSpPr>
        <p:spPr>
          <a:xfrm flipV="1">
            <a:off x="6323271" y="3020242"/>
            <a:ext cx="0" cy="446314"/>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40" name="Bouton d’action : vide 39">
            <a:hlinkClick r:id="" action="ppaction://noaction" highlightClick="1"/>
            <a:extLst>
              <a:ext uri="{FF2B5EF4-FFF2-40B4-BE49-F238E27FC236}">
                <a16:creationId xmlns:a16="http://schemas.microsoft.com/office/drawing/2014/main" id="{EE641DCD-2F5C-F54B-D0E5-E96FCD2DA5E0}"/>
              </a:ext>
            </a:extLst>
          </p:cNvPr>
          <p:cNvSpPr/>
          <p:nvPr/>
        </p:nvSpPr>
        <p:spPr>
          <a:xfrm>
            <a:off x="5100579" y="2153137"/>
            <a:ext cx="2445383" cy="819392"/>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Première modélisation avec l’ensemble des </a:t>
            </a:r>
            <a:r>
              <a:rPr lang="fr-FR" dirty="0">
                <a:solidFill>
                  <a:schemeClr val="bg1"/>
                </a:solidFill>
              </a:rPr>
              <a:t>variables</a:t>
            </a:r>
          </a:p>
        </p:txBody>
      </p:sp>
      <p:cxnSp>
        <p:nvCxnSpPr>
          <p:cNvPr id="41" name="Connecteur droit 40">
            <a:extLst>
              <a:ext uri="{FF2B5EF4-FFF2-40B4-BE49-F238E27FC236}">
                <a16:creationId xmlns:a16="http://schemas.microsoft.com/office/drawing/2014/main" id="{424548D6-68D5-8DFA-8B22-31B4AB07F579}"/>
              </a:ext>
            </a:extLst>
          </p:cNvPr>
          <p:cNvCxnSpPr>
            <a:cxnSpLocks/>
          </p:cNvCxnSpPr>
          <p:nvPr/>
        </p:nvCxnSpPr>
        <p:spPr>
          <a:xfrm flipV="1">
            <a:off x="6867068" y="3429000"/>
            <a:ext cx="0" cy="446314"/>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42" name="Bouton d’action : vide 41">
            <a:hlinkClick r:id="" action="ppaction://noaction" highlightClick="1"/>
            <a:extLst>
              <a:ext uri="{FF2B5EF4-FFF2-40B4-BE49-F238E27FC236}">
                <a16:creationId xmlns:a16="http://schemas.microsoft.com/office/drawing/2014/main" id="{CBD33702-7CD8-1D30-FFE1-CFF205E3B29D}"/>
              </a:ext>
            </a:extLst>
          </p:cNvPr>
          <p:cNvSpPr/>
          <p:nvPr/>
        </p:nvSpPr>
        <p:spPr>
          <a:xfrm>
            <a:off x="5668635" y="3928063"/>
            <a:ext cx="2396865" cy="819392"/>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Étude de la significativité des variables explicatives</a:t>
            </a:r>
          </a:p>
        </p:txBody>
      </p:sp>
      <p:sp>
        <p:nvSpPr>
          <p:cNvPr id="43" name="Rectangle 42">
            <a:extLst>
              <a:ext uri="{FF2B5EF4-FFF2-40B4-BE49-F238E27FC236}">
                <a16:creationId xmlns:a16="http://schemas.microsoft.com/office/drawing/2014/main" id="{2EFFF20B-C291-EE6D-D199-6688498918C2}"/>
              </a:ext>
            </a:extLst>
          </p:cNvPr>
          <p:cNvSpPr/>
          <p:nvPr/>
        </p:nvSpPr>
        <p:spPr>
          <a:xfrm>
            <a:off x="9570001" y="62280"/>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b="1" dirty="0"/>
              <a:t>Méthodologie</a:t>
            </a:r>
            <a:r>
              <a:rPr lang="fr-FR" sz="1000" dirty="0"/>
              <a:t> </a:t>
            </a:r>
          </a:p>
          <a:p>
            <a:pPr marL="288000" indent="-360000">
              <a:lnSpc>
                <a:spcPct val="110000"/>
              </a:lnSpc>
              <a:buFont typeface="Arial" panose="020B0604020202020204" pitchFamily="34" charset="0"/>
              <a:buChar char="•"/>
            </a:pPr>
            <a:r>
              <a:rPr lang="fr-FR" sz="1000" dirty="0"/>
              <a:t>Description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cxnSp>
        <p:nvCxnSpPr>
          <p:cNvPr id="44" name="Connecteur droit 43">
            <a:extLst>
              <a:ext uri="{FF2B5EF4-FFF2-40B4-BE49-F238E27FC236}">
                <a16:creationId xmlns:a16="http://schemas.microsoft.com/office/drawing/2014/main" id="{01C30E4C-AFE9-1A3E-4F82-2A482505CCE1}"/>
              </a:ext>
            </a:extLst>
          </p:cNvPr>
          <p:cNvCxnSpPr>
            <a:cxnSpLocks/>
          </p:cNvCxnSpPr>
          <p:nvPr/>
        </p:nvCxnSpPr>
        <p:spPr>
          <a:xfrm flipV="1">
            <a:off x="8281265" y="1805796"/>
            <a:ext cx="0" cy="1660760"/>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45" name="Bouton d’action : vide 44">
            <a:hlinkClick r:id="" action="ppaction://noaction" highlightClick="1"/>
            <a:extLst>
              <a:ext uri="{FF2B5EF4-FFF2-40B4-BE49-F238E27FC236}">
                <a16:creationId xmlns:a16="http://schemas.microsoft.com/office/drawing/2014/main" id="{739F4C54-E401-9D70-3683-BE3C497BCA93}"/>
              </a:ext>
            </a:extLst>
          </p:cNvPr>
          <p:cNvSpPr/>
          <p:nvPr/>
        </p:nvSpPr>
        <p:spPr>
          <a:xfrm>
            <a:off x="7280410" y="905595"/>
            <a:ext cx="2001709" cy="819392"/>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Réalisation de 2 nouveaux modèles</a:t>
            </a:r>
            <a:endParaRPr lang="fr-FR" dirty="0">
              <a:solidFill>
                <a:schemeClr val="bg1"/>
              </a:solidFill>
            </a:endParaRPr>
          </a:p>
        </p:txBody>
      </p:sp>
      <p:cxnSp>
        <p:nvCxnSpPr>
          <p:cNvPr id="46" name="Connecteur droit 45">
            <a:extLst>
              <a:ext uri="{FF2B5EF4-FFF2-40B4-BE49-F238E27FC236}">
                <a16:creationId xmlns:a16="http://schemas.microsoft.com/office/drawing/2014/main" id="{EA362E8C-2A88-DAD6-F02D-FB55D50530F6}"/>
              </a:ext>
            </a:extLst>
          </p:cNvPr>
          <p:cNvCxnSpPr>
            <a:cxnSpLocks/>
          </p:cNvCxnSpPr>
          <p:nvPr/>
        </p:nvCxnSpPr>
        <p:spPr>
          <a:xfrm>
            <a:off x="8896617" y="3482471"/>
            <a:ext cx="0" cy="1440000"/>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47" name="Bouton d’action : vide 46">
            <a:hlinkClick r:id="" action="ppaction://noaction" highlightClick="1"/>
            <a:extLst>
              <a:ext uri="{FF2B5EF4-FFF2-40B4-BE49-F238E27FC236}">
                <a16:creationId xmlns:a16="http://schemas.microsoft.com/office/drawing/2014/main" id="{325AB596-7A25-511D-1C2E-97C4096F2CC2}"/>
              </a:ext>
            </a:extLst>
          </p:cNvPr>
          <p:cNvSpPr/>
          <p:nvPr/>
        </p:nvSpPr>
        <p:spPr>
          <a:xfrm>
            <a:off x="7612433" y="4986667"/>
            <a:ext cx="2568367" cy="1152424"/>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Comparaison des différents modèles et sélection du plus optimal </a:t>
            </a:r>
          </a:p>
        </p:txBody>
      </p:sp>
      <p:cxnSp>
        <p:nvCxnSpPr>
          <p:cNvPr id="53" name="Connecteur droit 52">
            <a:extLst>
              <a:ext uri="{FF2B5EF4-FFF2-40B4-BE49-F238E27FC236}">
                <a16:creationId xmlns:a16="http://schemas.microsoft.com/office/drawing/2014/main" id="{AE81E924-F3A7-6EBE-E291-3A08B9B19E04}"/>
              </a:ext>
            </a:extLst>
          </p:cNvPr>
          <p:cNvCxnSpPr>
            <a:cxnSpLocks/>
          </p:cNvCxnSpPr>
          <p:nvPr/>
        </p:nvCxnSpPr>
        <p:spPr>
          <a:xfrm flipV="1">
            <a:off x="10239259" y="2982686"/>
            <a:ext cx="0" cy="446314"/>
          </a:xfrm>
          <a:prstGeom prst="line">
            <a:avLst/>
          </a:prstGeom>
          <a:ln w="25400">
            <a:solidFill>
              <a:srgbClr val="2EBD59"/>
            </a:solidFill>
          </a:ln>
        </p:spPr>
        <p:style>
          <a:lnRef idx="2">
            <a:schemeClr val="accent1"/>
          </a:lnRef>
          <a:fillRef idx="0">
            <a:schemeClr val="accent1"/>
          </a:fillRef>
          <a:effectRef idx="1">
            <a:schemeClr val="accent1"/>
          </a:effectRef>
          <a:fontRef idx="minor">
            <a:schemeClr val="tx1"/>
          </a:fontRef>
        </p:style>
      </p:cxnSp>
      <p:sp>
        <p:nvSpPr>
          <p:cNvPr id="54" name="Bouton d’action : vide 53">
            <a:hlinkClick r:id="" action="ppaction://noaction" highlightClick="1"/>
            <a:extLst>
              <a:ext uri="{FF2B5EF4-FFF2-40B4-BE49-F238E27FC236}">
                <a16:creationId xmlns:a16="http://schemas.microsoft.com/office/drawing/2014/main" id="{F6B932FA-5B8C-63DD-3D38-0C53AB35DBC5}"/>
              </a:ext>
            </a:extLst>
          </p:cNvPr>
          <p:cNvSpPr/>
          <p:nvPr/>
        </p:nvSpPr>
        <p:spPr>
          <a:xfrm>
            <a:off x="9016567" y="2115581"/>
            <a:ext cx="2445383" cy="819392"/>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Conclusion et perspective</a:t>
            </a:r>
            <a:endParaRPr lang="fr-FR" dirty="0">
              <a:solidFill>
                <a:schemeClr val="bg1"/>
              </a:solidFill>
            </a:endParaRPr>
          </a:p>
        </p:txBody>
      </p:sp>
    </p:spTree>
    <p:extLst>
      <p:ext uri="{BB962C8B-B14F-4D97-AF65-F5344CB8AC3E}">
        <p14:creationId xmlns:p14="http://schemas.microsoft.com/office/powerpoint/2010/main" val="2989517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BE13F49A-4D4B-C701-5AF0-769F0A01E4E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9285EC1-674D-036C-75AD-C822F4E5C42A}"/>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C93884E4-A6E9-7385-898A-CDA35344284D}"/>
              </a:ext>
            </a:extLst>
          </p:cNvPr>
          <p:cNvSpPr>
            <a:spLocks noGrp="1"/>
          </p:cNvSpPr>
          <p:nvPr>
            <p:ph type="sldNum" sz="quarter" idx="12"/>
          </p:nvPr>
        </p:nvSpPr>
        <p:spPr/>
        <p:txBody>
          <a:bodyPr/>
          <a:lstStyle/>
          <a:p>
            <a:fld id="{5D5C5C60-63A0-401E-A392-47CD3E86B338}" type="slidenum">
              <a:rPr lang="fr-FR" dirty="0" smtClean="0">
                <a:solidFill>
                  <a:srgbClr val="B3B3B3"/>
                </a:solidFill>
              </a:rPr>
              <a:t>8</a:t>
            </a:fld>
            <a:endParaRPr lang="en-US" dirty="0">
              <a:solidFill>
                <a:srgbClr val="B3B3B3"/>
              </a:solidFill>
            </a:endParaRPr>
          </a:p>
        </p:txBody>
      </p:sp>
      <p:sp>
        <p:nvSpPr>
          <p:cNvPr id="2" name="Rectangle 1">
            <a:extLst>
              <a:ext uri="{FF2B5EF4-FFF2-40B4-BE49-F238E27FC236}">
                <a16:creationId xmlns:a16="http://schemas.microsoft.com/office/drawing/2014/main" id="{532871FE-4255-4672-789A-29402C6EDF23}"/>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Description du nombre de </a:t>
            </a:r>
            <a:r>
              <a:rPr lang="fr-FR" sz="2800" b="1" dirty="0" err="1">
                <a:solidFill>
                  <a:schemeClr val="bg1"/>
                </a:solidFill>
              </a:rPr>
              <a:t>streams</a:t>
            </a:r>
            <a:endParaRPr lang="fr-FR" sz="2800" b="1" dirty="0">
              <a:solidFill>
                <a:schemeClr val="bg1"/>
              </a:solidFill>
            </a:endParaRPr>
          </a:p>
        </p:txBody>
      </p:sp>
      <p:sp>
        <p:nvSpPr>
          <p:cNvPr id="10" name="ZoneTexte 9">
            <a:extLst>
              <a:ext uri="{FF2B5EF4-FFF2-40B4-BE49-F238E27FC236}">
                <a16:creationId xmlns:a16="http://schemas.microsoft.com/office/drawing/2014/main" id="{99644E53-A4A9-6CD2-DFDB-350D0F26E3CA}"/>
              </a:ext>
            </a:extLst>
          </p:cNvPr>
          <p:cNvSpPr txBox="1"/>
          <p:nvPr/>
        </p:nvSpPr>
        <p:spPr>
          <a:xfrm>
            <a:off x="-189758" y="841895"/>
            <a:ext cx="8434874" cy="461665"/>
          </a:xfrm>
          <a:prstGeom prst="rect">
            <a:avLst/>
          </a:prstGeom>
          <a:noFill/>
        </p:spPr>
        <p:txBody>
          <a:bodyPr wrap="square" rtlCol="0">
            <a:spAutoFit/>
          </a:bodyPr>
          <a:lstStyle/>
          <a:p>
            <a:pPr algn="ctr"/>
            <a:r>
              <a:rPr lang="fr-FR" sz="2400" b="1" dirty="0">
                <a:solidFill>
                  <a:schemeClr val="bg1"/>
                </a:solidFill>
              </a:rPr>
              <a:t>Étude du nombre de </a:t>
            </a:r>
            <a:r>
              <a:rPr lang="fr-FR" sz="2400" b="1" dirty="0" err="1">
                <a:solidFill>
                  <a:schemeClr val="bg1"/>
                </a:solidFill>
              </a:rPr>
              <a:t>streams</a:t>
            </a:r>
            <a:endParaRPr lang="fr-FR" sz="2400" b="1" dirty="0">
              <a:solidFill>
                <a:schemeClr val="bg1"/>
              </a:solidFill>
            </a:endParaRPr>
          </a:p>
        </p:txBody>
      </p:sp>
      <p:sp>
        <p:nvSpPr>
          <p:cNvPr id="12" name="Rectangle : coins arrondis 11">
            <a:extLst>
              <a:ext uri="{FF2B5EF4-FFF2-40B4-BE49-F238E27FC236}">
                <a16:creationId xmlns:a16="http://schemas.microsoft.com/office/drawing/2014/main" id="{6961EBEA-E355-6948-C8CD-EC1C25797B33}"/>
              </a:ext>
            </a:extLst>
          </p:cNvPr>
          <p:cNvSpPr/>
          <p:nvPr/>
        </p:nvSpPr>
        <p:spPr>
          <a:xfrm>
            <a:off x="7613609" y="1774853"/>
            <a:ext cx="4511522" cy="4372905"/>
          </a:xfrm>
          <a:prstGeom prst="roundRect">
            <a:avLst>
              <a:gd name="adj" fmla="val 4340"/>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Les 952 morceaux les plus écoutés sur Spotify ont un nombre de </a:t>
            </a:r>
            <a:r>
              <a:rPr lang="fr-FR" dirty="0" err="1"/>
              <a:t>streams</a:t>
            </a:r>
            <a:r>
              <a:rPr lang="fr-FR" dirty="0"/>
              <a:t> moyens de 514 137 425. Il faut souligner le fait que la moyenne soit nettement supérieure à la médiane 290 530 915. On peut aussi noter qu’une majeure partie des morceaux se situent en-dessous de la barre des 1 Milliards de </a:t>
            </a:r>
            <a:r>
              <a:rPr lang="fr-FR" dirty="0" err="1"/>
              <a:t>streams</a:t>
            </a:r>
            <a:r>
              <a:rPr lang="fr-FR" dirty="0"/>
              <a:t> (près de 84%). Ce décalage confirme que la distribution est "tirée" vers le haut par des valeurs extrêmes. </a:t>
            </a:r>
          </a:p>
        </p:txBody>
      </p:sp>
      <p:sp>
        <p:nvSpPr>
          <p:cNvPr id="7" name="Rectangle : coins arrondis 6">
            <a:extLst>
              <a:ext uri="{FF2B5EF4-FFF2-40B4-BE49-F238E27FC236}">
                <a16:creationId xmlns:a16="http://schemas.microsoft.com/office/drawing/2014/main" id="{F2FAC801-A201-D79A-DE56-1ECA4A536643}"/>
              </a:ext>
            </a:extLst>
          </p:cNvPr>
          <p:cNvSpPr/>
          <p:nvPr/>
        </p:nvSpPr>
        <p:spPr>
          <a:xfrm>
            <a:off x="8681045" y="1792582"/>
            <a:ext cx="237665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INTERPRÉTATION</a:t>
            </a:r>
            <a:endParaRPr lang="fr-FR" dirty="0"/>
          </a:p>
        </p:txBody>
      </p:sp>
      <p:sp>
        <p:nvSpPr>
          <p:cNvPr id="8" name="ZoneTexte 7">
            <a:extLst>
              <a:ext uri="{FF2B5EF4-FFF2-40B4-BE49-F238E27FC236}">
                <a16:creationId xmlns:a16="http://schemas.microsoft.com/office/drawing/2014/main" id="{8B50BB41-1376-939A-C63B-F1D34CE0CB00}"/>
              </a:ext>
            </a:extLst>
          </p:cNvPr>
          <p:cNvSpPr txBox="1"/>
          <p:nvPr/>
        </p:nvSpPr>
        <p:spPr>
          <a:xfrm>
            <a:off x="-275837" y="1336490"/>
            <a:ext cx="8434874" cy="338554"/>
          </a:xfrm>
          <a:prstGeom prst="rect">
            <a:avLst/>
          </a:prstGeom>
          <a:noFill/>
        </p:spPr>
        <p:txBody>
          <a:bodyPr wrap="square" rtlCol="0">
            <a:spAutoFit/>
          </a:bodyPr>
          <a:lstStyle/>
          <a:p>
            <a:pPr algn="ctr"/>
            <a:r>
              <a:rPr lang="fr-FR" sz="1600" dirty="0">
                <a:solidFill>
                  <a:schemeClr val="bg1"/>
                </a:solidFill>
              </a:rPr>
              <a:t>Une majorité de morceaux en dessous des 1 Milliard de </a:t>
            </a:r>
            <a:r>
              <a:rPr lang="fr-FR" sz="1600" dirty="0" err="1">
                <a:solidFill>
                  <a:schemeClr val="bg1"/>
                </a:solidFill>
              </a:rPr>
              <a:t>stream</a:t>
            </a:r>
            <a:endParaRPr lang="fr-FR" sz="1600" dirty="0">
              <a:solidFill>
                <a:schemeClr val="bg1"/>
              </a:solidFill>
            </a:endParaRPr>
          </a:p>
        </p:txBody>
      </p:sp>
      <p:grpSp>
        <p:nvGrpSpPr>
          <p:cNvPr id="17" name="Groupe 16">
            <a:extLst>
              <a:ext uri="{FF2B5EF4-FFF2-40B4-BE49-F238E27FC236}">
                <a16:creationId xmlns:a16="http://schemas.microsoft.com/office/drawing/2014/main" id="{B66C47C4-7522-3006-8104-6483191F3ABC}"/>
              </a:ext>
            </a:extLst>
          </p:cNvPr>
          <p:cNvGrpSpPr/>
          <p:nvPr/>
        </p:nvGrpSpPr>
        <p:grpSpPr>
          <a:xfrm>
            <a:off x="11403402" y="6411284"/>
            <a:ext cx="721729" cy="324931"/>
            <a:chOff x="11353402" y="6422166"/>
            <a:chExt cx="721729" cy="324931"/>
          </a:xfrm>
        </p:grpSpPr>
        <p:sp>
          <p:nvSpPr>
            <p:cNvPr id="18" name="Bouton d’action : avant ou précédent 17">
              <a:hlinkClick r:id="" action="ppaction://hlinkshowjump?jump=nextslide" highlightClick="1"/>
              <a:extLst>
                <a:ext uri="{FF2B5EF4-FFF2-40B4-BE49-F238E27FC236}">
                  <a16:creationId xmlns:a16="http://schemas.microsoft.com/office/drawing/2014/main" id="{858A2996-870C-02B3-0824-EF92B46D3152}"/>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Bouton d’action : retour ou précédent 18">
              <a:hlinkClick r:id="" action="ppaction://hlinkshowjump?jump=previousslide" highlightClick="1"/>
              <a:extLst>
                <a:ext uri="{FF2B5EF4-FFF2-40B4-BE49-F238E27FC236}">
                  <a16:creationId xmlns:a16="http://schemas.microsoft.com/office/drawing/2014/main" id="{0D6CA9D9-585B-8B7C-4DB2-26681C349493}"/>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0" name="Picture 3">
            <a:extLst>
              <a:ext uri="{FF2B5EF4-FFF2-40B4-BE49-F238E27FC236}">
                <a16:creationId xmlns:a16="http://schemas.microsoft.com/office/drawing/2014/main" id="{2D8FB3BC-03A4-4C41-DED1-62429330D904}"/>
              </a:ext>
            </a:extLst>
          </p:cNvPr>
          <p:cNvPicPr>
            <a:picLocks noChangeAspect="1"/>
          </p:cNvPicPr>
          <p:nvPr/>
        </p:nvPicPr>
        <p:blipFill>
          <a:blip r:embed="rId2"/>
          <a:stretch>
            <a:fillRect/>
          </a:stretch>
        </p:blipFill>
        <p:spPr>
          <a:xfrm>
            <a:off x="1" y="6412442"/>
            <a:ext cx="464598" cy="451839"/>
          </a:xfrm>
          <a:prstGeom prst="rect">
            <a:avLst/>
          </a:prstGeom>
        </p:spPr>
      </p:pic>
      <p:sp>
        <p:nvSpPr>
          <p:cNvPr id="21" name="Rectangle 20">
            <a:extLst>
              <a:ext uri="{FF2B5EF4-FFF2-40B4-BE49-F238E27FC236}">
                <a16:creationId xmlns:a16="http://schemas.microsoft.com/office/drawing/2014/main" id="{8AB9FECE-2EB4-49E5-0853-6C24F95DF463}"/>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b="1" dirty="0"/>
              <a:t>Description</a:t>
            </a:r>
            <a:r>
              <a:rPr lang="fr-FR" sz="1000" dirty="0"/>
              <a:t>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pic>
        <p:nvPicPr>
          <p:cNvPr id="15" name="Image 14" descr="Une image contenant texte, capture d’écran, Tracé, ligne&#10;&#10;Le contenu généré par l’IA peut être incorrect.">
            <a:extLst>
              <a:ext uri="{FF2B5EF4-FFF2-40B4-BE49-F238E27FC236}">
                <a16:creationId xmlns:a16="http://schemas.microsoft.com/office/drawing/2014/main" id="{FBC84046-4663-A08B-B79C-D04800939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376" y="1750063"/>
            <a:ext cx="6667549" cy="4119593"/>
          </a:xfrm>
          <a:prstGeom prst="rect">
            <a:avLst/>
          </a:prstGeom>
          <a:ln w="57150">
            <a:solidFill>
              <a:srgbClr val="1DB954"/>
            </a:solidFill>
          </a:ln>
        </p:spPr>
      </p:pic>
      <p:sp>
        <p:nvSpPr>
          <p:cNvPr id="22" name="Bouton d’action : vide 21">
            <a:hlinkClick r:id="rId4" action="ppaction://hlinksldjump" highlightClick="1"/>
            <a:extLst>
              <a:ext uri="{FF2B5EF4-FFF2-40B4-BE49-F238E27FC236}">
                <a16:creationId xmlns:a16="http://schemas.microsoft.com/office/drawing/2014/main" id="{076518BA-D732-5081-E79A-DE65B33530B9}"/>
              </a:ext>
            </a:extLst>
          </p:cNvPr>
          <p:cNvSpPr/>
          <p:nvPr/>
        </p:nvSpPr>
        <p:spPr>
          <a:xfrm>
            <a:off x="7889370" y="5596138"/>
            <a:ext cx="3960000" cy="273518"/>
          </a:xfrm>
          <a:prstGeom prst="actionButtonBlank">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bg1"/>
                </a:solidFill>
              </a:rPr>
              <a:t>Voir le top 10 des sons avec le plus de </a:t>
            </a:r>
            <a:r>
              <a:rPr lang="fr-FR" sz="1200" dirty="0" err="1">
                <a:solidFill>
                  <a:schemeClr val="bg1"/>
                </a:solidFill>
              </a:rPr>
              <a:t>streams</a:t>
            </a:r>
            <a:r>
              <a:rPr lang="fr-FR" sz="1200" dirty="0">
                <a:solidFill>
                  <a:schemeClr val="bg1"/>
                </a:solidFill>
              </a:rPr>
              <a:t> (cliquer)</a:t>
            </a:r>
          </a:p>
        </p:txBody>
      </p:sp>
    </p:spTree>
    <p:extLst>
      <p:ext uri="{BB962C8B-B14F-4D97-AF65-F5344CB8AC3E}">
        <p14:creationId xmlns:p14="http://schemas.microsoft.com/office/powerpoint/2010/main" val="1751747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67474E37-E165-74AC-1629-77C1CFF620E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01BEA6-E3D0-8112-84DB-79F2005C312F}"/>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BC388663-88A1-8A93-F3D3-01CA013251E1}"/>
              </a:ext>
            </a:extLst>
          </p:cNvPr>
          <p:cNvSpPr>
            <a:spLocks noGrp="1"/>
          </p:cNvSpPr>
          <p:nvPr>
            <p:ph type="sldNum" sz="quarter" idx="12"/>
          </p:nvPr>
        </p:nvSpPr>
        <p:spPr/>
        <p:txBody>
          <a:bodyPr/>
          <a:lstStyle/>
          <a:p>
            <a:fld id="{5D5C5C60-63A0-401E-A392-47CD3E86B338}" type="slidenum">
              <a:rPr lang="fr-FR" dirty="0" smtClean="0">
                <a:solidFill>
                  <a:srgbClr val="B3B3B3"/>
                </a:solidFill>
              </a:rPr>
              <a:t>9</a:t>
            </a:fld>
            <a:endParaRPr lang="en-US" dirty="0">
              <a:solidFill>
                <a:srgbClr val="B3B3B3"/>
              </a:solidFill>
            </a:endParaRPr>
          </a:p>
        </p:txBody>
      </p:sp>
      <p:sp>
        <p:nvSpPr>
          <p:cNvPr id="2" name="Rectangle 1">
            <a:extLst>
              <a:ext uri="{FF2B5EF4-FFF2-40B4-BE49-F238E27FC236}">
                <a16:creationId xmlns:a16="http://schemas.microsoft.com/office/drawing/2014/main" id="{6BB6CF0E-A292-C118-7F82-679506474F15}"/>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Description des caractéristiques</a:t>
            </a:r>
          </a:p>
        </p:txBody>
      </p:sp>
      <p:grpSp>
        <p:nvGrpSpPr>
          <p:cNvPr id="11" name="Groupe 10">
            <a:extLst>
              <a:ext uri="{FF2B5EF4-FFF2-40B4-BE49-F238E27FC236}">
                <a16:creationId xmlns:a16="http://schemas.microsoft.com/office/drawing/2014/main" id="{4D44D2BB-18F1-11ED-1A40-F1F3C2452FA5}"/>
              </a:ext>
            </a:extLst>
          </p:cNvPr>
          <p:cNvGrpSpPr/>
          <p:nvPr/>
        </p:nvGrpSpPr>
        <p:grpSpPr>
          <a:xfrm>
            <a:off x="-253026" y="801705"/>
            <a:ext cx="8434874" cy="5261289"/>
            <a:chOff x="4293838" y="1967927"/>
            <a:chExt cx="7085990" cy="4166239"/>
          </a:xfrm>
        </p:grpSpPr>
        <p:pic>
          <p:nvPicPr>
            <p:cNvPr id="9" name="Image 8">
              <a:extLst>
                <a:ext uri="{FF2B5EF4-FFF2-40B4-BE49-F238E27FC236}">
                  <a16:creationId xmlns:a16="http://schemas.microsoft.com/office/drawing/2014/main" id="{C4DC5CD3-B4D8-C766-30D3-A3726414C6CF}"/>
                </a:ext>
              </a:extLst>
            </p:cNvPr>
            <p:cNvPicPr>
              <a:picLocks noChangeAspect="1"/>
            </p:cNvPicPr>
            <p:nvPr/>
          </p:nvPicPr>
          <p:blipFill>
            <a:blip r:embed="rId2"/>
            <a:srcRect l="2030" t="3119" r="2636" b="5476"/>
            <a:stretch>
              <a:fillRect/>
            </a:stretch>
          </p:blipFill>
          <p:spPr>
            <a:xfrm>
              <a:off x="4928070" y="2703630"/>
              <a:ext cx="5952807" cy="3430536"/>
            </a:xfrm>
            <a:prstGeom prst="rect">
              <a:avLst/>
            </a:prstGeom>
            <a:ln w="57150">
              <a:solidFill>
                <a:srgbClr val="1ED760"/>
              </a:solidFill>
            </a:ln>
          </p:spPr>
        </p:pic>
        <p:sp>
          <p:nvSpPr>
            <p:cNvPr id="10" name="ZoneTexte 9">
              <a:extLst>
                <a:ext uri="{FF2B5EF4-FFF2-40B4-BE49-F238E27FC236}">
                  <a16:creationId xmlns:a16="http://schemas.microsoft.com/office/drawing/2014/main" id="{8EF50132-76F6-F3A1-7485-9271CE078C30}"/>
                </a:ext>
              </a:extLst>
            </p:cNvPr>
            <p:cNvSpPr txBox="1"/>
            <p:nvPr/>
          </p:nvSpPr>
          <p:spPr>
            <a:xfrm>
              <a:off x="4293838" y="1967927"/>
              <a:ext cx="7085990" cy="365577"/>
            </a:xfrm>
            <a:prstGeom prst="rect">
              <a:avLst/>
            </a:prstGeom>
            <a:noFill/>
          </p:spPr>
          <p:txBody>
            <a:bodyPr wrap="square" rtlCol="0">
              <a:spAutoFit/>
            </a:bodyPr>
            <a:lstStyle/>
            <a:p>
              <a:pPr algn="ctr"/>
              <a:r>
                <a:rPr lang="fr-FR" sz="2400" b="1" dirty="0">
                  <a:solidFill>
                    <a:schemeClr val="bg1"/>
                  </a:solidFill>
                </a:rPr>
                <a:t>Radar chart des attributs audios moyens</a:t>
              </a:r>
            </a:p>
          </p:txBody>
        </p:sp>
      </p:grpSp>
      <p:sp>
        <p:nvSpPr>
          <p:cNvPr id="12" name="Rectangle : coins arrondis 11">
            <a:extLst>
              <a:ext uri="{FF2B5EF4-FFF2-40B4-BE49-F238E27FC236}">
                <a16:creationId xmlns:a16="http://schemas.microsoft.com/office/drawing/2014/main" id="{D2298578-F315-1C02-9C00-5EF0366BDB4C}"/>
              </a:ext>
            </a:extLst>
          </p:cNvPr>
          <p:cNvSpPr/>
          <p:nvPr/>
        </p:nvSpPr>
        <p:spPr>
          <a:xfrm>
            <a:off x="7873042" y="2106714"/>
            <a:ext cx="4250955" cy="3913866"/>
          </a:xfrm>
          <a:prstGeom prst="roundRect">
            <a:avLst>
              <a:gd name="adj" fmla="val 6413"/>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a:p>
            <a:pPr algn="ctr"/>
            <a:r>
              <a:rPr lang="fr-FR" dirty="0"/>
              <a:t>En moyenne les 952 morceaux les plus écoutés sur Spotify ont un fort pourcentage d’énergie, de valence et de dimension dansante. Tandis qu’ils ont un assez faible pourcentage d’instrument, d’acoustique, de parole et de vivacité. Ce qui peut s’expliquer par la</a:t>
            </a:r>
            <a:r>
              <a:rPr lang="fr-FR" b="1" dirty="0"/>
              <a:t> </a:t>
            </a:r>
            <a:r>
              <a:rPr lang="fr-FR" dirty="0"/>
              <a:t>prédominance des musiques populaires (Pop, Rap, Électro) dans les classements mondiaux.</a:t>
            </a:r>
          </a:p>
        </p:txBody>
      </p:sp>
      <p:sp>
        <p:nvSpPr>
          <p:cNvPr id="7" name="Rectangle : coins arrondis 6">
            <a:extLst>
              <a:ext uri="{FF2B5EF4-FFF2-40B4-BE49-F238E27FC236}">
                <a16:creationId xmlns:a16="http://schemas.microsoft.com/office/drawing/2014/main" id="{38C000CF-E95C-93A6-EA53-44C395C5E27A}"/>
              </a:ext>
            </a:extLst>
          </p:cNvPr>
          <p:cNvSpPr/>
          <p:nvPr/>
        </p:nvSpPr>
        <p:spPr>
          <a:xfrm>
            <a:off x="8810194" y="2126101"/>
            <a:ext cx="237665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INTERPRÉTATION</a:t>
            </a:r>
            <a:endParaRPr lang="fr-FR" dirty="0"/>
          </a:p>
        </p:txBody>
      </p:sp>
      <p:sp>
        <p:nvSpPr>
          <p:cNvPr id="8" name="ZoneTexte 7">
            <a:extLst>
              <a:ext uri="{FF2B5EF4-FFF2-40B4-BE49-F238E27FC236}">
                <a16:creationId xmlns:a16="http://schemas.microsoft.com/office/drawing/2014/main" id="{8D62528C-3577-2B98-5441-B59CA619FAE3}"/>
              </a:ext>
            </a:extLst>
          </p:cNvPr>
          <p:cNvSpPr txBox="1"/>
          <p:nvPr/>
        </p:nvSpPr>
        <p:spPr>
          <a:xfrm>
            <a:off x="-160821" y="1296300"/>
            <a:ext cx="8434874" cy="338554"/>
          </a:xfrm>
          <a:prstGeom prst="rect">
            <a:avLst/>
          </a:prstGeom>
          <a:noFill/>
        </p:spPr>
        <p:txBody>
          <a:bodyPr wrap="square" rtlCol="0">
            <a:spAutoFit/>
          </a:bodyPr>
          <a:lstStyle/>
          <a:p>
            <a:pPr algn="ctr"/>
            <a:r>
              <a:rPr lang="fr-FR" sz="1600" dirty="0">
                <a:solidFill>
                  <a:schemeClr val="bg1"/>
                </a:solidFill>
              </a:rPr>
              <a:t>Prédominance de l'énergie et de la dimension dansante au détriment de l'instrumentalité</a:t>
            </a:r>
          </a:p>
        </p:txBody>
      </p:sp>
      <p:grpSp>
        <p:nvGrpSpPr>
          <p:cNvPr id="17" name="Groupe 16">
            <a:extLst>
              <a:ext uri="{FF2B5EF4-FFF2-40B4-BE49-F238E27FC236}">
                <a16:creationId xmlns:a16="http://schemas.microsoft.com/office/drawing/2014/main" id="{1A97EF23-664D-6E3B-2D88-9C1971E7739D}"/>
              </a:ext>
            </a:extLst>
          </p:cNvPr>
          <p:cNvGrpSpPr/>
          <p:nvPr/>
        </p:nvGrpSpPr>
        <p:grpSpPr>
          <a:xfrm>
            <a:off x="11403402" y="6411284"/>
            <a:ext cx="721729" cy="324931"/>
            <a:chOff x="11353402" y="6422166"/>
            <a:chExt cx="721729" cy="324931"/>
          </a:xfrm>
        </p:grpSpPr>
        <p:sp>
          <p:nvSpPr>
            <p:cNvPr id="18" name="Bouton d’action : avant ou précédent 17">
              <a:hlinkClick r:id="" action="ppaction://hlinkshowjump?jump=nextslide" highlightClick="1"/>
              <a:extLst>
                <a:ext uri="{FF2B5EF4-FFF2-40B4-BE49-F238E27FC236}">
                  <a16:creationId xmlns:a16="http://schemas.microsoft.com/office/drawing/2014/main" id="{529F49E0-9EDC-ADA6-FC46-3624A691660E}"/>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Bouton d’action : retour ou précédent 18">
              <a:hlinkClick r:id="" action="ppaction://hlinkshowjump?jump=previousslide" highlightClick="1"/>
              <a:extLst>
                <a:ext uri="{FF2B5EF4-FFF2-40B4-BE49-F238E27FC236}">
                  <a16:creationId xmlns:a16="http://schemas.microsoft.com/office/drawing/2014/main" id="{A1151807-5592-7927-00FD-0200EA44D3D6}"/>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0" name="Picture 3">
            <a:extLst>
              <a:ext uri="{FF2B5EF4-FFF2-40B4-BE49-F238E27FC236}">
                <a16:creationId xmlns:a16="http://schemas.microsoft.com/office/drawing/2014/main" id="{65EA9BE5-A4B1-AF13-2F11-B437076D19B9}"/>
              </a:ext>
            </a:extLst>
          </p:cNvPr>
          <p:cNvPicPr>
            <a:picLocks noChangeAspect="1"/>
          </p:cNvPicPr>
          <p:nvPr/>
        </p:nvPicPr>
        <p:blipFill>
          <a:blip r:embed="rId3"/>
          <a:stretch>
            <a:fillRect/>
          </a:stretch>
        </p:blipFill>
        <p:spPr>
          <a:xfrm>
            <a:off x="1" y="6412442"/>
            <a:ext cx="464598" cy="451839"/>
          </a:xfrm>
          <a:prstGeom prst="rect">
            <a:avLst/>
          </a:prstGeom>
        </p:spPr>
      </p:pic>
      <p:sp>
        <p:nvSpPr>
          <p:cNvPr id="21" name="Rectangle 20">
            <a:extLst>
              <a:ext uri="{FF2B5EF4-FFF2-40B4-BE49-F238E27FC236}">
                <a16:creationId xmlns:a16="http://schemas.microsoft.com/office/drawing/2014/main" id="{E79C8FEE-9E99-4DF6-F92C-0BA629E44E19}"/>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b="1" dirty="0"/>
              <a:t>Description</a:t>
            </a:r>
            <a:r>
              <a:rPr lang="fr-FR" sz="1000" dirty="0"/>
              <a:t>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spTree>
    <p:extLst>
      <p:ext uri="{BB962C8B-B14F-4D97-AF65-F5344CB8AC3E}">
        <p14:creationId xmlns:p14="http://schemas.microsoft.com/office/powerpoint/2010/main" val="3713550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CFA04A92-0FAF-6532-CE93-15E6D2C5664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E3AFF50-9A16-A8AD-CE70-B21184FF0FFC}"/>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7D07A832-F0BB-4C44-2A91-FF10F0EDB049}"/>
              </a:ext>
            </a:extLst>
          </p:cNvPr>
          <p:cNvSpPr>
            <a:spLocks noGrp="1"/>
          </p:cNvSpPr>
          <p:nvPr>
            <p:ph type="sldNum" sz="quarter" idx="12"/>
          </p:nvPr>
        </p:nvSpPr>
        <p:spPr/>
        <p:txBody>
          <a:bodyPr/>
          <a:lstStyle/>
          <a:p>
            <a:fld id="{5D5C5C60-63A0-401E-A392-47CD3E86B338}" type="slidenum">
              <a:rPr lang="fr-FR" dirty="0" smtClean="0">
                <a:solidFill>
                  <a:srgbClr val="B3B3B3"/>
                </a:solidFill>
              </a:rPr>
              <a:t>10</a:t>
            </a:fld>
            <a:endParaRPr lang="en-US" dirty="0">
              <a:solidFill>
                <a:srgbClr val="B3B3B3"/>
              </a:solidFill>
            </a:endParaRPr>
          </a:p>
        </p:txBody>
      </p:sp>
      <p:sp>
        <p:nvSpPr>
          <p:cNvPr id="2" name="Rectangle 1">
            <a:extLst>
              <a:ext uri="{FF2B5EF4-FFF2-40B4-BE49-F238E27FC236}">
                <a16:creationId xmlns:a16="http://schemas.microsoft.com/office/drawing/2014/main" id="{EDB74858-FC5B-B890-3910-F843E349E8FC}"/>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Description des caractéristiques</a:t>
            </a:r>
          </a:p>
        </p:txBody>
      </p:sp>
      <p:sp>
        <p:nvSpPr>
          <p:cNvPr id="10" name="ZoneTexte 9">
            <a:extLst>
              <a:ext uri="{FF2B5EF4-FFF2-40B4-BE49-F238E27FC236}">
                <a16:creationId xmlns:a16="http://schemas.microsoft.com/office/drawing/2014/main" id="{00AC64BE-48F8-85F3-D531-3F9D97F5371B}"/>
              </a:ext>
            </a:extLst>
          </p:cNvPr>
          <p:cNvSpPr txBox="1"/>
          <p:nvPr/>
        </p:nvSpPr>
        <p:spPr>
          <a:xfrm>
            <a:off x="-253026" y="801705"/>
            <a:ext cx="8434874" cy="461665"/>
          </a:xfrm>
          <a:prstGeom prst="rect">
            <a:avLst/>
          </a:prstGeom>
          <a:noFill/>
        </p:spPr>
        <p:txBody>
          <a:bodyPr wrap="square" rtlCol="0">
            <a:spAutoFit/>
          </a:bodyPr>
          <a:lstStyle/>
          <a:p>
            <a:pPr algn="ctr"/>
            <a:r>
              <a:rPr lang="fr-FR" sz="2400" b="1" dirty="0">
                <a:solidFill>
                  <a:schemeClr val="bg1"/>
                </a:solidFill>
              </a:rPr>
              <a:t>Comparaison des modes des morceaux </a:t>
            </a:r>
          </a:p>
        </p:txBody>
      </p:sp>
      <p:grpSp>
        <p:nvGrpSpPr>
          <p:cNvPr id="22" name="Groupe 21">
            <a:extLst>
              <a:ext uri="{FF2B5EF4-FFF2-40B4-BE49-F238E27FC236}">
                <a16:creationId xmlns:a16="http://schemas.microsoft.com/office/drawing/2014/main" id="{268774EE-80F1-05EC-B429-80EBA0866D20}"/>
              </a:ext>
            </a:extLst>
          </p:cNvPr>
          <p:cNvGrpSpPr/>
          <p:nvPr/>
        </p:nvGrpSpPr>
        <p:grpSpPr>
          <a:xfrm>
            <a:off x="8081009" y="1758648"/>
            <a:ext cx="3802382" cy="4378219"/>
            <a:chOff x="8321615" y="1821298"/>
            <a:chExt cx="3802382" cy="4378219"/>
          </a:xfrm>
        </p:grpSpPr>
        <p:sp>
          <p:nvSpPr>
            <p:cNvPr id="12" name="Rectangle : coins arrondis 11">
              <a:extLst>
                <a:ext uri="{FF2B5EF4-FFF2-40B4-BE49-F238E27FC236}">
                  <a16:creationId xmlns:a16="http://schemas.microsoft.com/office/drawing/2014/main" id="{91E855FD-7DF1-9589-8EA2-5BFDDFA54891}"/>
                </a:ext>
              </a:extLst>
            </p:cNvPr>
            <p:cNvSpPr/>
            <p:nvPr/>
          </p:nvSpPr>
          <p:spPr>
            <a:xfrm>
              <a:off x="8321615" y="1824729"/>
              <a:ext cx="3802382" cy="4374788"/>
            </a:xfrm>
            <a:prstGeom prst="roundRect">
              <a:avLst>
                <a:gd name="adj" fmla="val 4854"/>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a:p>
              <a:pPr algn="ctr"/>
              <a:r>
                <a:rPr lang="fr-FR" dirty="0"/>
                <a:t>De manière générale, les morceaux composés en mode majeur, souvent perçus comme plus « joyeux » , ont tendance à accumuler un nombre de </a:t>
              </a:r>
              <a:r>
                <a:rPr lang="fr-FR" dirty="0" err="1"/>
                <a:t>streams</a:t>
              </a:r>
              <a:r>
                <a:rPr lang="fr-FR" dirty="0"/>
                <a:t> légèrement plus élevé que ceux en mode mineur. On observe que les points roses (</a:t>
              </a:r>
              <a:r>
                <a:rPr lang="fr-FR" dirty="0" err="1"/>
                <a:t>outliers</a:t>
              </a:r>
              <a:r>
                <a:rPr lang="fr-FR" dirty="0"/>
                <a:t>) s’élèvent jusqu'à plus de 3 milliards de </a:t>
              </a:r>
              <a:r>
                <a:rPr lang="fr-FR" dirty="0" err="1"/>
                <a:t>streams</a:t>
              </a:r>
              <a:r>
                <a:rPr lang="fr-FR" dirty="0"/>
                <a:t> dans les deux catégories. Cela prouve que le mode musical n'est pas un frein pour atteindre un succès planétaire.</a:t>
              </a:r>
            </a:p>
          </p:txBody>
        </p:sp>
        <p:sp>
          <p:nvSpPr>
            <p:cNvPr id="7" name="Rectangle : coins arrondis 6">
              <a:extLst>
                <a:ext uri="{FF2B5EF4-FFF2-40B4-BE49-F238E27FC236}">
                  <a16:creationId xmlns:a16="http://schemas.microsoft.com/office/drawing/2014/main" id="{96F1BA3C-514B-BE84-0B06-DE81122AAD2C}"/>
                </a:ext>
              </a:extLst>
            </p:cNvPr>
            <p:cNvSpPr/>
            <p:nvPr/>
          </p:nvSpPr>
          <p:spPr>
            <a:xfrm>
              <a:off x="9034481" y="1821298"/>
              <a:ext cx="237665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INTERPRÉTATION</a:t>
              </a:r>
              <a:endParaRPr lang="fr-FR" dirty="0"/>
            </a:p>
          </p:txBody>
        </p:sp>
      </p:grpSp>
      <p:sp>
        <p:nvSpPr>
          <p:cNvPr id="8" name="ZoneTexte 7">
            <a:extLst>
              <a:ext uri="{FF2B5EF4-FFF2-40B4-BE49-F238E27FC236}">
                <a16:creationId xmlns:a16="http://schemas.microsoft.com/office/drawing/2014/main" id="{3723BD72-5125-2C30-5640-25B6156EC5A8}"/>
              </a:ext>
            </a:extLst>
          </p:cNvPr>
          <p:cNvSpPr txBox="1"/>
          <p:nvPr/>
        </p:nvSpPr>
        <p:spPr>
          <a:xfrm>
            <a:off x="-160821" y="1256043"/>
            <a:ext cx="8434874" cy="369332"/>
          </a:xfrm>
          <a:prstGeom prst="rect">
            <a:avLst/>
          </a:prstGeom>
          <a:noFill/>
        </p:spPr>
        <p:txBody>
          <a:bodyPr wrap="square" rtlCol="0">
            <a:spAutoFit/>
          </a:bodyPr>
          <a:lstStyle/>
          <a:p>
            <a:pPr algn="ctr"/>
            <a:r>
              <a:rPr lang="fr-FR" dirty="0">
                <a:solidFill>
                  <a:schemeClr val="bg1"/>
                </a:solidFill>
              </a:rPr>
              <a:t>Un léger avantage au mode Majeur pour l'audience médiane</a:t>
            </a:r>
          </a:p>
        </p:txBody>
      </p:sp>
      <p:grpSp>
        <p:nvGrpSpPr>
          <p:cNvPr id="17" name="Groupe 16">
            <a:extLst>
              <a:ext uri="{FF2B5EF4-FFF2-40B4-BE49-F238E27FC236}">
                <a16:creationId xmlns:a16="http://schemas.microsoft.com/office/drawing/2014/main" id="{D84135E1-731F-CD0C-B7AF-97FA3FE41CB1}"/>
              </a:ext>
            </a:extLst>
          </p:cNvPr>
          <p:cNvGrpSpPr/>
          <p:nvPr/>
        </p:nvGrpSpPr>
        <p:grpSpPr>
          <a:xfrm>
            <a:off x="11403402" y="6411284"/>
            <a:ext cx="721729" cy="324931"/>
            <a:chOff x="11353402" y="6422166"/>
            <a:chExt cx="721729" cy="324931"/>
          </a:xfrm>
        </p:grpSpPr>
        <p:sp>
          <p:nvSpPr>
            <p:cNvPr id="18" name="Bouton d’action : avant ou précédent 17">
              <a:hlinkClick r:id="" action="ppaction://hlinkshowjump?jump=nextslide" highlightClick="1"/>
              <a:extLst>
                <a:ext uri="{FF2B5EF4-FFF2-40B4-BE49-F238E27FC236}">
                  <a16:creationId xmlns:a16="http://schemas.microsoft.com/office/drawing/2014/main" id="{27603D5C-5C31-1290-2921-14C5A6AC64A8}"/>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Bouton d’action : retour ou précédent 18">
              <a:hlinkClick r:id="" action="ppaction://hlinkshowjump?jump=previousslide" highlightClick="1"/>
              <a:extLst>
                <a:ext uri="{FF2B5EF4-FFF2-40B4-BE49-F238E27FC236}">
                  <a16:creationId xmlns:a16="http://schemas.microsoft.com/office/drawing/2014/main" id="{17BFF738-12B7-5B6F-FBB3-698E5D34638E}"/>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0" name="Picture 3">
            <a:extLst>
              <a:ext uri="{FF2B5EF4-FFF2-40B4-BE49-F238E27FC236}">
                <a16:creationId xmlns:a16="http://schemas.microsoft.com/office/drawing/2014/main" id="{95D86886-EE7D-E9B9-2727-A3D27A547E09}"/>
              </a:ext>
            </a:extLst>
          </p:cNvPr>
          <p:cNvPicPr>
            <a:picLocks noChangeAspect="1"/>
          </p:cNvPicPr>
          <p:nvPr/>
        </p:nvPicPr>
        <p:blipFill>
          <a:blip r:embed="rId2"/>
          <a:stretch>
            <a:fillRect/>
          </a:stretch>
        </p:blipFill>
        <p:spPr>
          <a:xfrm>
            <a:off x="1" y="6412442"/>
            <a:ext cx="464598" cy="451839"/>
          </a:xfrm>
          <a:prstGeom prst="rect">
            <a:avLst/>
          </a:prstGeom>
        </p:spPr>
      </p:pic>
      <p:sp>
        <p:nvSpPr>
          <p:cNvPr id="21" name="Rectangle 20">
            <a:extLst>
              <a:ext uri="{FF2B5EF4-FFF2-40B4-BE49-F238E27FC236}">
                <a16:creationId xmlns:a16="http://schemas.microsoft.com/office/drawing/2014/main" id="{37B138E5-DDD5-BEFD-20EA-F4ADFB8E44F6}"/>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b="1" dirty="0"/>
              <a:t>Description</a:t>
            </a:r>
            <a:r>
              <a:rPr lang="fr-FR" sz="1000" dirty="0"/>
              <a:t>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pic>
        <p:nvPicPr>
          <p:cNvPr id="6" name="Image 5" descr="Une image contenant texte, capture d’écran, affichage, nombre&#10;&#10;Le contenu généré par l’IA peut être incorrect.">
            <a:extLst>
              <a:ext uri="{FF2B5EF4-FFF2-40B4-BE49-F238E27FC236}">
                <a16:creationId xmlns:a16="http://schemas.microsoft.com/office/drawing/2014/main" id="{06BF9E83-B1B3-767F-3448-79F0878BC070}"/>
              </a:ext>
            </a:extLst>
          </p:cNvPr>
          <p:cNvPicPr>
            <a:picLocks noChangeAspect="1"/>
          </p:cNvPicPr>
          <p:nvPr/>
        </p:nvPicPr>
        <p:blipFill>
          <a:blip r:embed="rId3">
            <a:extLst>
              <a:ext uri="{28A0092B-C50C-407E-A947-70E740481C1C}">
                <a14:useLocalDpi xmlns:a14="http://schemas.microsoft.com/office/drawing/2010/main" val="0"/>
              </a:ext>
            </a:extLst>
          </a:blip>
          <a:srcRect t="12329"/>
          <a:stretch>
            <a:fillRect/>
          </a:stretch>
        </p:blipFill>
        <p:spPr>
          <a:xfrm>
            <a:off x="267722" y="1790138"/>
            <a:ext cx="7393378" cy="4004854"/>
          </a:xfrm>
          <a:prstGeom prst="rect">
            <a:avLst/>
          </a:prstGeom>
          <a:ln w="57150">
            <a:solidFill>
              <a:srgbClr val="1DB954"/>
            </a:solidFill>
          </a:ln>
        </p:spPr>
      </p:pic>
    </p:spTree>
    <p:extLst>
      <p:ext uri="{BB962C8B-B14F-4D97-AF65-F5344CB8AC3E}">
        <p14:creationId xmlns:p14="http://schemas.microsoft.com/office/powerpoint/2010/main" val="2652160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26768F96-E48F-2400-814F-922E99F2FF7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41ED9E0-A29F-4CB3-4909-CA3094B9D218}"/>
              </a:ext>
            </a:extLst>
          </p:cNvPr>
          <p:cNvSpPr>
            <a:spLocks noGrp="1"/>
          </p:cNvSpPr>
          <p:nvPr>
            <p:ph type="ftr" sz="quarter" idx="11"/>
          </p:nvPr>
        </p:nvSpPr>
        <p:spPr/>
        <p:txBody>
          <a:bodyPr/>
          <a:lstStyle/>
          <a:p>
            <a:r>
              <a:rPr lang="en-US">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876B1AE0-88E9-3962-D5A8-0CDA4A62DB2E}"/>
              </a:ext>
            </a:extLst>
          </p:cNvPr>
          <p:cNvSpPr>
            <a:spLocks noGrp="1"/>
          </p:cNvSpPr>
          <p:nvPr>
            <p:ph type="sldNum" sz="quarter" idx="12"/>
          </p:nvPr>
        </p:nvSpPr>
        <p:spPr/>
        <p:txBody>
          <a:bodyPr/>
          <a:lstStyle/>
          <a:p>
            <a:fld id="{5D5C5C60-63A0-401E-A392-47CD3E86B338}" type="slidenum">
              <a:rPr lang="fr-FR" dirty="0" smtClean="0">
                <a:solidFill>
                  <a:srgbClr val="B3B3B3"/>
                </a:solidFill>
              </a:rPr>
              <a:t>11</a:t>
            </a:fld>
            <a:endParaRPr lang="en-US">
              <a:solidFill>
                <a:srgbClr val="B3B3B3"/>
              </a:solidFill>
            </a:endParaRPr>
          </a:p>
        </p:txBody>
      </p:sp>
      <p:sp>
        <p:nvSpPr>
          <p:cNvPr id="2" name="Rectangle 1">
            <a:extLst>
              <a:ext uri="{FF2B5EF4-FFF2-40B4-BE49-F238E27FC236}">
                <a16:creationId xmlns:a16="http://schemas.microsoft.com/office/drawing/2014/main" id="{562B9F0A-084E-28CE-18A6-DAB4C9B827DC}"/>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a:solidFill>
                  <a:schemeClr val="bg1"/>
                </a:solidFill>
              </a:rPr>
              <a:t>Description des caractéristiques</a:t>
            </a:r>
          </a:p>
        </p:txBody>
      </p:sp>
      <p:sp>
        <p:nvSpPr>
          <p:cNvPr id="10" name="ZoneTexte 9">
            <a:extLst>
              <a:ext uri="{FF2B5EF4-FFF2-40B4-BE49-F238E27FC236}">
                <a16:creationId xmlns:a16="http://schemas.microsoft.com/office/drawing/2014/main" id="{33F9C5C3-E87D-F569-674D-589B84DDFAF4}"/>
              </a:ext>
            </a:extLst>
          </p:cNvPr>
          <p:cNvSpPr txBox="1"/>
          <p:nvPr/>
        </p:nvSpPr>
        <p:spPr>
          <a:xfrm>
            <a:off x="-253026" y="801705"/>
            <a:ext cx="8434874" cy="461665"/>
          </a:xfrm>
          <a:prstGeom prst="rect">
            <a:avLst/>
          </a:prstGeom>
          <a:noFill/>
        </p:spPr>
        <p:txBody>
          <a:bodyPr wrap="square" rtlCol="0">
            <a:spAutoFit/>
          </a:bodyPr>
          <a:lstStyle/>
          <a:p>
            <a:pPr algn="ctr"/>
            <a:r>
              <a:rPr lang="fr-FR" sz="2400" b="1">
                <a:solidFill>
                  <a:schemeClr val="bg1"/>
                </a:solidFill>
              </a:rPr>
              <a:t>Comparaison des </a:t>
            </a:r>
            <a:r>
              <a:rPr lang="fr-FR" sz="2400" b="1" err="1">
                <a:solidFill>
                  <a:schemeClr val="bg1"/>
                </a:solidFill>
              </a:rPr>
              <a:t>streams</a:t>
            </a:r>
            <a:r>
              <a:rPr lang="fr-FR" sz="2400" b="1">
                <a:solidFill>
                  <a:schemeClr val="bg1"/>
                </a:solidFill>
              </a:rPr>
              <a:t> selon l’année de sortie</a:t>
            </a:r>
          </a:p>
        </p:txBody>
      </p:sp>
      <p:grpSp>
        <p:nvGrpSpPr>
          <p:cNvPr id="14" name="Groupe 13">
            <a:extLst>
              <a:ext uri="{FF2B5EF4-FFF2-40B4-BE49-F238E27FC236}">
                <a16:creationId xmlns:a16="http://schemas.microsoft.com/office/drawing/2014/main" id="{710A25F7-8439-3C39-8AA6-A577CFF45840}"/>
              </a:ext>
            </a:extLst>
          </p:cNvPr>
          <p:cNvGrpSpPr/>
          <p:nvPr/>
        </p:nvGrpSpPr>
        <p:grpSpPr>
          <a:xfrm>
            <a:off x="6676845" y="1712334"/>
            <a:ext cx="5407830" cy="4378219"/>
            <a:chOff x="6676845" y="1712334"/>
            <a:chExt cx="5407830" cy="4378219"/>
          </a:xfrm>
        </p:grpSpPr>
        <p:sp>
          <p:nvSpPr>
            <p:cNvPr id="12" name="Rectangle : coins arrondis 11">
              <a:extLst>
                <a:ext uri="{FF2B5EF4-FFF2-40B4-BE49-F238E27FC236}">
                  <a16:creationId xmlns:a16="http://schemas.microsoft.com/office/drawing/2014/main" id="{08AD978D-E3F7-7064-02DB-253120AFF2AB}"/>
                </a:ext>
              </a:extLst>
            </p:cNvPr>
            <p:cNvSpPr/>
            <p:nvPr/>
          </p:nvSpPr>
          <p:spPr>
            <a:xfrm>
              <a:off x="6676845" y="1715765"/>
              <a:ext cx="5407830" cy="4374788"/>
            </a:xfrm>
            <a:prstGeom prst="roundRect">
              <a:avLst>
                <a:gd name="adj" fmla="val 4854"/>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a:p>
              <a:pPr algn="ctr"/>
              <a:endParaRPr lang="fr-FR" altLang="fr-FR" sz="1400" dirty="0">
                <a:solidFill>
                  <a:schemeClr val="bg1"/>
                </a:solidFill>
                <a:latin typeface="Arial" panose="020B0604020202020204" pitchFamily="34" charset="0"/>
              </a:endParaRPr>
            </a:p>
            <a:p>
              <a:pPr algn="ctr"/>
              <a:endParaRPr lang="fr-FR" altLang="fr-FR" sz="1600" dirty="0">
                <a:solidFill>
                  <a:schemeClr val="bg1"/>
                </a:solidFill>
                <a:latin typeface="Arial" panose="020B0604020202020204" pitchFamily="34" charset="0"/>
              </a:endParaRPr>
            </a:p>
            <a:p>
              <a:pPr algn="ctr"/>
              <a:endParaRPr lang="fr-FR" altLang="fr-FR" sz="1600" dirty="0">
                <a:solidFill>
                  <a:schemeClr val="bg1"/>
                </a:solidFill>
                <a:latin typeface="Arial" panose="020B0604020202020204" pitchFamily="34" charset="0"/>
              </a:endParaRPr>
            </a:p>
            <a:p>
              <a:pPr algn="ctr"/>
              <a:r>
                <a:rPr lang="fr-FR" altLang="fr-FR" dirty="0">
                  <a:solidFill>
                    <a:schemeClr val="bg1"/>
                  </a:solidFill>
                  <a:latin typeface="Arial" panose="020B0604020202020204" pitchFamily="34" charset="0"/>
                </a:rPr>
                <a:t>Les titres plus ancien (1925 – 1970) maintiennent un niveau d'écoute proche ou supérieur à la médiane globale (</a:t>
              </a:r>
              <a:r>
                <a:rPr lang="fr-FR" altLang="fr-FR" dirty="0">
                  <a:solidFill>
                    <a:schemeClr val="bg1"/>
                  </a:solidFill>
                  <a:latin typeface="Google Sans Text"/>
                </a:rPr>
                <a:t>291 M</a:t>
              </a:r>
              <a:r>
                <a:rPr lang="fr-FR" altLang="fr-FR" dirty="0">
                  <a:solidFill>
                    <a:schemeClr val="bg1"/>
                  </a:solidFill>
                </a:rPr>
                <a:t>), ce qui témoigne de la force des morceaux que l’on pourrait qualifier d’ « historiques » qui continuent de générer de l'audience sur les plateformes de streaming. On note aussi u</a:t>
              </a:r>
              <a:r>
                <a:rPr lang="fr-FR" altLang="fr-FR" dirty="0">
                  <a:solidFill>
                    <a:schemeClr val="bg1"/>
                  </a:solidFill>
                  <a:latin typeface="Arial" panose="020B0604020202020204" pitchFamily="34" charset="0"/>
                </a:rPr>
                <a:t>n pic conséquent en </a:t>
              </a:r>
              <a:r>
                <a:rPr lang="fr-FR" altLang="fr-FR" b="1" dirty="0">
                  <a:solidFill>
                    <a:schemeClr val="bg1"/>
                  </a:solidFill>
                  <a:latin typeface="Google Sans Text"/>
                </a:rPr>
                <a:t>1975</a:t>
              </a:r>
              <a:r>
                <a:rPr lang="fr-FR" altLang="fr-FR" dirty="0">
                  <a:solidFill>
                    <a:schemeClr val="bg1"/>
                  </a:solidFill>
                </a:rPr>
                <a:t>, où la moyenne dépasse les </a:t>
              </a:r>
              <a:r>
                <a:rPr lang="fr-FR" altLang="fr-FR" dirty="0">
                  <a:solidFill>
                    <a:schemeClr val="bg1"/>
                  </a:solidFill>
                  <a:latin typeface="Google Sans Text"/>
                </a:rPr>
                <a:t>2 milliards </a:t>
              </a:r>
              <a:r>
                <a:rPr lang="fr-FR" altLang="fr-FR" dirty="0">
                  <a:solidFill>
                    <a:schemeClr val="bg1"/>
                  </a:solidFill>
                </a:rPr>
                <a:t>de </a:t>
              </a:r>
              <a:r>
                <a:rPr lang="fr-FR" altLang="fr-FR" dirty="0" err="1">
                  <a:solidFill>
                    <a:schemeClr val="bg1"/>
                  </a:solidFill>
                </a:rPr>
                <a:t>streams</a:t>
              </a:r>
              <a:r>
                <a:rPr lang="fr-FR" altLang="fr-FR" dirty="0">
                  <a:solidFill>
                    <a:schemeClr val="bg1"/>
                  </a:solidFill>
                </a:rPr>
                <a:t>, dû à plusieurs succès internationaux paru cette année-là. Enfin o</a:t>
              </a:r>
              <a:r>
                <a:rPr lang="fr-FR" dirty="0"/>
                <a:t>n remarque une chute brutale de la moyenne pour les années les plus récentes, ce qui est notamment lié au fait qu’ils n'ont pas encore eu le temps d'accumuler un volume d'écoutes semblables aux décennies précédentes</a:t>
              </a:r>
              <a:r>
                <a:rPr lang="fr-FR" sz="1600" dirty="0"/>
                <a:t>.</a:t>
              </a:r>
              <a:r>
                <a:rPr lang="fr-FR" altLang="fr-FR" sz="1600" dirty="0">
                  <a:solidFill>
                    <a:schemeClr val="bg1"/>
                  </a:solidFill>
                </a:rPr>
                <a:t> </a:t>
              </a:r>
              <a:endParaRPr lang="fr-FR" altLang="fr-FR" sz="1600" dirty="0">
                <a:solidFill>
                  <a:schemeClr val="bg1"/>
                </a:solidFill>
                <a:latin typeface="Arial" panose="020B0604020202020204" pitchFamily="34" charset="0"/>
              </a:endParaRPr>
            </a:p>
            <a:p>
              <a:pPr algn="ctr"/>
              <a:endParaRPr lang="fr-FR" altLang="fr-FR" dirty="0">
                <a:solidFill>
                  <a:schemeClr val="bg1"/>
                </a:solidFill>
                <a:latin typeface="Arial" panose="020B0604020202020204" pitchFamily="34" charset="0"/>
              </a:endParaRPr>
            </a:p>
            <a:p>
              <a:pPr algn="ctr"/>
              <a:endParaRPr lang="fr-FR" dirty="0"/>
            </a:p>
          </p:txBody>
        </p:sp>
        <p:sp>
          <p:nvSpPr>
            <p:cNvPr id="7" name="Rectangle : coins arrondis 6">
              <a:extLst>
                <a:ext uri="{FF2B5EF4-FFF2-40B4-BE49-F238E27FC236}">
                  <a16:creationId xmlns:a16="http://schemas.microsoft.com/office/drawing/2014/main" id="{1BACC3A8-8154-E00A-2D20-C8AA8E5F1160}"/>
                </a:ext>
              </a:extLst>
            </p:cNvPr>
            <p:cNvSpPr/>
            <p:nvPr/>
          </p:nvSpPr>
          <p:spPr>
            <a:xfrm>
              <a:off x="7932073" y="1712334"/>
              <a:ext cx="2897375"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a:t>INTERPRÉTATION</a:t>
              </a:r>
              <a:endParaRPr lang="fr-FR"/>
            </a:p>
          </p:txBody>
        </p:sp>
      </p:grpSp>
      <p:sp>
        <p:nvSpPr>
          <p:cNvPr id="8" name="ZoneTexte 7">
            <a:extLst>
              <a:ext uri="{FF2B5EF4-FFF2-40B4-BE49-F238E27FC236}">
                <a16:creationId xmlns:a16="http://schemas.microsoft.com/office/drawing/2014/main" id="{079DD5BE-8923-CFEA-6BE0-6F126EE266C2}"/>
              </a:ext>
            </a:extLst>
          </p:cNvPr>
          <p:cNvSpPr txBox="1"/>
          <p:nvPr/>
        </p:nvSpPr>
        <p:spPr>
          <a:xfrm>
            <a:off x="-160821" y="1256043"/>
            <a:ext cx="8434874" cy="369332"/>
          </a:xfrm>
          <a:prstGeom prst="rect">
            <a:avLst/>
          </a:prstGeom>
          <a:noFill/>
        </p:spPr>
        <p:txBody>
          <a:bodyPr wrap="square" rtlCol="0">
            <a:spAutoFit/>
          </a:bodyPr>
          <a:lstStyle/>
          <a:p>
            <a:pPr algn="ctr"/>
            <a:r>
              <a:rPr lang="fr-FR" dirty="0">
                <a:solidFill>
                  <a:schemeClr val="bg1"/>
                </a:solidFill>
              </a:rPr>
              <a:t>Explosion du volume d'écoutes moyen post-1970, portée par la numérisation</a:t>
            </a:r>
          </a:p>
        </p:txBody>
      </p:sp>
      <p:grpSp>
        <p:nvGrpSpPr>
          <p:cNvPr id="17" name="Groupe 16">
            <a:extLst>
              <a:ext uri="{FF2B5EF4-FFF2-40B4-BE49-F238E27FC236}">
                <a16:creationId xmlns:a16="http://schemas.microsoft.com/office/drawing/2014/main" id="{B094B00C-A5BE-BB2C-ED80-455FA9D257B9}"/>
              </a:ext>
            </a:extLst>
          </p:cNvPr>
          <p:cNvGrpSpPr/>
          <p:nvPr/>
        </p:nvGrpSpPr>
        <p:grpSpPr>
          <a:xfrm>
            <a:off x="11403402" y="6411284"/>
            <a:ext cx="721729" cy="324931"/>
            <a:chOff x="11353402" y="6422166"/>
            <a:chExt cx="721729" cy="324931"/>
          </a:xfrm>
        </p:grpSpPr>
        <p:sp>
          <p:nvSpPr>
            <p:cNvPr id="18" name="Bouton d’action : avant ou précédent 17">
              <a:hlinkClick r:id="" action="ppaction://hlinkshowjump?jump=nextslide" highlightClick="1"/>
              <a:extLst>
                <a:ext uri="{FF2B5EF4-FFF2-40B4-BE49-F238E27FC236}">
                  <a16:creationId xmlns:a16="http://schemas.microsoft.com/office/drawing/2014/main" id="{FC924A89-2F43-7408-4FDF-6796F4A1932C}"/>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Bouton d’action : retour ou précédent 18">
              <a:hlinkClick r:id="" action="ppaction://hlinkshowjump?jump=previousslide" highlightClick="1"/>
              <a:extLst>
                <a:ext uri="{FF2B5EF4-FFF2-40B4-BE49-F238E27FC236}">
                  <a16:creationId xmlns:a16="http://schemas.microsoft.com/office/drawing/2014/main" id="{5B9C5134-E297-6136-C867-D4D1D4009FBE}"/>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0" name="Picture 3">
            <a:extLst>
              <a:ext uri="{FF2B5EF4-FFF2-40B4-BE49-F238E27FC236}">
                <a16:creationId xmlns:a16="http://schemas.microsoft.com/office/drawing/2014/main" id="{A02AB6B2-26A4-A560-D954-82D115B6D720}"/>
              </a:ext>
            </a:extLst>
          </p:cNvPr>
          <p:cNvPicPr>
            <a:picLocks noChangeAspect="1"/>
          </p:cNvPicPr>
          <p:nvPr/>
        </p:nvPicPr>
        <p:blipFill>
          <a:blip r:embed="rId2"/>
          <a:stretch>
            <a:fillRect/>
          </a:stretch>
        </p:blipFill>
        <p:spPr>
          <a:xfrm>
            <a:off x="1" y="6412442"/>
            <a:ext cx="464598" cy="451839"/>
          </a:xfrm>
          <a:prstGeom prst="rect">
            <a:avLst/>
          </a:prstGeom>
        </p:spPr>
      </p:pic>
      <p:sp>
        <p:nvSpPr>
          <p:cNvPr id="21" name="Rectangle 20">
            <a:extLst>
              <a:ext uri="{FF2B5EF4-FFF2-40B4-BE49-F238E27FC236}">
                <a16:creationId xmlns:a16="http://schemas.microsoft.com/office/drawing/2014/main" id="{15898ED6-03EC-70CD-E922-50A0572525FE}"/>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a:t>Contexte </a:t>
            </a:r>
          </a:p>
          <a:p>
            <a:pPr marL="288000" indent="-360000">
              <a:lnSpc>
                <a:spcPct val="110000"/>
              </a:lnSpc>
              <a:buFont typeface="Arial" panose="020B0604020202020204" pitchFamily="34" charset="0"/>
              <a:buChar char="•"/>
            </a:pPr>
            <a:r>
              <a:rPr lang="fr-FR" sz="1000"/>
              <a:t>Présentation des données</a:t>
            </a:r>
          </a:p>
          <a:p>
            <a:pPr marL="288000" indent="-360000">
              <a:lnSpc>
                <a:spcPct val="110000"/>
              </a:lnSpc>
              <a:buFont typeface="Arial" panose="020B0604020202020204" pitchFamily="34" charset="0"/>
              <a:buChar char="•"/>
            </a:pPr>
            <a:r>
              <a:rPr lang="fr-FR" sz="1000"/>
              <a:t>Enrichissement </a:t>
            </a:r>
          </a:p>
          <a:p>
            <a:pPr marL="288000" indent="-360000">
              <a:lnSpc>
                <a:spcPct val="110000"/>
              </a:lnSpc>
              <a:buFont typeface="Arial" panose="020B0604020202020204" pitchFamily="34" charset="0"/>
              <a:buChar char="•"/>
            </a:pPr>
            <a:r>
              <a:rPr lang="fr-FR" sz="1000"/>
              <a:t>Problématique</a:t>
            </a:r>
          </a:p>
          <a:p>
            <a:pPr marL="288000" indent="-360000">
              <a:lnSpc>
                <a:spcPct val="110000"/>
              </a:lnSpc>
              <a:buFont typeface="Arial" panose="020B0604020202020204" pitchFamily="34" charset="0"/>
              <a:buChar char="•"/>
            </a:pPr>
            <a:r>
              <a:rPr lang="fr-FR" sz="1000"/>
              <a:t>Méthodologie </a:t>
            </a:r>
          </a:p>
          <a:p>
            <a:pPr marL="288000" indent="-360000">
              <a:lnSpc>
                <a:spcPct val="110000"/>
              </a:lnSpc>
              <a:buFont typeface="Arial" panose="020B0604020202020204" pitchFamily="34" charset="0"/>
              <a:buChar char="•"/>
            </a:pPr>
            <a:r>
              <a:rPr lang="fr-FR" sz="1000" b="1"/>
              <a:t>Description</a:t>
            </a:r>
            <a:r>
              <a:rPr lang="fr-FR" sz="1000"/>
              <a:t> </a:t>
            </a:r>
          </a:p>
          <a:p>
            <a:pPr marL="288000" indent="-360000">
              <a:lnSpc>
                <a:spcPct val="110000"/>
              </a:lnSpc>
              <a:buFont typeface="Arial" panose="020B0604020202020204" pitchFamily="34" charset="0"/>
              <a:buChar char="•"/>
            </a:pPr>
            <a:r>
              <a:rPr lang="fr-FR" sz="1000"/>
              <a:t>Modélisations</a:t>
            </a:r>
          </a:p>
          <a:p>
            <a:pPr marL="288000" indent="-360000">
              <a:lnSpc>
                <a:spcPct val="110000"/>
              </a:lnSpc>
              <a:buFont typeface="Arial" panose="020B0604020202020204" pitchFamily="34" charset="0"/>
              <a:buChar char="•"/>
            </a:pPr>
            <a:r>
              <a:rPr lang="fr-FR" sz="1000"/>
              <a:t>Conclusion</a:t>
            </a:r>
          </a:p>
          <a:p>
            <a:pPr marL="288000">
              <a:lnSpc>
                <a:spcPct val="110000"/>
              </a:lnSpc>
            </a:pPr>
            <a:endParaRPr lang="fr-FR" sz="200"/>
          </a:p>
        </p:txBody>
      </p:sp>
      <p:pic>
        <p:nvPicPr>
          <p:cNvPr id="16" name="Image 15" descr="Une image contenant capture d’écran, diagramme, texte&#10;&#10;Le contenu généré par l’IA peut être incorrect.">
            <a:extLst>
              <a:ext uri="{FF2B5EF4-FFF2-40B4-BE49-F238E27FC236}">
                <a16:creationId xmlns:a16="http://schemas.microsoft.com/office/drawing/2014/main" id="{94019421-6FD4-D70F-FC10-D3089B089FB5}"/>
              </a:ext>
            </a:extLst>
          </p:cNvPr>
          <p:cNvPicPr>
            <a:picLocks noChangeAspect="1"/>
          </p:cNvPicPr>
          <p:nvPr/>
        </p:nvPicPr>
        <p:blipFill>
          <a:blip r:embed="rId3"/>
          <a:srcRect r="1117"/>
          <a:stretch>
            <a:fillRect/>
          </a:stretch>
        </p:blipFill>
        <p:spPr>
          <a:xfrm>
            <a:off x="464599" y="2108380"/>
            <a:ext cx="5731061" cy="3452391"/>
          </a:xfrm>
          <a:prstGeom prst="rect">
            <a:avLst/>
          </a:prstGeom>
          <a:ln w="76200">
            <a:solidFill>
              <a:srgbClr val="00B050"/>
            </a:solidFill>
          </a:ln>
        </p:spPr>
      </p:pic>
    </p:spTree>
    <p:extLst>
      <p:ext uri="{BB962C8B-B14F-4D97-AF65-F5344CB8AC3E}">
        <p14:creationId xmlns:p14="http://schemas.microsoft.com/office/powerpoint/2010/main" val="2083962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D056C3A8-6990-A98B-ECAC-7E347D811BC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477EC0C-A922-D6AC-02A4-6FA94C882EB1}"/>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E3269B23-A8ED-F634-D479-D1757AC7FCB2}"/>
              </a:ext>
            </a:extLst>
          </p:cNvPr>
          <p:cNvSpPr>
            <a:spLocks noGrp="1"/>
          </p:cNvSpPr>
          <p:nvPr>
            <p:ph type="sldNum" sz="quarter" idx="12"/>
          </p:nvPr>
        </p:nvSpPr>
        <p:spPr/>
        <p:txBody>
          <a:bodyPr/>
          <a:lstStyle/>
          <a:p>
            <a:fld id="{5D5C5C60-63A0-401E-A392-47CD3E86B338}" type="slidenum">
              <a:rPr lang="fr-FR" dirty="0" smtClean="0">
                <a:solidFill>
                  <a:srgbClr val="B3B3B3"/>
                </a:solidFill>
              </a:rPr>
              <a:t>12</a:t>
            </a:fld>
            <a:endParaRPr lang="en-US" dirty="0">
              <a:solidFill>
                <a:srgbClr val="B3B3B3"/>
              </a:solidFill>
            </a:endParaRPr>
          </a:p>
        </p:txBody>
      </p:sp>
      <p:sp>
        <p:nvSpPr>
          <p:cNvPr id="2" name="Rectangle 1">
            <a:extLst>
              <a:ext uri="{FF2B5EF4-FFF2-40B4-BE49-F238E27FC236}">
                <a16:creationId xmlns:a16="http://schemas.microsoft.com/office/drawing/2014/main" id="{F8FFF379-4FF6-F19B-8BA6-620D866F8FB0}"/>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Description des caractéristiques</a:t>
            </a:r>
          </a:p>
        </p:txBody>
      </p:sp>
      <p:sp>
        <p:nvSpPr>
          <p:cNvPr id="10" name="ZoneTexte 9">
            <a:extLst>
              <a:ext uri="{FF2B5EF4-FFF2-40B4-BE49-F238E27FC236}">
                <a16:creationId xmlns:a16="http://schemas.microsoft.com/office/drawing/2014/main" id="{2FB81B22-6C71-18B8-19F3-8055376267CB}"/>
              </a:ext>
            </a:extLst>
          </p:cNvPr>
          <p:cNvSpPr txBox="1"/>
          <p:nvPr/>
        </p:nvSpPr>
        <p:spPr>
          <a:xfrm>
            <a:off x="-253026" y="801705"/>
            <a:ext cx="8434874" cy="461665"/>
          </a:xfrm>
          <a:prstGeom prst="rect">
            <a:avLst/>
          </a:prstGeom>
          <a:noFill/>
        </p:spPr>
        <p:txBody>
          <a:bodyPr wrap="square" rtlCol="0">
            <a:spAutoFit/>
          </a:bodyPr>
          <a:lstStyle/>
          <a:p>
            <a:pPr algn="ctr"/>
            <a:r>
              <a:rPr lang="fr-FR" sz="2400" b="1" dirty="0">
                <a:solidFill>
                  <a:schemeClr val="bg1"/>
                </a:solidFill>
              </a:rPr>
              <a:t>Comparaison des gains de </a:t>
            </a:r>
            <a:r>
              <a:rPr lang="fr-FR" sz="2400" b="1" dirty="0" err="1">
                <a:solidFill>
                  <a:schemeClr val="bg1"/>
                </a:solidFill>
              </a:rPr>
              <a:t>grammy</a:t>
            </a:r>
            <a:endParaRPr lang="fr-FR" sz="2400" b="1" dirty="0">
              <a:solidFill>
                <a:schemeClr val="bg1"/>
              </a:solidFill>
            </a:endParaRPr>
          </a:p>
        </p:txBody>
      </p:sp>
      <p:grpSp>
        <p:nvGrpSpPr>
          <p:cNvPr id="11" name="Groupe 10">
            <a:extLst>
              <a:ext uri="{FF2B5EF4-FFF2-40B4-BE49-F238E27FC236}">
                <a16:creationId xmlns:a16="http://schemas.microsoft.com/office/drawing/2014/main" id="{CA879A20-D4B4-2E06-44FC-FCF8DA7659C6}"/>
              </a:ext>
            </a:extLst>
          </p:cNvPr>
          <p:cNvGrpSpPr/>
          <p:nvPr/>
        </p:nvGrpSpPr>
        <p:grpSpPr>
          <a:xfrm>
            <a:off x="8002652" y="1786364"/>
            <a:ext cx="3970597" cy="4378219"/>
            <a:chOff x="8153400" y="1821298"/>
            <a:chExt cx="3970597" cy="4378219"/>
          </a:xfrm>
        </p:grpSpPr>
        <p:sp>
          <p:nvSpPr>
            <p:cNvPr id="12" name="Rectangle : coins arrondis 11">
              <a:extLst>
                <a:ext uri="{FF2B5EF4-FFF2-40B4-BE49-F238E27FC236}">
                  <a16:creationId xmlns:a16="http://schemas.microsoft.com/office/drawing/2014/main" id="{D42126D6-696F-CC8F-2AC6-15F5ECA6DF82}"/>
                </a:ext>
              </a:extLst>
            </p:cNvPr>
            <p:cNvSpPr/>
            <p:nvPr/>
          </p:nvSpPr>
          <p:spPr>
            <a:xfrm>
              <a:off x="8153400" y="1824729"/>
              <a:ext cx="3970597" cy="4374788"/>
            </a:xfrm>
            <a:prstGeom prst="roundRect">
              <a:avLst>
                <a:gd name="adj" fmla="val 5665"/>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a:p>
              <a:pPr algn="ctr"/>
              <a:r>
                <a:rPr lang="fr-FR" dirty="0"/>
                <a:t>Les artistes ayant gagné un </a:t>
              </a:r>
              <a:r>
                <a:rPr lang="fr-FR" dirty="0" err="1"/>
                <a:t>Grammy</a:t>
              </a:r>
              <a:r>
                <a:rPr lang="fr-FR" dirty="0"/>
                <a:t> affichent une médiane de </a:t>
              </a:r>
              <a:r>
                <a:rPr lang="fr-FR" b="1" dirty="0"/>
                <a:t>318 millions</a:t>
              </a:r>
              <a:r>
                <a:rPr lang="fr-FR" dirty="0"/>
                <a:t> de </a:t>
              </a:r>
              <a:r>
                <a:rPr lang="fr-FR" dirty="0" err="1"/>
                <a:t>streams</a:t>
              </a:r>
              <a:r>
                <a:rPr lang="fr-FR" dirty="0"/>
                <a:t>, contre </a:t>
              </a:r>
              <a:r>
                <a:rPr lang="fr-FR" b="1" dirty="0"/>
                <a:t>266 millions</a:t>
              </a:r>
              <a:r>
                <a:rPr lang="fr-FR" dirty="0"/>
                <a:t> pour ceux n'en ayant pas gagné. La victoire d'un </a:t>
              </a:r>
              <a:r>
                <a:rPr lang="fr-FR" dirty="0" err="1"/>
                <a:t>Grammy</a:t>
              </a:r>
              <a:r>
                <a:rPr lang="fr-FR" dirty="0"/>
                <a:t> semble avoir un lien avec une audience plus solide et constante. On peut aussi soulever le fait que la boîte verte (</a:t>
              </a:r>
              <a:r>
                <a:rPr lang="fr-FR" dirty="0" err="1"/>
                <a:t>Grammy</a:t>
              </a:r>
              <a:r>
                <a:rPr lang="fr-FR" dirty="0"/>
                <a:t>) est plus étendue que la boîte grise ce qui signifie que les artistes primés ont généralement un succès plus important</a:t>
              </a:r>
            </a:p>
          </p:txBody>
        </p:sp>
        <p:sp>
          <p:nvSpPr>
            <p:cNvPr id="7" name="Rectangle : coins arrondis 6">
              <a:extLst>
                <a:ext uri="{FF2B5EF4-FFF2-40B4-BE49-F238E27FC236}">
                  <a16:creationId xmlns:a16="http://schemas.microsoft.com/office/drawing/2014/main" id="{BB75E8A8-6CB0-6E57-A5C8-188D0657D607}"/>
                </a:ext>
              </a:extLst>
            </p:cNvPr>
            <p:cNvSpPr/>
            <p:nvPr/>
          </p:nvSpPr>
          <p:spPr>
            <a:xfrm>
              <a:off x="8950373" y="1821298"/>
              <a:ext cx="237665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INTERPRÉTATION</a:t>
              </a:r>
              <a:endParaRPr lang="fr-FR" dirty="0"/>
            </a:p>
          </p:txBody>
        </p:sp>
      </p:grpSp>
      <p:sp>
        <p:nvSpPr>
          <p:cNvPr id="8" name="ZoneTexte 7">
            <a:extLst>
              <a:ext uri="{FF2B5EF4-FFF2-40B4-BE49-F238E27FC236}">
                <a16:creationId xmlns:a16="http://schemas.microsoft.com/office/drawing/2014/main" id="{83DB80D7-BE9E-2B1F-D2E9-D8BE23DA0D28}"/>
              </a:ext>
            </a:extLst>
          </p:cNvPr>
          <p:cNvSpPr txBox="1"/>
          <p:nvPr/>
        </p:nvSpPr>
        <p:spPr>
          <a:xfrm>
            <a:off x="-160821" y="1256043"/>
            <a:ext cx="8434874" cy="338554"/>
          </a:xfrm>
          <a:prstGeom prst="rect">
            <a:avLst/>
          </a:prstGeom>
          <a:noFill/>
        </p:spPr>
        <p:txBody>
          <a:bodyPr wrap="square" rtlCol="0">
            <a:spAutoFit/>
          </a:bodyPr>
          <a:lstStyle/>
          <a:p>
            <a:pPr algn="ctr"/>
            <a:r>
              <a:rPr lang="fr-FR" sz="1600" dirty="0">
                <a:solidFill>
                  <a:schemeClr val="bg1"/>
                </a:solidFill>
              </a:rPr>
              <a:t>Une reconnaissance académique qui se traduit par un gain de visibilité</a:t>
            </a:r>
          </a:p>
        </p:txBody>
      </p:sp>
      <p:grpSp>
        <p:nvGrpSpPr>
          <p:cNvPr id="17" name="Groupe 16">
            <a:extLst>
              <a:ext uri="{FF2B5EF4-FFF2-40B4-BE49-F238E27FC236}">
                <a16:creationId xmlns:a16="http://schemas.microsoft.com/office/drawing/2014/main" id="{031BC6F7-5C97-14EC-83A7-F6EAF75A55A7}"/>
              </a:ext>
            </a:extLst>
          </p:cNvPr>
          <p:cNvGrpSpPr/>
          <p:nvPr/>
        </p:nvGrpSpPr>
        <p:grpSpPr>
          <a:xfrm>
            <a:off x="11403402" y="6411284"/>
            <a:ext cx="721729" cy="324931"/>
            <a:chOff x="11353402" y="6422166"/>
            <a:chExt cx="721729" cy="324931"/>
          </a:xfrm>
        </p:grpSpPr>
        <p:sp>
          <p:nvSpPr>
            <p:cNvPr id="18" name="Bouton d’action : avant ou précédent 17">
              <a:hlinkClick r:id="" action="ppaction://hlinkshowjump?jump=nextslide" highlightClick="1"/>
              <a:extLst>
                <a:ext uri="{FF2B5EF4-FFF2-40B4-BE49-F238E27FC236}">
                  <a16:creationId xmlns:a16="http://schemas.microsoft.com/office/drawing/2014/main" id="{4AF2939E-CBEC-9C07-8B2A-5C56ABC2374B}"/>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Bouton d’action : retour ou précédent 18">
              <a:hlinkClick r:id="" action="ppaction://hlinkshowjump?jump=previousslide" highlightClick="1"/>
              <a:extLst>
                <a:ext uri="{FF2B5EF4-FFF2-40B4-BE49-F238E27FC236}">
                  <a16:creationId xmlns:a16="http://schemas.microsoft.com/office/drawing/2014/main" id="{63073411-E410-EFBF-919D-32DD3AC2E87D}"/>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0" name="Picture 3">
            <a:extLst>
              <a:ext uri="{FF2B5EF4-FFF2-40B4-BE49-F238E27FC236}">
                <a16:creationId xmlns:a16="http://schemas.microsoft.com/office/drawing/2014/main" id="{8C144941-0B05-F01F-172A-B94FEFA56F99}"/>
              </a:ext>
            </a:extLst>
          </p:cNvPr>
          <p:cNvPicPr>
            <a:picLocks noChangeAspect="1"/>
          </p:cNvPicPr>
          <p:nvPr/>
        </p:nvPicPr>
        <p:blipFill>
          <a:blip r:embed="rId2"/>
          <a:stretch>
            <a:fillRect/>
          </a:stretch>
        </p:blipFill>
        <p:spPr>
          <a:xfrm>
            <a:off x="1" y="6412442"/>
            <a:ext cx="464598" cy="451839"/>
          </a:xfrm>
          <a:prstGeom prst="rect">
            <a:avLst/>
          </a:prstGeom>
        </p:spPr>
      </p:pic>
      <p:sp>
        <p:nvSpPr>
          <p:cNvPr id="21" name="Rectangle 20">
            <a:extLst>
              <a:ext uri="{FF2B5EF4-FFF2-40B4-BE49-F238E27FC236}">
                <a16:creationId xmlns:a16="http://schemas.microsoft.com/office/drawing/2014/main" id="{2D24F3C6-81DB-23D8-913A-153A7559EDDD}"/>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b="1" dirty="0"/>
              <a:t>Description</a:t>
            </a:r>
            <a:r>
              <a:rPr lang="fr-FR" sz="1000" dirty="0"/>
              <a:t>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pic>
        <p:nvPicPr>
          <p:cNvPr id="9" name="Image 8" descr="Une image contenant texte, capture d’écran, diagramme&#10;&#10;Le contenu généré par l’IA peut être incorrect.">
            <a:extLst>
              <a:ext uri="{FF2B5EF4-FFF2-40B4-BE49-F238E27FC236}">
                <a16:creationId xmlns:a16="http://schemas.microsoft.com/office/drawing/2014/main" id="{BAD54B86-C289-2319-22EF-453C397E86AA}"/>
              </a:ext>
            </a:extLst>
          </p:cNvPr>
          <p:cNvPicPr>
            <a:picLocks noChangeAspect="1"/>
          </p:cNvPicPr>
          <p:nvPr/>
        </p:nvPicPr>
        <p:blipFill>
          <a:blip r:embed="rId3">
            <a:extLst>
              <a:ext uri="{28A0092B-C50C-407E-A947-70E740481C1C}">
                <a14:useLocalDpi xmlns:a14="http://schemas.microsoft.com/office/drawing/2010/main" val="0"/>
              </a:ext>
            </a:extLst>
          </a:blip>
          <a:srcRect t="12767" r="2462" b="1629"/>
          <a:stretch>
            <a:fillRect/>
          </a:stretch>
        </p:blipFill>
        <p:spPr>
          <a:xfrm>
            <a:off x="244813" y="1790138"/>
            <a:ext cx="7440934" cy="4034977"/>
          </a:xfrm>
          <a:prstGeom prst="rect">
            <a:avLst/>
          </a:prstGeom>
          <a:ln w="57150">
            <a:solidFill>
              <a:srgbClr val="1DB954"/>
            </a:solidFill>
          </a:ln>
        </p:spPr>
      </p:pic>
    </p:spTree>
    <p:extLst>
      <p:ext uri="{BB962C8B-B14F-4D97-AF65-F5344CB8AC3E}">
        <p14:creationId xmlns:p14="http://schemas.microsoft.com/office/powerpoint/2010/main" val="3626285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5A8E2B72-251C-C463-AFC3-22D6E6947B9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403E34B-4FFF-E057-73CE-93C58D7EE009}"/>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04F7F710-006B-D4F3-9274-9DEB18C21A50}"/>
              </a:ext>
            </a:extLst>
          </p:cNvPr>
          <p:cNvSpPr>
            <a:spLocks noGrp="1"/>
          </p:cNvSpPr>
          <p:nvPr>
            <p:ph type="sldNum" sz="quarter" idx="12"/>
          </p:nvPr>
        </p:nvSpPr>
        <p:spPr/>
        <p:txBody>
          <a:bodyPr/>
          <a:lstStyle/>
          <a:p>
            <a:fld id="{5D5C5C60-63A0-401E-A392-47CD3E86B338}" type="slidenum">
              <a:rPr lang="fr-FR" dirty="0" smtClean="0">
                <a:solidFill>
                  <a:srgbClr val="B3B3B3"/>
                </a:solidFill>
              </a:rPr>
              <a:t>13</a:t>
            </a:fld>
            <a:endParaRPr lang="en-US" dirty="0">
              <a:solidFill>
                <a:srgbClr val="B3B3B3"/>
              </a:solidFill>
            </a:endParaRPr>
          </a:p>
        </p:txBody>
      </p:sp>
      <p:sp>
        <p:nvSpPr>
          <p:cNvPr id="2" name="Rectangle 1">
            <a:extLst>
              <a:ext uri="{FF2B5EF4-FFF2-40B4-BE49-F238E27FC236}">
                <a16:creationId xmlns:a16="http://schemas.microsoft.com/office/drawing/2014/main" id="{24F63C44-68B8-BA4A-3BBD-8C463A322DD0}"/>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Description des caractéristiques</a:t>
            </a:r>
          </a:p>
        </p:txBody>
      </p:sp>
      <p:sp>
        <p:nvSpPr>
          <p:cNvPr id="10" name="ZoneTexte 9">
            <a:extLst>
              <a:ext uri="{FF2B5EF4-FFF2-40B4-BE49-F238E27FC236}">
                <a16:creationId xmlns:a16="http://schemas.microsoft.com/office/drawing/2014/main" id="{AA21892F-5CF0-C56B-7676-70C34E9FE556}"/>
              </a:ext>
            </a:extLst>
          </p:cNvPr>
          <p:cNvSpPr txBox="1"/>
          <p:nvPr/>
        </p:nvSpPr>
        <p:spPr>
          <a:xfrm>
            <a:off x="-253026" y="801705"/>
            <a:ext cx="8434874" cy="461665"/>
          </a:xfrm>
          <a:prstGeom prst="rect">
            <a:avLst/>
          </a:prstGeom>
          <a:noFill/>
        </p:spPr>
        <p:txBody>
          <a:bodyPr wrap="square" rtlCol="0">
            <a:spAutoFit/>
          </a:bodyPr>
          <a:lstStyle/>
          <a:p>
            <a:pPr algn="ctr"/>
            <a:r>
              <a:rPr lang="fr-FR" sz="2400" b="1" dirty="0">
                <a:solidFill>
                  <a:schemeClr val="bg1"/>
                </a:solidFill>
              </a:rPr>
              <a:t>Comparaison des différentes origines des artistes</a:t>
            </a:r>
          </a:p>
        </p:txBody>
      </p:sp>
      <p:grpSp>
        <p:nvGrpSpPr>
          <p:cNvPr id="11" name="Groupe 10">
            <a:extLst>
              <a:ext uri="{FF2B5EF4-FFF2-40B4-BE49-F238E27FC236}">
                <a16:creationId xmlns:a16="http://schemas.microsoft.com/office/drawing/2014/main" id="{E5F71BC7-7E68-FC8A-64CA-B7586E3ABF1C}"/>
              </a:ext>
            </a:extLst>
          </p:cNvPr>
          <p:cNvGrpSpPr/>
          <p:nvPr/>
        </p:nvGrpSpPr>
        <p:grpSpPr>
          <a:xfrm>
            <a:off x="7856722" y="1662023"/>
            <a:ext cx="4250955" cy="4574222"/>
            <a:chOff x="7873042" y="1821298"/>
            <a:chExt cx="4250955" cy="5036701"/>
          </a:xfrm>
        </p:grpSpPr>
        <p:sp>
          <p:nvSpPr>
            <p:cNvPr id="12" name="Rectangle : coins arrondis 11">
              <a:extLst>
                <a:ext uri="{FF2B5EF4-FFF2-40B4-BE49-F238E27FC236}">
                  <a16:creationId xmlns:a16="http://schemas.microsoft.com/office/drawing/2014/main" id="{49176A52-2DFB-ECA2-E49F-1A2F31FE834E}"/>
                </a:ext>
              </a:extLst>
            </p:cNvPr>
            <p:cNvSpPr/>
            <p:nvPr/>
          </p:nvSpPr>
          <p:spPr>
            <a:xfrm>
              <a:off x="7873042" y="1824728"/>
              <a:ext cx="4250955" cy="5033271"/>
            </a:xfrm>
            <a:prstGeom prst="roundRect">
              <a:avLst>
                <a:gd name="adj" fmla="val 10147"/>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a:p>
              <a:pPr algn="ctr"/>
              <a:r>
                <a:rPr lang="fr-FR" dirty="0"/>
                <a:t>On peut dans un premier temps relever des valeurs médianes de </a:t>
              </a:r>
              <a:r>
                <a:rPr lang="fr-FR" dirty="0" err="1"/>
                <a:t>streams</a:t>
              </a:r>
              <a:r>
                <a:rPr lang="fr-FR" dirty="0"/>
                <a:t> légèrement plus importantes pour l’Australie, le Royaume uni et la Suède. Toutefois il est important de souligner le fait que la Suède et l’Australie représente uniquement 1,47 % des morceaux contre près de 11 % pour le Royaume-Uni. On peut aussi noter le fait qu’il y a un nombre élevé de valeurs atypiques pour le Canada et les USA. Ainsi il semble que dans ces 3 pays (USA, CAN et RU) naissent les "méga-hits" planétaires dépassant les 2 ou 3 milliards de </a:t>
              </a:r>
              <a:r>
                <a:rPr lang="fr-FR" dirty="0" err="1"/>
                <a:t>streams</a:t>
              </a:r>
              <a:r>
                <a:rPr lang="fr-FR" dirty="0"/>
                <a:t>.</a:t>
              </a:r>
            </a:p>
          </p:txBody>
        </p:sp>
        <p:sp>
          <p:nvSpPr>
            <p:cNvPr id="7" name="Rectangle : coins arrondis 6">
              <a:extLst>
                <a:ext uri="{FF2B5EF4-FFF2-40B4-BE49-F238E27FC236}">
                  <a16:creationId xmlns:a16="http://schemas.microsoft.com/office/drawing/2014/main" id="{7DDA03DC-30ED-1714-465C-F9F94181988C}"/>
                </a:ext>
              </a:extLst>
            </p:cNvPr>
            <p:cNvSpPr/>
            <p:nvPr/>
          </p:nvSpPr>
          <p:spPr>
            <a:xfrm>
              <a:off x="8810194" y="1821298"/>
              <a:ext cx="237665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INTERPRÉTATION</a:t>
              </a:r>
              <a:endParaRPr lang="fr-FR" dirty="0"/>
            </a:p>
          </p:txBody>
        </p:sp>
      </p:grpSp>
      <p:sp>
        <p:nvSpPr>
          <p:cNvPr id="8" name="ZoneTexte 7">
            <a:extLst>
              <a:ext uri="{FF2B5EF4-FFF2-40B4-BE49-F238E27FC236}">
                <a16:creationId xmlns:a16="http://schemas.microsoft.com/office/drawing/2014/main" id="{F4CA60FC-6597-F5AA-5D64-9A2EA1D2BB15}"/>
              </a:ext>
            </a:extLst>
          </p:cNvPr>
          <p:cNvSpPr txBox="1"/>
          <p:nvPr/>
        </p:nvSpPr>
        <p:spPr>
          <a:xfrm>
            <a:off x="-160821" y="1256043"/>
            <a:ext cx="8434874" cy="338554"/>
          </a:xfrm>
          <a:prstGeom prst="rect">
            <a:avLst/>
          </a:prstGeom>
          <a:noFill/>
        </p:spPr>
        <p:txBody>
          <a:bodyPr wrap="square" rtlCol="0">
            <a:spAutoFit/>
          </a:bodyPr>
          <a:lstStyle/>
          <a:p>
            <a:pPr algn="ctr"/>
            <a:r>
              <a:rPr lang="fr-FR" sz="1600" dirty="0">
                <a:solidFill>
                  <a:schemeClr val="bg1"/>
                </a:solidFill>
              </a:rPr>
              <a:t>Une reconnaissance académique qui se traduit par un gain de visibilité</a:t>
            </a:r>
          </a:p>
        </p:txBody>
      </p:sp>
      <p:grpSp>
        <p:nvGrpSpPr>
          <p:cNvPr id="17" name="Groupe 16">
            <a:extLst>
              <a:ext uri="{FF2B5EF4-FFF2-40B4-BE49-F238E27FC236}">
                <a16:creationId xmlns:a16="http://schemas.microsoft.com/office/drawing/2014/main" id="{A0923A1E-EA02-84B2-5122-E05DF0CC3725}"/>
              </a:ext>
            </a:extLst>
          </p:cNvPr>
          <p:cNvGrpSpPr/>
          <p:nvPr/>
        </p:nvGrpSpPr>
        <p:grpSpPr>
          <a:xfrm>
            <a:off x="11403402" y="6411284"/>
            <a:ext cx="721729" cy="324931"/>
            <a:chOff x="11353402" y="6422166"/>
            <a:chExt cx="721729" cy="324931"/>
          </a:xfrm>
        </p:grpSpPr>
        <p:sp>
          <p:nvSpPr>
            <p:cNvPr id="18" name="Bouton d’action : avant ou précédent 17">
              <a:hlinkClick r:id="" action="ppaction://hlinkshowjump?jump=nextslide" highlightClick="1"/>
              <a:extLst>
                <a:ext uri="{FF2B5EF4-FFF2-40B4-BE49-F238E27FC236}">
                  <a16:creationId xmlns:a16="http://schemas.microsoft.com/office/drawing/2014/main" id="{A30A4534-AF3D-E0B4-0060-1429F4594F4F}"/>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Bouton d’action : retour ou précédent 18">
              <a:hlinkClick r:id="" action="ppaction://hlinkshowjump?jump=previousslide" highlightClick="1"/>
              <a:extLst>
                <a:ext uri="{FF2B5EF4-FFF2-40B4-BE49-F238E27FC236}">
                  <a16:creationId xmlns:a16="http://schemas.microsoft.com/office/drawing/2014/main" id="{23A3B3CD-7FCD-079C-C9EC-95C3F43C204B}"/>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0" name="Picture 3">
            <a:extLst>
              <a:ext uri="{FF2B5EF4-FFF2-40B4-BE49-F238E27FC236}">
                <a16:creationId xmlns:a16="http://schemas.microsoft.com/office/drawing/2014/main" id="{44E0E539-BEC3-7638-932D-837975E902EA}"/>
              </a:ext>
            </a:extLst>
          </p:cNvPr>
          <p:cNvPicPr>
            <a:picLocks noChangeAspect="1"/>
          </p:cNvPicPr>
          <p:nvPr/>
        </p:nvPicPr>
        <p:blipFill>
          <a:blip r:embed="rId2"/>
          <a:stretch>
            <a:fillRect/>
          </a:stretch>
        </p:blipFill>
        <p:spPr>
          <a:xfrm>
            <a:off x="1" y="6412442"/>
            <a:ext cx="464598" cy="451839"/>
          </a:xfrm>
          <a:prstGeom prst="rect">
            <a:avLst/>
          </a:prstGeom>
        </p:spPr>
      </p:pic>
      <p:sp>
        <p:nvSpPr>
          <p:cNvPr id="21" name="Rectangle 20">
            <a:extLst>
              <a:ext uri="{FF2B5EF4-FFF2-40B4-BE49-F238E27FC236}">
                <a16:creationId xmlns:a16="http://schemas.microsoft.com/office/drawing/2014/main" id="{B4009D3B-4688-FEF4-197C-F0BEBC9FAD8F}"/>
              </a:ext>
            </a:extLst>
          </p:cNvPr>
          <p:cNvSpPr/>
          <p:nvPr/>
        </p:nvSpPr>
        <p:spPr>
          <a:xfrm>
            <a:off x="9161473" y="78538"/>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b="1" dirty="0"/>
              <a:t>Description</a:t>
            </a:r>
            <a:r>
              <a:rPr lang="fr-FR" sz="1000" dirty="0"/>
              <a:t>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pic>
        <p:nvPicPr>
          <p:cNvPr id="15" name="Image 14" descr="Une image contenant capture d’écran, texte, diagramme&#10;&#10;Le contenu généré par l’IA peut être incorrect.">
            <a:extLst>
              <a:ext uri="{FF2B5EF4-FFF2-40B4-BE49-F238E27FC236}">
                <a16:creationId xmlns:a16="http://schemas.microsoft.com/office/drawing/2014/main" id="{0F62D5BD-D00B-E058-0449-A75F82E19DFF}"/>
              </a:ext>
            </a:extLst>
          </p:cNvPr>
          <p:cNvPicPr>
            <a:picLocks noChangeAspect="1"/>
          </p:cNvPicPr>
          <p:nvPr/>
        </p:nvPicPr>
        <p:blipFill>
          <a:blip r:embed="rId3"/>
          <a:stretch>
            <a:fillRect/>
          </a:stretch>
        </p:blipFill>
        <p:spPr>
          <a:xfrm>
            <a:off x="417259" y="1714702"/>
            <a:ext cx="7094304" cy="4248036"/>
          </a:xfrm>
          <a:prstGeom prst="rect">
            <a:avLst/>
          </a:prstGeom>
          <a:ln w="76200">
            <a:solidFill>
              <a:srgbClr val="1DB954"/>
            </a:solidFill>
          </a:ln>
        </p:spPr>
      </p:pic>
    </p:spTree>
    <p:extLst>
      <p:ext uri="{BB962C8B-B14F-4D97-AF65-F5344CB8AC3E}">
        <p14:creationId xmlns:p14="http://schemas.microsoft.com/office/powerpoint/2010/main" val="395780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930B3412-323B-BAFE-7CF7-4B732BF647F7}"/>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0E591E4-D6C3-01CD-D166-5D29BEBA90D2}"/>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218EAE28-C207-969D-C97D-151160CDFEE3}"/>
              </a:ext>
            </a:extLst>
          </p:cNvPr>
          <p:cNvSpPr>
            <a:spLocks noGrp="1"/>
          </p:cNvSpPr>
          <p:nvPr>
            <p:ph type="sldNum" sz="quarter" idx="12"/>
          </p:nvPr>
        </p:nvSpPr>
        <p:spPr/>
        <p:txBody>
          <a:bodyPr/>
          <a:lstStyle/>
          <a:p>
            <a:fld id="{5D5C5C60-63A0-401E-A392-47CD3E86B338}" type="slidenum">
              <a:rPr lang="fr-FR" dirty="0" smtClean="0">
                <a:solidFill>
                  <a:srgbClr val="B3B3B3"/>
                </a:solidFill>
              </a:rPr>
              <a:t>14</a:t>
            </a:fld>
            <a:endParaRPr lang="en-US" dirty="0">
              <a:solidFill>
                <a:srgbClr val="B3B3B3"/>
              </a:solidFill>
            </a:endParaRPr>
          </a:p>
        </p:txBody>
      </p:sp>
      <p:sp>
        <p:nvSpPr>
          <p:cNvPr id="2" name="Rectangle 1">
            <a:extLst>
              <a:ext uri="{FF2B5EF4-FFF2-40B4-BE49-F238E27FC236}">
                <a16:creationId xmlns:a16="http://schemas.microsoft.com/office/drawing/2014/main" id="{FB149105-B793-7DAB-28DB-3CE7EBD33214}"/>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Description des caractéristiques</a:t>
            </a:r>
          </a:p>
        </p:txBody>
      </p:sp>
      <p:sp>
        <p:nvSpPr>
          <p:cNvPr id="10" name="ZoneTexte 9">
            <a:extLst>
              <a:ext uri="{FF2B5EF4-FFF2-40B4-BE49-F238E27FC236}">
                <a16:creationId xmlns:a16="http://schemas.microsoft.com/office/drawing/2014/main" id="{4DE2F39F-81AF-7FFC-80C7-15AD6D74141B}"/>
              </a:ext>
            </a:extLst>
          </p:cNvPr>
          <p:cNvSpPr txBox="1"/>
          <p:nvPr/>
        </p:nvSpPr>
        <p:spPr>
          <a:xfrm>
            <a:off x="-253026" y="801705"/>
            <a:ext cx="8434874" cy="461665"/>
          </a:xfrm>
          <a:prstGeom prst="rect">
            <a:avLst/>
          </a:prstGeom>
          <a:noFill/>
        </p:spPr>
        <p:txBody>
          <a:bodyPr wrap="square" rtlCol="0">
            <a:spAutoFit/>
          </a:bodyPr>
          <a:lstStyle/>
          <a:p>
            <a:pPr algn="ctr"/>
            <a:r>
              <a:rPr lang="fr-FR" sz="2400" b="1" dirty="0">
                <a:solidFill>
                  <a:schemeClr val="bg1"/>
                </a:solidFill>
              </a:rPr>
              <a:t>Comparaison des langues</a:t>
            </a:r>
          </a:p>
        </p:txBody>
      </p:sp>
      <p:grpSp>
        <p:nvGrpSpPr>
          <p:cNvPr id="3" name="Groupe 2">
            <a:extLst>
              <a:ext uri="{FF2B5EF4-FFF2-40B4-BE49-F238E27FC236}">
                <a16:creationId xmlns:a16="http://schemas.microsoft.com/office/drawing/2014/main" id="{12DB5200-ACD2-BE97-2B8E-0F18E8DBD46E}"/>
              </a:ext>
            </a:extLst>
          </p:cNvPr>
          <p:cNvGrpSpPr/>
          <p:nvPr/>
        </p:nvGrpSpPr>
        <p:grpSpPr>
          <a:xfrm>
            <a:off x="7700515" y="1714049"/>
            <a:ext cx="4424618" cy="4374788"/>
            <a:chOff x="7758023" y="1714049"/>
            <a:chExt cx="4367109" cy="4374788"/>
          </a:xfrm>
        </p:grpSpPr>
        <p:sp>
          <p:nvSpPr>
            <p:cNvPr id="12" name="Rectangle : coins arrondis 11">
              <a:extLst>
                <a:ext uri="{FF2B5EF4-FFF2-40B4-BE49-F238E27FC236}">
                  <a16:creationId xmlns:a16="http://schemas.microsoft.com/office/drawing/2014/main" id="{5B58D331-AFCD-38FA-D494-B9C6E8A0BD6F}"/>
                </a:ext>
              </a:extLst>
            </p:cNvPr>
            <p:cNvSpPr/>
            <p:nvPr/>
          </p:nvSpPr>
          <p:spPr>
            <a:xfrm>
              <a:off x="7758023" y="1714049"/>
              <a:ext cx="4367109" cy="4374788"/>
            </a:xfrm>
            <a:prstGeom prst="roundRect">
              <a:avLst>
                <a:gd name="adj" fmla="val 5259"/>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bg1"/>
                </a:solidFill>
              </a:endParaRPr>
            </a:p>
            <a:p>
              <a:pPr lvl="0" algn="ctr" eaLnBrk="0" fontAlgn="base" hangingPunct="0">
                <a:spcBef>
                  <a:spcPct val="0"/>
                </a:spcBef>
                <a:spcAft>
                  <a:spcPct val="0"/>
                </a:spcAft>
              </a:pPr>
              <a:endParaRPr lang="fr-FR" altLang="fr-FR" dirty="0">
                <a:solidFill>
                  <a:schemeClr val="bg1"/>
                </a:solidFill>
                <a:latin typeface="Arial" panose="020B0604020202020204" pitchFamily="34" charset="0"/>
              </a:endParaRPr>
            </a:p>
            <a:p>
              <a:pPr lvl="0" algn="ctr" eaLnBrk="0" fontAlgn="base" hangingPunct="0">
                <a:spcBef>
                  <a:spcPct val="0"/>
                </a:spcBef>
                <a:spcAft>
                  <a:spcPct val="0"/>
                </a:spcAft>
              </a:pPr>
              <a:r>
                <a:rPr lang="fr-FR" altLang="fr-FR" dirty="0">
                  <a:solidFill>
                    <a:schemeClr val="bg1"/>
                  </a:solidFill>
                  <a:latin typeface="Arial" panose="020B0604020202020204" pitchFamily="34" charset="0"/>
                </a:rPr>
                <a:t>L’anglais affiche une moyenne de </a:t>
              </a:r>
              <a:r>
                <a:rPr lang="fr-FR" altLang="fr-FR" dirty="0" err="1">
                  <a:solidFill>
                    <a:schemeClr val="bg1"/>
                  </a:solidFill>
                  <a:latin typeface="Arial" panose="020B0604020202020204" pitchFamily="34" charset="0"/>
                </a:rPr>
                <a:t>stream</a:t>
              </a:r>
              <a:r>
                <a:rPr lang="fr-FR" altLang="fr-FR" dirty="0">
                  <a:solidFill>
                    <a:schemeClr val="bg1"/>
                  </a:solidFill>
                  <a:latin typeface="Arial" panose="020B0604020202020204" pitchFamily="34" charset="0"/>
                </a:rPr>
                <a:t> de 299,6 M de </a:t>
              </a:r>
              <a:r>
                <a:rPr lang="fr-FR" altLang="fr-FR" dirty="0" err="1">
                  <a:solidFill>
                    <a:schemeClr val="bg1"/>
                  </a:solidFill>
                  <a:latin typeface="Arial" panose="020B0604020202020204" pitchFamily="34" charset="0"/>
                </a:rPr>
                <a:t>streams</a:t>
              </a:r>
              <a:r>
                <a:rPr lang="fr-FR" altLang="fr-FR" dirty="0">
                  <a:solidFill>
                    <a:schemeClr val="bg1"/>
                  </a:solidFill>
                  <a:latin typeface="Arial" panose="020B0604020202020204" pitchFamily="34" charset="0"/>
                </a:rPr>
                <a:t>, l’anglais reste la langue universelle du streaming, avec une audience extrêmement fidèle et de hits très réguliers. Avec une moyenne de 294,8 M, l’espagnol se classe au troisième rang. On observe de nombreux points roses (valeurs atypiques) au-dessus de la boîte espagnole. Cela illustre la capacité de musique hispanique à produire des hits mondiaux qui dépassent les standards de consommation habituels.</a:t>
              </a:r>
            </a:p>
            <a:p>
              <a:pPr algn="ctr"/>
              <a:endParaRPr lang="fr-FR" dirty="0"/>
            </a:p>
          </p:txBody>
        </p:sp>
        <p:sp>
          <p:nvSpPr>
            <p:cNvPr id="7" name="Rectangle : coins arrondis 6">
              <a:extLst>
                <a:ext uri="{FF2B5EF4-FFF2-40B4-BE49-F238E27FC236}">
                  <a16:creationId xmlns:a16="http://schemas.microsoft.com/office/drawing/2014/main" id="{31CD18DF-44EA-A210-AC7C-7AC72710E5D6}"/>
                </a:ext>
              </a:extLst>
            </p:cNvPr>
            <p:cNvSpPr/>
            <p:nvPr/>
          </p:nvSpPr>
          <p:spPr>
            <a:xfrm>
              <a:off x="8811328" y="1752286"/>
              <a:ext cx="237665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INTERPRÉTATION</a:t>
              </a:r>
              <a:endParaRPr lang="fr-FR" dirty="0"/>
            </a:p>
          </p:txBody>
        </p:sp>
      </p:grpSp>
      <p:sp>
        <p:nvSpPr>
          <p:cNvPr id="8" name="ZoneTexte 7">
            <a:extLst>
              <a:ext uri="{FF2B5EF4-FFF2-40B4-BE49-F238E27FC236}">
                <a16:creationId xmlns:a16="http://schemas.microsoft.com/office/drawing/2014/main" id="{BAE703ED-E844-3524-73A4-745747ACBE62}"/>
              </a:ext>
            </a:extLst>
          </p:cNvPr>
          <p:cNvSpPr txBox="1"/>
          <p:nvPr/>
        </p:nvSpPr>
        <p:spPr>
          <a:xfrm>
            <a:off x="-160821" y="1256043"/>
            <a:ext cx="8434874" cy="338554"/>
          </a:xfrm>
          <a:prstGeom prst="rect">
            <a:avLst/>
          </a:prstGeom>
          <a:noFill/>
        </p:spPr>
        <p:txBody>
          <a:bodyPr wrap="square" rtlCol="0">
            <a:spAutoFit/>
          </a:bodyPr>
          <a:lstStyle/>
          <a:p>
            <a:pPr algn="ctr"/>
            <a:r>
              <a:rPr lang="fr-FR" sz="1600" dirty="0">
                <a:solidFill>
                  <a:schemeClr val="bg1"/>
                </a:solidFill>
              </a:rPr>
              <a:t>Une forte domination de la langue anglaise, l’espagnole </a:t>
            </a:r>
          </a:p>
        </p:txBody>
      </p:sp>
      <p:grpSp>
        <p:nvGrpSpPr>
          <p:cNvPr id="17" name="Groupe 16">
            <a:extLst>
              <a:ext uri="{FF2B5EF4-FFF2-40B4-BE49-F238E27FC236}">
                <a16:creationId xmlns:a16="http://schemas.microsoft.com/office/drawing/2014/main" id="{B1F17319-9DCB-C517-E471-39E93017474C}"/>
              </a:ext>
            </a:extLst>
          </p:cNvPr>
          <p:cNvGrpSpPr/>
          <p:nvPr/>
        </p:nvGrpSpPr>
        <p:grpSpPr>
          <a:xfrm>
            <a:off x="11403402" y="6411284"/>
            <a:ext cx="721729" cy="324931"/>
            <a:chOff x="11353402" y="6422166"/>
            <a:chExt cx="721729" cy="324931"/>
          </a:xfrm>
        </p:grpSpPr>
        <p:sp>
          <p:nvSpPr>
            <p:cNvPr id="18" name="Bouton d’action : avant ou précédent 17">
              <a:hlinkClick r:id="" action="ppaction://hlinkshowjump?jump=nextslide" highlightClick="1"/>
              <a:extLst>
                <a:ext uri="{FF2B5EF4-FFF2-40B4-BE49-F238E27FC236}">
                  <a16:creationId xmlns:a16="http://schemas.microsoft.com/office/drawing/2014/main" id="{BD637714-C736-64A3-5DCB-BD6B7E13BA72}"/>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Bouton d’action : retour ou précédent 18">
              <a:hlinkClick r:id="" action="ppaction://hlinkshowjump?jump=previousslide" highlightClick="1"/>
              <a:extLst>
                <a:ext uri="{FF2B5EF4-FFF2-40B4-BE49-F238E27FC236}">
                  <a16:creationId xmlns:a16="http://schemas.microsoft.com/office/drawing/2014/main" id="{88955D76-FCB5-A139-4B80-6E1FAC37B725}"/>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0" name="Picture 3">
            <a:extLst>
              <a:ext uri="{FF2B5EF4-FFF2-40B4-BE49-F238E27FC236}">
                <a16:creationId xmlns:a16="http://schemas.microsoft.com/office/drawing/2014/main" id="{CDCC1F48-BFB4-FB4C-9BFC-F7B3E1A5A182}"/>
              </a:ext>
            </a:extLst>
          </p:cNvPr>
          <p:cNvPicPr>
            <a:picLocks noChangeAspect="1"/>
          </p:cNvPicPr>
          <p:nvPr/>
        </p:nvPicPr>
        <p:blipFill>
          <a:blip r:embed="rId2"/>
          <a:stretch>
            <a:fillRect/>
          </a:stretch>
        </p:blipFill>
        <p:spPr>
          <a:xfrm>
            <a:off x="1" y="6412442"/>
            <a:ext cx="464598" cy="451839"/>
          </a:xfrm>
          <a:prstGeom prst="rect">
            <a:avLst/>
          </a:prstGeom>
        </p:spPr>
      </p:pic>
      <p:sp>
        <p:nvSpPr>
          <p:cNvPr id="21" name="Rectangle 20">
            <a:extLst>
              <a:ext uri="{FF2B5EF4-FFF2-40B4-BE49-F238E27FC236}">
                <a16:creationId xmlns:a16="http://schemas.microsoft.com/office/drawing/2014/main" id="{8DD25A5C-B300-B691-9871-C090E05297D1}"/>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b="1" dirty="0"/>
              <a:t>Description</a:t>
            </a:r>
            <a:r>
              <a:rPr lang="fr-FR" sz="1000" dirty="0"/>
              <a:t>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pic>
        <p:nvPicPr>
          <p:cNvPr id="11" name="Image 10" descr="Une image contenant texte, capture d’écran, diagramme, ligne&#10;&#10;Le contenu généré par l’IA peut être incorrect.">
            <a:extLst>
              <a:ext uri="{FF2B5EF4-FFF2-40B4-BE49-F238E27FC236}">
                <a16:creationId xmlns:a16="http://schemas.microsoft.com/office/drawing/2014/main" id="{1F8C07C7-F44B-9F08-23C7-436CE2FB4E76}"/>
              </a:ext>
            </a:extLst>
          </p:cNvPr>
          <p:cNvPicPr>
            <a:picLocks noChangeAspect="1"/>
          </p:cNvPicPr>
          <p:nvPr/>
        </p:nvPicPr>
        <p:blipFill>
          <a:blip r:embed="rId3">
            <a:extLst>
              <a:ext uri="{28A0092B-C50C-407E-A947-70E740481C1C}">
                <a14:useLocalDpi xmlns:a14="http://schemas.microsoft.com/office/drawing/2010/main" val="0"/>
              </a:ext>
            </a:extLst>
          </a:blip>
          <a:srcRect t="12352" r="1481" b="4491"/>
          <a:stretch>
            <a:fillRect/>
          </a:stretch>
        </p:blipFill>
        <p:spPr>
          <a:xfrm>
            <a:off x="232300" y="1824978"/>
            <a:ext cx="7242269" cy="3776979"/>
          </a:xfrm>
          <a:prstGeom prst="rect">
            <a:avLst/>
          </a:prstGeom>
          <a:ln w="57150">
            <a:solidFill>
              <a:srgbClr val="1DB954"/>
            </a:solidFill>
          </a:ln>
        </p:spPr>
      </p:pic>
      <p:sp>
        <p:nvSpPr>
          <p:cNvPr id="25" name="Rectangle 24">
            <a:extLst>
              <a:ext uri="{FF2B5EF4-FFF2-40B4-BE49-F238E27FC236}">
                <a16:creationId xmlns:a16="http://schemas.microsoft.com/office/drawing/2014/main" id="{43E3C137-3023-9877-115B-678810364FAF}"/>
              </a:ext>
            </a:extLst>
          </p:cNvPr>
          <p:cNvSpPr/>
          <p:nvPr/>
        </p:nvSpPr>
        <p:spPr>
          <a:xfrm>
            <a:off x="184030" y="5745191"/>
            <a:ext cx="7338204" cy="235789"/>
          </a:xfrm>
          <a:prstGeom prst="rect">
            <a:avLst/>
          </a:prstGeom>
          <a:noFill/>
          <a:ln>
            <a:solidFill>
              <a:srgbClr val="1DB9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100" i="1" dirty="0"/>
              <a:t>Note : l’anglais et l’espagnol représente plus de 93 % des morceaux, le japon uniquement 0,2 % : (2 morceaux)</a:t>
            </a:r>
          </a:p>
        </p:txBody>
      </p:sp>
    </p:spTree>
    <p:extLst>
      <p:ext uri="{BB962C8B-B14F-4D97-AF65-F5344CB8AC3E}">
        <p14:creationId xmlns:p14="http://schemas.microsoft.com/office/powerpoint/2010/main" val="3999254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B5758340-AA9C-CCA7-8C41-B5501F3E4F4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BADFB39-F0F8-8CFE-2813-45B4BA9ACDE9}"/>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4E077F12-593C-2977-389F-F6F1404E25CC}"/>
              </a:ext>
            </a:extLst>
          </p:cNvPr>
          <p:cNvSpPr>
            <a:spLocks noGrp="1"/>
          </p:cNvSpPr>
          <p:nvPr>
            <p:ph type="sldNum" sz="quarter" idx="12"/>
          </p:nvPr>
        </p:nvSpPr>
        <p:spPr/>
        <p:txBody>
          <a:bodyPr/>
          <a:lstStyle/>
          <a:p>
            <a:fld id="{5D5C5C60-63A0-401E-A392-47CD3E86B338}" type="slidenum">
              <a:rPr lang="fr-FR" dirty="0" smtClean="0">
                <a:solidFill>
                  <a:srgbClr val="B3B3B3"/>
                </a:solidFill>
              </a:rPr>
              <a:t>15</a:t>
            </a:fld>
            <a:endParaRPr lang="en-US" dirty="0">
              <a:solidFill>
                <a:srgbClr val="B3B3B3"/>
              </a:solidFill>
            </a:endParaRPr>
          </a:p>
        </p:txBody>
      </p:sp>
      <p:sp>
        <p:nvSpPr>
          <p:cNvPr id="2" name="Rectangle 1">
            <a:extLst>
              <a:ext uri="{FF2B5EF4-FFF2-40B4-BE49-F238E27FC236}">
                <a16:creationId xmlns:a16="http://schemas.microsoft.com/office/drawing/2014/main" id="{0C3D6518-EB3D-2610-5E4D-247C94FE8381}"/>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Description des caractéristiques</a:t>
            </a:r>
          </a:p>
        </p:txBody>
      </p:sp>
      <p:sp>
        <p:nvSpPr>
          <p:cNvPr id="10" name="ZoneTexte 9">
            <a:extLst>
              <a:ext uri="{FF2B5EF4-FFF2-40B4-BE49-F238E27FC236}">
                <a16:creationId xmlns:a16="http://schemas.microsoft.com/office/drawing/2014/main" id="{CE5DD5FE-256F-86EF-D347-7A7137BFFF69}"/>
              </a:ext>
            </a:extLst>
          </p:cNvPr>
          <p:cNvSpPr txBox="1"/>
          <p:nvPr/>
        </p:nvSpPr>
        <p:spPr>
          <a:xfrm>
            <a:off x="-253026" y="801705"/>
            <a:ext cx="8434874" cy="461665"/>
          </a:xfrm>
          <a:prstGeom prst="rect">
            <a:avLst/>
          </a:prstGeom>
          <a:noFill/>
        </p:spPr>
        <p:txBody>
          <a:bodyPr wrap="square" rtlCol="0">
            <a:spAutoFit/>
          </a:bodyPr>
          <a:lstStyle/>
          <a:p>
            <a:pPr algn="ctr"/>
            <a:r>
              <a:rPr lang="fr-FR" sz="2400" b="1" dirty="0">
                <a:solidFill>
                  <a:schemeClr val="bg1"/>
                </a:solidFill>
              </a:rPr>
              <a:t>Étude du nombre d’apparition dans les charts Spotify</a:t>
            </a:r>
          </a:p>
        </p:txBody>
      </p:sp>
      <p:grpSp>
        <p:nvGrpSpPr>
          <p:cNvPr id="14" name="Groupe 13">
            <a:extLst>
              <a:ext uri="{FF2B5EF4-FFF2-40B4-BE49-F238E27FC236}">
                <a16:creationId xmlns:a16="http://schemas.microsoft.com/office/drawing/2014/main" id="{5114637C-3273-72EC-3651-6531B0EA45D8}"/>
              </a:ext>
            </a:extLst>
          </p:cNvPr>
          <p:cNvGrpSpPr/>
          <p:nvPr/>
        </p:nvGrpSpPr>
        <p:grpSpPr>
          <a:xfrm>
            <a:off x="7700513" y="1587805"/>
            <a:ext cx="4424618" cy="4585378"/>
            <a:chOff x="7700513" y="1587805"/>
            <a:chExt cx="4424618" cy="4585378"/>
          </a:xfrm>
        </p:grpSpPr>
        <p:sp>
          <p:nvSpPr>
            <p:cNvPr id="12" name="Rectangle : coins arrondis 11">
              <a:extLst>
                <a:ext uri="{FF2B5EF4-FFF2-40B4-BE49-F238E27FC236}">
                  <a16:creationId xmlns:a16="http://schemas.microsoft.com/office/drawing/2014/main" id="{110ED169-1D9A-E546-F855-A534AF1F9AF8}"/>
                </a:ext>
              </a:extLst>
            </p:cNvPr>
            <p:cNvSpPr/>
            <p:nvPr/>
          </p:nvSpPr>
          <p:spPr>
            <a:xfrm>
              <a:off x="7700513" y="1623228"/>
              <a:ext cx="4424618" cy="4549955"/>
            </a:xfrm>
            <a:prstGeom prst="roundRect">
              <a:avLst>
                <a:gd name="adj" fmla="val 5259"/>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endParaRPr lang="fr-FR" altLang="fr-FR" dirty="0">
                <a:solidFill>
                  <a:schemeClr val="bg1"/>
                </a:solidFill>
                <a:latin typeface="Arial" panose="020B0604020202020204" pitchFamily="34" charset="0"/>
              </a:endParaRPr>
            </a:p>
            <a:p>
              <a:pPr lvl="0" algn="ctr" eaLnBrk="0" fontAlgn="base" hangingPunct="0">
                <a:spcBef>
                  <a:spcPct val="0"/>
                </a:spcBef>
                <a:spcAft>
                  <a:spcPct val="0"/>
                </a:spcAft>
              </a:pPr>
              <a:r>
                <a:rPr lang="fr-FR" altLang="fr-FR" dirty="0">
                  <a:solidFill>
                    <a:schemeClr val="bg1"/>
                  </a:solidFill>
                  <a:latin typeface="Arial" panose="020B0604020202020204" pitchFamily="34" charset="0"/>
                </a:rPr>
                <a:t>On note une hausse de la médiane à chaque palier de niveaux de charts : elle passe de </a:t>
              </a:r>
              <a:r>
                <a:rPr lang="fr-FR" altLang="fr-FR" b="1" dirty="0">
                  <a:solidFill>
                    <a:schemeClr val="bg1"/>
                  </a:solidFill>
                  <a:latin typeface="Arial" panose="020B0604020202020204" pitchFamily="34" charset="0"/>
                </a:rPr>
                <a:t>216 M</a:t>
              </a:r>
              <a:r>
                <a:rPr lang="fr-FR" altLang="fr-FR" dirty="0">
                  <a:solidFill>
                    <a:schemeClr val="bg1"/>
                  </a:solidFill>
                  <a:latin typeface="Arial" panose="020B0604020202020204" pitchFamily="34" charset="0"/>
                </a:rPr>
                <a:t> (aucune) à </a:t>
              </a:r>
              <a:r>
                <a:rPr lang="fr-FR" altLang="fr-FR" b="1" dirty="0">
                  <a:solidFill>
                    <a:schemeClr val="bg1"/>
                  </a:solidFill>
                  <a:latin typeface="Arial" panose="020B0604020202020204" pitchFamily="34" charset="0"/>
                </a:rPr>
                <a:t>449 M</a:t>
              </a:r>
              <a:r>
                <a:rPr lang="fr-FR" altLang="fr-FR" dirty="0">
                  <a:solidFill>
                    <a:schemeClr val="bg1"/>
                  </a:solidFill>
                  <a:latin typeface="Arial" panose="020B0604020202020204" pitchFamily="34" charset="0"/>
                </a:rPr>
                <a:t> (moyenne) pour culminer à </a:t>
              </a:r>
              <a:r>
                <a:rPr lang="fr-FR" altLang="fr-FR" b="1" dirty="0">
                  <a:solidFill>
                    <a:schemeClr val="bg1"/>
                  </a:solidFill>
                  <a:latin typeface="Arial" panose="020B0604020202020204" pitchFamily="34" charset="0"/>
                </a:rPr>
                <a:t>984 M</a:t>
              </a:r>
              <a:r>
                <a:rPr lang="fr-FR" altLang="fr-FR" dirty="0">
                  <a:solidFill>
                    <a:schemeClr val="bg1"/>
                  </a:solidFill>
                  <a:latin typeface="Arial" panose="020B0604020202020204" pitchFamily="34" charset="0"/>
                </a:rPr>
                <a:t> pour une forte présence. Plus un morceau reste longtemps dans les classements (51 à 100 apparitions), plus il bénéficie d’une augmentation de son audience. On remarque  aussi une chute de la médiane à 141 M pour la catégorie "Super Hit ". Cette catégorie semble sélective et contient moins d'individus. Cela peut s'expliquer par des morceaux viraux où seuls quelques titres maintiennent des </a:t>
              </a:r>
              <a:r>
                <a:rPr lang="fr-FR" altLang="fr-FR" dirty="0" err="1">
                  <a:solidFill>
                    <a:schemeClr val="bg1"/>
                  </a:solidFill>
                  <a:latin typeface="Arial" panose="020B0604020202020204" pitchFamily="34" charset="0"/>
                </a:rPr>
                <a:t>streams</a:t>
              </a:r>
              <a:r>
                <a:rPr lang="fr-FR" altLang="fr-FR" dirty="0">
                  <a:solidFill>
                    <a:schemeClr val="bg1"/>
                  </a:solidFill>
                  <a:latin typeface="Arial" panose="020B0604020202020204" pitchFamily="34" charset="0"/>
                </a:rPr>
                <a:t> élevés.</a:t>
              </a:r>
              <a:endParaRPr lang="fr-FR" dirty="0"/>
            </a:p>
          </p:txBody>
        </p:sp>
        <p:sp>
          <p:nvSpPr>
            <p:cNvPr id="7" name="Rectangle : coins arrondis 6">
              <a:extLst>
                <a:ext uri="{FF2B5EF4-FFF2-40B4-BE49-F238E27FC236}">
                  <a16:creationId xmlns:a16="http://schemas.microsoft.com/office/drawing/2014/main" id="{A31A7C12-7CF0-A529-AFB3-3F5EB11F70F8}"/>
                </a:ext>
              </a:extLst>
            </p:cNvPr>
            <p:cNvSpPr/>
            <p:nvPr/>
          </p:nvSpPr>
          <p:spPr>
            <a:xfrm>
              <a:off x="8708849" y="1587805"/>
              <a:ext cx="2407947" cy="333071"/>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t>INTERPRÉTATION</a:t>
              </a:r>
              <a:endParaRPr lang="fr-FR" dirty="0"/>
            </a:p>
          </p:txBody>
        </p:sp>
      </p:grpSp>
      <p:sp>
        <p:nvSpPr>
          <p:cNvPr id="8" name="ZoneTexte 7">
            <a:extLst>
              <a:ext uri="{FF2B5EF4-FFF2-40B4-BE49-F238E27FC236}">
                <a16:creationId xmlns:a16="http://schemas.microsoft.com/office/drawing/2014/main" id="{4A6D1773-BF92-93CB-6703-D2938A97607B}"/>
              </a:ext>
            </a:extLst>
          </p:cNvPr>
          <p:cNvSpPr txBox="1"/>
          <p:nvPr/>
        </p:nvSpPr>
        <p:spPr>
          <a:xfrm>
            <a:off x="-160821" y="1256043"/>
            <a:ext cx="8434874" cy="338554"/>
          </a:xfrm>
          <a:prstGeom prst="rect">
            <a:avLst/>
          </a:prstGeom>
          <a:noFill/>
        </p:spPr>
        <p:txBody>
          <a:bodyPr wrap="square" rtlCol="0">
            <a:spAutoFit/>
          </a:bodyPr>
          <a:lstStyle/>
          <a:p>
            <a:pPr algn="ctr"/>
            <a:r>
              <a:rPr lang="fr-FR" sz="1600" dirty="0">
                <a:solidFill>
                  <a:schemeClr val="bg1"/>
                </a:solidFill>
              </a:rPr>
              <a:t>Un lien entre la présence dans les classements et l'explosion du volume d'écoutes</a:t>
            </a:r>
          </a:p>
        </p:txBody>
      </p:sp>
      <p:grpSp>
        <p:nvGrpSpPr>
          <p:cNvPr id="17" name="Groupe 16">
            <a:extLst>
              <a:ext uri="{FF2B5EF4-FFF2-40B4-BE49-F238E27FC236}">
                <a16:creationId xmlns:a16="http://schemas.microsoft.com/office/drawing/2014/main" id="{7985F9B9-BB0F-D9A9-6C26-DA4F379BAA9B}"/>
              </a:ext>
            </a:extLst>
          </p:cNvPr>
          <p:cNvGrpSpPr/>
          <p:nvPr/>
        </p:nvGrpSpPr>
        <p:grpSpPr>
          <a:xfrm>
            <a:off x="11403402" y="6411284"/>
            <a:ext cx="721729" cy="324931"/>
            <a:chOff x="11353402" y="6422166"/>
            <a:chExt cx="721729" cy="324931"/>
          </a:xfrm>
        </p:grpSpPr>
        <p:sp>
          <p:nvSpPr>
            <p:cNvPr id="18" name="Bouton d’action : avant ou précédent 17">
              <a:hlinkClick r:id="" action="ppaction://hlinkshowjump?jump=nextslide" highlightClick="1"/>
              <a:extLst>
                <a:ext uri="{FF2B5EF4-FFF2-40B4-BE49-F238E27FC236}">
                  <a16:creationId xmlns:a16="http://schemas.microsoft.com/office/drawing/2014/main" id="{48F11068-0819-568A-D4A9-4CA12B9202D4}"/>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Bouton d’action : retour ou précédent 18">
              <a:hlinkClick r:id="" action="ppaction://hlinkshowjump?jump=previousslide" highlightClick="1"/>
              <a:extLst>
                <a:ext uri="{FF2B5EF4-FFF2-40B4-BE49-F238E27FC236}">
                  <a16:creationId xmlns:a16="http://schemas.microsoft.com/office/drawing/2014/main" id="{E00F8E4A-A39D-D367-8758-B04535007CE3}"/>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0" name="Picture 3">
            <a:extLst>
              <a:ext uri="{FF2B5EF4-FFF2-40B4-BE49-F238E27FC236}">
                <a16:creationId xmlns:a16="http://schemas.microsoft.com/office/drawing/2014/main" id="{BAAB6951-A475-09D7-231E-0FC6AECAAD9E}"/>
              </a:ext>
            </a:extLst>
          </p:cNvPr>
          <p:cNvPicPr>
            <a:picLocks noChangeAspect="1"/>
          </p:cNvPicPr>
          <p:nvPr/>
        </p:nvPicPr>
        <p:blipFill>
          <a:blip r:embed="rId2"/>
          <a:stretch>
            <a:fillRect/>
          </a:stretch>
        </p:blipFill>
        <p:spPr>
          <a:xfrm>
            <a:off x="1" y="6412442"/>
            <a:ext cx="464598" cy="451839"/>
          </a:xfrm>
          <a:prstGeom prst="rect">
            <a:avLst/>
          </a:prstGeom>
        </p:spPr>
      </p:pic>
      <p:sp>
        <p:nvSpPr>
          <p:cNvPr id="21" name="Rectangle 20">
            <a:extLst>
              <a:ext uri="{FF2B5EF4-FFF2-40B4-BE49-F238E27FC236}">
                <a16:creationId xmlns:a16="http://schemas.microsoft.com/office/drawing/2014/main" id="{1DA8B9C1-C8F1-B9FB-2BEE-BF1B8922B415}"/>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b="1" dirty="0"/>
              <a:t>Description</a:t>
            </a:r>
            <a:r>
              <a:rPr lang="fr-FR" sz="1000" dirty="0"/>
              <a:t>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pic>
        <p:nvPicPr>
          <p:cNvPr id="9" name="Image 8" descr="Une image contenant texte, capture d’écran, diagramme, conception&#10;&#10;Le contenu généré par l’IA peut être incorrect.">
            <a:extLst>
              <a:ext uri="{FF2B5EF4-FFF2-40B4-BE49-F238E27FC236}">
                <a16:creationId xmlns:a16="http://schemas.microsoft.com/office/drawing/2014/main" id="{19C22D24-2211-507A-AC91-683BA1B4AE17}"/>
              </a:ext>
            </a:extLst>
          </p:cNvPr>
          <p:cNvPicPr>
            <a:picLocks noChangeAspect="1"/>
          </p:cNvPicPr>
          <p:nvPr/>
        </p:nvPicPr>
        <p:blipFill>
          <a:blip r:embed="rId3">
            <a:extLst>
              <a:ext uri="{28A0092B-C50C-407E-A947-70E740481C1C}">
                <a14:useLocalDpi xmlns:a14="http://schemas.microsoft.com/office/drawing/2010/main" val="0"/>
              </a:ext>
            </a:extLst>
          </a:blip>
          <a:srcRect t="12711" r="2568" b="1854"/>
          <a:stretch>
            <a:fillRect/>
          </a:stretch>
        </p:blipFill>
        <p:spPr>
          <a:xfrm>
            <a:off x="411621" y="1752286"/>
            <a:ext cx="7105579" cy="3849671"/>
          </a:xfrm>
          <a:prstGeom prst="rect">
            <a:avLst/>
          </a:prstGeom>
          <a:ln w="57150">
            <a:solidFill>
              <a:srgbClr val="1DB954"/>
            </a:solidFill>
          </a:ln>
        </p:spPr>
      </p:pic>
    </p:spTree>
    <p:extLst>
      <p:ext uri="{BB962C8B-B14F-4D97-AF65-F5344CB8AC3E}">
        <p14:creationId xmlns:p14="http://schemas.microsoft.com/office/powerpoint/2010/main" val="3794310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D921D0F8-3FBD-E938-749F-9A2427BC188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40798C-E44D-1427-0036-D5C24F8DD622}"/>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20FCD5B8-6209-CE1A-C6E2-8B16E3216379}"/>
              </a:ext>
            </a:extLst>
          </p:cNvPr>
          <p:cNvSpPr>
            <a:spLocks noGrp="1"/>
          </p:cNvSpPr>
          <p:nvPr>
            <p:ph type="sldNum" sz="quarter" idx="12"/>
          </p:nvPr>
        </p:nvSpPr>
        <p:spPr/>
        <p:txBody>
          <a:bodyPr/>
          <a:lstStyle/>
          <a:p>
            <a:fld id="{5D5C5C60-63A0-401E-A392-47CD3E86B338}" type="slidenum">
              <a:rPr lang="fr-FR" dirty="0" smtClean="0">
                <a:solidFill>
                  <a:srgbClr val="B3B3B3"/>
                </a:solidFill>
              </a:rPr>
              <a:t>16</a:t>
            </a:fld>
            <a:endParaRPr lang="en-US">
              <a:solidFill>
                <a:srgbClr val="B3B3B3"/>
              </a:solidFill>
            </a:endParaRPr>
          </a:p>
        </p:txBody>
      </p:sp>
      <p:sp>
        <p:nvSpPr>
          <p:cNvPr id="2" name="Rectangle 1">
            <a:extLst>
              <a:ext uri="{FF2B5EF4-FFF2-40B4-BE49-F238E27FC236}">
                <a16:creationId xmlns:a16="http://schemas.microsoft.com/office/drawing/2014/main" id="{BD3EBB44-A54E-3BBC-4CB1-49D3F861DD36}"/>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Modélisations</a:t>
            </a:r>
          </a:p>
        </p:txBody>
      </p:sp>
      <p:grpSp>
        <p:nvGrpSpPr>
          <p:cNvPr id="11" name="Groupe 10">
            <a:extLst>
              <a:ext uri="{FF2B5EF4-FFF2-40B4-BE49-F238E27FC236}">
                <a16:creationId xmlns:a16="http://schemas.microsoft.com/office/drawing/2014/main" id="{7788E4C8-EA09-E01E-8926-5A3659F2A0CC}"/>
              </a:ext>
            </a:extLst>
          </p:cNvPr>
          <p:cNvGrpSpPr/>
          <p:nvPr/>
        </p:nvGrpSpPr>
        <p:grpSpPr>
          <a:xfrm>
            <a:off x="11403402" y="6411284"/>
            <a:ext cx="721729" cy="324931"/>
            <a:chOff x="11353402" y="6422166"/>
            <a:chExt cx="721729" cy="324931"/>
          </a:xfrm>
        </p:grpSpPr>
        <p:sp>
          <p:nvSpPr>
            <p:cNvPr id="12" name="Bouton d’action : avant ou précédent 11">
              <a:hlinkClick r:id="" action="ppaction://hlinkshowjump?jump=nextslide" highlightClick="1"/>
              <a:extLst>
                <a:ext uri="{FF2B5EF4-FFF2-40B4-BE49-F238E27FC236}">
                  <a16:creationId xmlns:a16="http://schemas.microsoft.com/office/drawing/2014/main" id="{753E8A42-6610-0E6A-C838-21764E456B87}"/>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Bouton d’action : retour ou précédent 12">
              <a:hlinkClick r:id="" action="ppaction://hlinkshowjump?jump=previousslide" highlightClick="1"/>
              <a:extLst>
                <a:ext uri="{FF2B5EF4-FFF2-40B4-BE49-F238E27FC236}">
                  <a16:creationId xmlns:a16="http://schemas.microsoft.com/office/drawing/2014/main" id="{D85B98A7-7906-8E29-3ABB-D6E936781E10}"/>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 name="Picture 3">
            <a:extLst>
              <a:ext uri="{FF2B5EF4-FFF2-40B4-BE49-F238E27FC236}">
                <a16:creationId xmlns:a16="http://schemas.microsoft.com/office/drawing/2014/main" id="{5DB34FE6-18C5-666C-926C-BCD09530BDF1}"/>
              </a:ext>
            </a:extLst>
          </p:cNvPr>
          <p:cNvPicPr>
            <a:picLocks noChangeAspect="1"/>
          </p:cNvPicPr>
          <p:nvPr/>
        </p:nvPicPr>
        <p:blipFill>
          <a:blip r:embed="rId2"/>
          <a:stretch>
            <a:fillRect/>
          </a:stretch>
        </p:blipFill>
        <p:spPr>
          <a:xfrm>
            <a:off x="1" y="6412442"/>
            <a:ext cx="464598" cy="451839"/>
          </a:xfrm>
          <a:prstGeom prst="rect">
            <a:avLst/>
          </a:prstGeom>
        </p:spPr>
      </p:pic>
      <p:sp>
        <p:nvSpPr>
          <p:cNvPr id="15" name="Rectangle 14">
            <a:extLst>
              <a:ext uri="{FF2B5EF4-FFF2-40B4-BE49-F238E27FC236}">
                <a16:creationId xmlns:a16="http://schemas.microsoft.com/office/drawing/2014/main" id="{DF82A0BE-96CB-1B0D-540A-DC942C79A383}"/>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dirty="0"/>
              <a:t>Description </a:t>
            </a:r>
          </a:p>
          <a:p>
            <a:pPr marL="288000" indent="-360000">
              <a:lnSpc>
                <a:spcPct val="110000"/>
              </a:lnSpc>
              <a:buFont typeface="Arial" panose="020B0604020202020204" pitchFamily="34" charset="0"/>
              <a:buChar char="•"/>
            </a:pPr>
            <a:r>
              <a:rPr lang="fr-FR" sz="1000" b="1" dirty="0"/>
              <a:t>Modélisations</a:t>
            </a:r>
          </a:p>
          <a:p>
            <a:pPr marL="288000" indent="-360000">
              <a:lnSpc>
                <a:spcPct val="110000"/>
              </a:lnSpc>
              <a:buFont typeface="Arial" panose="020B0604020202020204" pitchFamily="34" charset="0"/>
              <a:buChar char="•"/>
            </a:pPr>
            <a:r>
              <a:rPr lang="fr-FR" sz="1000" dirty="0"/>
              <a:t>Conclusion</a:t>
            </a:r>
          </a:p>
          <a:p>
            <a:pPr marL="288000">
              <a:lnSpc>
                <a:spcPct val="110000"/>
              </a:lnSpc>
            </a:pPr>
            <a:endParaRPr lang="fr-FR" sz="200" dirty="0"/>
          </a:p>
        </p:txBody>
      </p:sp>
      <p:grpSp>
        <p:nvGrpSpPr>
          <p:cNvPr id="18" name="Groupe 17">
            <a:extLst>
              <a:ext uri="{FF2B5EF4-FFF2-40B4-BE49-F238E27FC236}">
                <a16:creationId xmlns:a16="http://schemas.microsoft.com/office/drawing/2014/main" id="{1E92C6AE-8212-087E-A549-42744C70E6B1}"/>
              </a:ext>
            </a:extLst>
          </p:cNvPr>
          <p:cNvGrpSpPr/>
          <p:nvPr/>
        </p:nvGrpSpPr>
        <p:grpSpPr>
          <a:xfrm>
            <a:off x="464599" y="902173"/>
            <a:ext cx="5770016" cy="5337370"/>
            <a:chOff x="475396" y="1456051"/>
            <a:chExt cx="5770016" cy="5337370"/>
          </a:xfrm>
        </p:grpSpPr>
        <p:sp>
          <p:nvSpPr>
            <p:cNvPr id="16" name="Rectangle : coins arrondis 15">
              <a:extLst>
                <a:ext uri="{FF2B5EF4-FFF2-40B4-BE49-F238E27FC236}">
                  <a16:creationId xmlns:a16="http://schemas.microsoft.com/office/drawing/2014/main" id="{2252E552-6850-151D-F710-083DDD54C8F6}"/>
                </a:ext>
              </a:extLst>
            </p:cNvPr>
            <p:cNvSpPr/>
            <p:nvPr/>
          </p:nvSpPr>
          <p:spPr>
            <a:xfrm>
              <a:off x="475396" y="1456051"/>
              <a:ext cx="5770016" cy="5337370"/>
            </a:xfrm>
            <a:prstGeom prst="roundRect">
              <a:avLst>
                <a:gd name="adj" fmla="val 24737"/>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fr-FR" dirty="0">
                <a:solidFill>
                  <a:schemeClr val="bg1"/>
                </a:solidFill>
              </a:endParaRPr>
            </a:p>
            <a:p>
              <a:pPr lvl="0" algn="ctr" eaLnBrk="0" fontAlgn="base" hangingPunct="0">
                <a:spcBef>
                  <a:spcPct val="0"/>
                </a:spcBef>
                <a:spcAft>
                  <a:spcPct val="0"/>
                </a:spcAft>
              </a:pPr>
              <a:r>
                <a:rPr lang="fr-FR" dirty="0">
                  <a:solidFill>
                    <a:schemeClr val="bg1"/>
                  </a:solidFill>
                </a:rPr>
                <a:t>Dans un premier temps, un modèle englobant l’ensemble des caractéristiques des morceaux (présenté précédemment) a été réalisé. Toutefois, une grande partie de ces caractéristiques n’était pas réellement significative. Par la suite, un second modèle a été construit, en utilisant les modalités significatives des variables qualitatives uniquement. Ensuite, un test a été effectué pour comparer les deux modèles. Enfin, l'objectif était de vérifier si la simplification du modèle ne sacrifiait pas d’éléments explicatifs. L'analyse réalisée pour comparer le modèle complet (comprenant toutes les variables audio, géographiques, artistiques et linguistiques) au modèle réduit indique que le modèle plus simple reste statistiquement plus performant.</a:t>
              </a:r>
              <a:endParaRPr lang="fr-FR" dirty="0"/>
            </a:p>
          </p:txBody>
        </p:sp>
        <p:sp>
          <p:nvSpPr>
            <p:cNvPr id="17" name="Rectangle : coins arrondis 16">
              <a:extLst>
                <a:ext uri="{FF2B5EF4-FFF2-40B4-BE49-F238E27FC236}">
                  <a16:creationId xmlns:a16="http://schemas.microsoft.com/office/drawing/2014/main" id="{79779402-6358-9B42-0051-5993B8B56A8E}"/>
                </a:ext>
              </a:extLst>
            </p:cNvPr>
            <p:cNvSpPr/>
            <p:nvPr/>
          </p:nvSpPr>
          <p:spPr>
            <a:xfrm>
              <a:off x="1644083" y="1456051"/>
              <a:ext cx="343443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a:t>Processus</a:t>
              </a:r>
              <a:endParaRPr lang="fr-FR"/>
            </a:p>
          </p:txBody>
        </p:sp>
      </p:grpSp>
      <p:grpSp>
        <p:nvGrpSpPr>
          <p:cNvPr id="20" name="Groupe 19">
            <a:extLst>
              <a:ext uri="{FF2B5EF4-FFF2-40B4-BE49-F238E27FC236}">
                <a16:creationId xmlns:a16="http://schemas.microsoft.com/office/drawing/2014/main" id="{370383AE-A31F-B5E9-29EB-38835A423AB5}"/>
              </a:ext>
            </a:extLst>
          </p:cNvPr>
          <p:cNvGrpSpPr/>
          <p:nvPr/>
        </p:nvGrpSpPr>
        <p:grpSpPr>
          <a:xfrm>
            <a:off x="7047443" y="2133600"/>
            <a:ext cx="4517959" cy="3249283"/>
            <a:chOff x="475396" y="1456051"/>
            <a:chExt cx="5770016" cy="4910244"/>
          </a:xfrm>
        </p:grpSpPr>
        <p:sp>
          <p:nvSpPr>
            <p:cNvPr id="21" name="Rectangle : coins arrondis 20">
              <a:extLst>
                <a:ext uri="{FF2B5EF4-FFF2-40B4-BE49-F238E27FC236}">
                  <a16:creationId xmlns:a16="http://schemas.microsoft.com/office/drawing/2014/main" id="{7B7C3BAF-E097-DC01-1CD5-892C5761E6EE}"/>
                </a:ext>
              </a:extLst>
            </p:cNvPr>
            <p:cNvSpPr/>
            <p:nvPr/>
          </p:nvSpPr>
          <p:spPr>
            <a:xfrm>
              <a:off x="475396" y="1456051"/>
              <a:ext cx="5770016" cy="4910244"/>
            </a:xfrm>
            <a:prstGeom prst="roundRect">
              <a:avLst>
                <a:gd name="adj" fmla="val 27236"/>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p>
            <a:p>
              <a:pPr lvl="0" eaLnBrk="0" fontAlgn="base" hangingPunct="0">
                <a:spcBef>
                  <a:spcPct val="0"/>
                </a:spcBef>
                <a:spcAft>
                  <a:spcPct val="0"/>
                </a:spcAft>
              </a:pPr>
              <a:endParaRPr lang="fr-FR" dirty="0">
                <a:solidFill>
                  <a:schemeClr val="bg1"/>
                </a:solidFill>
              </a:endParaRPr>
            </a:p>
            <a:p>
              <a:pPr lvl="0" algn="ctr" eaLnBrk="0" fontAlgn="base" hangingPunct="0">
                <a:spcBef>
                  <a:spcPct val="0"/>
                </a:spcBef>
                <a:spcAft>
                  <a:spcPct val="0"/>
                </a:spcAft>
              </a:pPr>
              <a:r>
                <a:rPr lang="fr-FR" dirty="0">
                  <a:solidFill>
                    <a:schemeClr val="bg1"/>
                  </a:solidFill>
                </a:rPr>
                <a:t>Finalement le modèle réalisé indique que les principaux facteurs expliquant le nombre de </a:t>
              </a:r>
              <a:r>
                <a:rPr lang="fr-FR" dirty="0" err="1">
                  <a:solidFill>
                    <a:schemeClr val="bg1"/>
                  </a:solidFill>
                </a:rPr>
                <a:t>streams</a:t>
              </a:r>
              <a:r>
                <a:rPr lang="fr-FR" dirty="0">
                  <a:solidFill>
                    <a:schemeClr val="bg1"/>
                  </a:solidFill>
                </a:rPr>
                <a:t> sont l’année de sortie du morceau, la langue du morceau, l’origine de l’artiste et le nombre d’apparition dans les charts Spotify. De plus l’instrumentalité (en %) peut aussi être considérée comme un facteur permettant d’expliquer le nombre de </a:t>
              </a:r>
              <a:r>
                <a:rPr lang="fr-FR" dirty="0" err="1">
                  <a:solidFill>
                    <a:schemeClr val="bg1"/>
                  </a:solidFill>
                </a:rPr>
                <a:t>streams</a:t>
              </a:r>
              <a:r>
                <a:rPr lang="fr-FR" dirty="0">
                  <a:solidFill>
                    <a:schemeClr val="bg1"/>
                  </a:solidFill>
                </a:rPr>
                <a:t> pour un morceau.   </a:t>
              </a:r>
              <a:endParaRPr lang="fr-FR" altLang="fr-FR" dirty="0">
                <a:solidFill>
                  <a:schemeClr val="bg1"/>
                </a:solidFill>
                <a:latin typeface="Arial" panose="020B0604020202020204" pitchFamily="34" charset="0"/>
              </a:endParaRPr>
            </a:p>
            <a:p>
              <a:endParaRPr lang="fr-FR" dirty="0"/>
            </a:p>
          </p:txBody>
        </p:sp>
        <p:sp>
          <p:nvSpPr>
            <p:cNvPr id="22" name="Rectangle : coins arrondis 21">
              <a:extLst>
                <a:ext uri="{FF2B5EF4-FFF2-40B4-BE49-F238E27FC236}">
                  <a16:creationId xmlns:a16="http://schemas.microsoft.com/office/drawing/2014/main" id="{3B138EB7-3A76-9809-8CE1-5ABCA06D4FC0}"/>
                </a:ext>
              </a:extLst>
            </p:cNvPr>
            <p:cNvSpPr/>
            <p:nvPr/>
          </p:nvSpPr>
          <p:spPr>
            <a:xfrm>
              <a:off x="1644083" y="1456051"/>
              <a:ext cx="3434430"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a:t>Modèle final</a:t>
              </a:r>
              <a:endParaRPr lang="fr-FR"/>
            </a:p>
          </p:txBody>
        </p:sp>
      </p:grpSp>
    </p:spTree>
    <p:extLst>
      <p:ext uri="{BB962C8B-B14F-4D97-AF65-F5344CB8AC3E}">
        <p14:creationId xmlns:p14="http://schemas.microsoft.com/office/powerpoint/2010/main" val="3078056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6BBE58AD-61BB-CA1C-DE64-E4C09E9A21F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1E1AB5-93FC-D1C4-F5BC-9377C2921514}"/>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2AEC3DBE-FA3B-CF6F-1299-5DD01FB71D11}"/>
              </a:ext>
            </a:extLst>
          </p:cNvPr>
          <p:cNvSpPr>
            <a:spLocks noGrp="1"/>
          </p:cNvSpPr>
          <p:nvPr>
            <p:ph type="sldNum" sz="quarter" idx="12"/>
          </p:nvPr>
        </p:nvSpPr>
        <p:spPr/>
        <p:txBody>
          <a:bodyPr/>
          <a:lstStyle/>
          <a:p>
            <a:fld id="{5D5C5C60-63A0-401E-A392-47CD3E86B338}" type="slidenum">
              <a:rPr lang="fr-FR" dirty="0" smtClean="0">
                <a:solidFill>
                  <a:srgbClr val="B3B3B3"/>
                </a:solidFill>
              </a:rPr>
              <a:pPr/>
              <a:t>17</a:t>
            </a:fld>
            <a:endParaRPr lang="en-US" dirty="0">
              <a:solidFill>
                <a:srgbClr val="B3B3B3"/>
              </a:solidFill>
            </a:endParaRPr>
          </a:p>
        </p:txBody>
      </p:sp>
      <p:sp>
        <p:nvSpPr>
          <p:cNvPr id="2" name="Rectangle 1">
            <a:extLst>
              <a:ext uri="{FF2B5EF4-FFF2-40B4-BE49-F238E27FC236}">
                <a16:creationId xmlns:a16="http://schemas.microsoft.com/office/drawing/2014/main" id="{53B7B113-60A4-550C-8024-A3A6773F239B}"/>
              </a:ext>
            </a:extLst>
          </p:cNvPr>
          <p:cNvSpPr/>
          <p:nvPr/>
        </p:nvSpPr>
        <p:spPr>
          <a:xfrm>
            <a:off x="-987329" y="78537"/>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7913">
              <a:lnSpc>
                <a:spcPct val="110000"/>
              </a:lnSpc>
            </a:pPr>
            <a:r>
              <a:rPr lang="fr-FR" sz="2800" b="1" dirty="0">
                <a:solidFill>
                  <a:schemeClr val="bg1"/>
                </a:solidFill>
              </a:rPr>
              <a:t>Conclusion et perspectives</a:t>
            </a:r>
          </a:p>
        </p:txBody>
      </p:sp>
      <p:grpSp>
        <p:nvGrpSpPr>
          <p:cNvPr id="11" name="Groupe 10">
            <a:extLst>
              <a:ext uri="{FF2B5EF4-FFF2-40B4-BE49-F238E27FC236}">
                <a16:creationId xmlns:a16="http://schemas.microsoft.com/office/drawing/2014/main" id="{BDC4F5A5-945A-9147-DF80-6FB4FD61D898}"/>
              </a:ext>
            </a:extLst>
          </p:cNvPr>
          <p:cNvGrpSpPr/>
          <p:nvPr/>
        </p:nvGrpSpPr>
        <p:grpSpPr>
          <a:xfrm>
            <a:off x="11403402" y="6411284"/>
            <a:ext cx="721729" cy="324931"/>
            <a:chOff x="11353402" y="6422166"/>
            <a:chExt cx="721729" cy="324931"/>
          </a:xfrm>
        </p:grpSpPr>
        <p:sp>
          <p:nvSpPr>
            <p:cNvPr id="12" name="Bouton d’action : avant ou précédent 11">
              <a:hlinkClick r:id="" action="ppaction://hlinkshowjump?jump=nextslide" highlightClick="1"/>
              <a:extLst>
                <a:ext uri="{FF2B5EF4-FFF2-40B4-BE49-F238E27FC236}">
                  <a16:creationId xmlns:a16="http://schemas.microsoft.com/office/drawing/2014/main" id="{FE7F02D7-3B14-C454-6C61-97403BAB60DF}"/>
                </a:ext>
              </a:extLst>
            </p:cNvPr>
            <p:cNvSpPr/>
            <p:nvPr/>
          </p:nvSpPr>
          <p:spPr>
            <a:xfrm>
              <a:off x="11751131" y="6423097"/>
              <a:ext cx="324000" cy="324000"/>
            </a:xfrm>
            <a:prstGeom prst="actionButtonForwardNext">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Bouton d’action : retour ou précédent 12">
              <a:hlinkClick r:id="" action="ppaction://hlinkshowjump?jump=previousslide" highlightClick="1"/>
              <a:extLst>
                <a:ext uri="{FF2B5EF4-FFF2-40B4-BE49-F238E27FC236}">
                  <a16:creationId xmlns:a16="http://schemas.microsoft.com/office/drawing/2014/main" id="{4E106FE9-89D6-167E-C974-3F8E16711455}"/>
                </a:ext>
              </a:extLst>
            </p:cNvPr>
            <p:cNvSpPr/>
            <p:nvPr/>
          </p:nvSpPr>
          <p:spPr>
            <a:xfrm>
              <a:off x="11353402" y="6422166"/>
              <a:ext cx="324000" cy="324000"/>
            </a:xfrm>
            <a:prstGeom prst="actionButtonBackPrevious">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 name="Picture 3">
            <a:extLst>
              <a:ext uri="{FF2B5EF4-FFF2-40B4-BE49-F238E27FC236}">
                <a16:creationId xmlns:a16="http://schemas.microsoft.com/office/drawing/2014/main" id="{68F208E9-FD35-D2D8-DACA-77B12CEFB855}"/>
              </a:ext>
            </a:extLst>
          </p:cNvPr>
          <p:cNvPicPr>
            <a:picLocks noChangeAspect="1"/>
          </p:cNvPicPr>
          <p:nvPr/>
        </p:nvPicPr>
        <p:blipFill>
          <a:blip r:embed="rId2"/>
          <a:stretch>
            <a:fillRect/>
          </a:stretch>
        </p:blipFill>
        <p:spPr>
          <a:xfrm>
            <a:off x="1" y="6412442"/>
            <a:ext cx="464598" cy="451839"/>
          </a:xfrm>
          <a:prstGeom prst="rect">
            <a:avLst/>
          </a:prstGeom>
        </p:spPr>
      </p:pic>
      <p:sp>
        <p:nvSpPr>
          <p:cNvPr id="15" name="Rectangle 14">
            <a:extLst>
              <a:ext uri="{FF2B5EF4-FFF2-40B4-BE49-F238E27FC236}">
                <a16:creationId xmlns:a16="http://schemas.microsoft.com/office/drawing/2014/main" id="{05C80A16-4B38-92A6-C201-A7444B97523C}"/>
              </a:ext>
            </a:extLst>
          </p:cNvPr>
          <p:cNvSpPr/>
          <p:nvPr/>
        </p:nvSpPr>
        <p:spPr>
          <a:xfrm>
            <a:off x="9161473" y="78537"/>
            <a:ext cx="2555130" cy="1368000"/>
          </a:xfrm>
          <a:prstGeom prst="rect">
            <a:avLst/>
          </a:prstGeom>
          <a:noFill/>
          <a:ln w="28575">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000" indent="-360000">
              <a:buFont typeface="Arial" panose="020B0604020202020204" pitchFamily="34" charset="0"/>
              <a:buChar char="•"/>
            </a:pPr>
            <a:r>
              <a:rPr lang="fr-FR" sz="1000" dirty="0"/>
              <a:t>Contexte </a:t>
            </a:r>
          </a:p>
          <a:p>
            <a:pPr marL="288000" indent="-360000">
              <a:lnSpc>
                <a:spcPct val="110000"/>
              </a:lnSpc>
              <a:buFont typeface="Arial" panose="020B0604020202020204" pitchFamily="34" charset="0"/>
              <a:buChar char="•"/>
            </a:pPr>
            <a:r>
              <a:rPr lang="fr-FR" sz="1000" dirty="0"/>
              <a:t>Présentation des données</a:t>
            </a:r>
          </a:p>
          <a:p>
            <a:pPr marL="288000" indent="-360000">
              <a:lnSpc>
                <a:spcPct val="110000"/>
              </a:lnSpc>
              <a:buFont typeface="Arial" panose="020B0604020202020204" pitchFamily="34" charset="0"/>
              <a:buChar char="•"/>
            </a:pPr>
            <a:r>
              <a:rPr lang="fr-FR" sz="1000" dirty="0"/>
              <a:t>Enrichissement </a:t>
            </a:r>
          </a:p>
          <a:p>
            <a:pPr marL="288000" indent="-360000">
              <a:lnSpc>
                <a:spcPct val="110000"/>
              </a:lnSpc>
              <a:buFont typeface="Arial" panose="020B0604020202020204" pitchFamily="34" charset="0"/>
              <a:buChar char="•"/>
            </a:pPr>
            <a:r>
              <a:rPr lang="fr-FR" sz="1000" dirty="0"/>
              <a:t>Problématique</a:t>
            </a:r>
          </a:p>
          <a:p>
            <a:pPr marL="288000" indent="-360000">
              <a:lnSpc>
                <a:spcPct val="110000"/>
              </a:lnSpc>
              <a:buFont typeface="Arial" panose="020B0604020202020204" pitchFamily="34" charset="0"/>
              <a:buChar char="•"/>
            </a:pPr>
            <a:r>
              <a:rPr lang="fr-FR" sz="1000" dirty="0"/>
              <a:t>Méthodologie </a:t>
            </a:r>
          </a:p>
          <a:p>
            <a:pPr marL="288000" indent="-360000">
              <a:lnSpc>
                <a:spcPct val="110000"/>
              </a:lnSpc>
              <a:buFont typeface="Arial" panose="020B0604020202020204" pitchFamily="34" charset="0"/>
              <a:buChar char="•"/>
            </a:pPr>
            <a:r>
              <a:rPr lang="fr-FR" sz="1000" dirty="0"/>
              <a:t>Description </a:t>
            </a:r>
          </a:p>
          <a:p>
            <a:pPr marL="288000" indent="-360000">
              <a:lnSpc>
                <a:spcPct val="110000"/>
              </a:lnSpc>
              <a:buFont typeface="Arial" panose="020B0604020202020204" pitchFamily="34" charset="0"/>
              <a:buChar char="•"/>
            </a:pPr>
            <a:r>
              <a:rPr lang="fr-FR" sz="1000" dirty="0"/>
              <a:t>Modélisations</a:t>
            </a:r>
          </a:p>
          <a:p>
            <a:pPr marL="288000" indent="-360000">
              <a:lnSpc>
                <a:spcPct val="110000"/>
              </a:lnSpc>
              <a:buFont typeface="Arial" panose="020B0604020202020204" pitchFamily="34" charset="0"/>
              <a:buChar char="•"/>
            </a:pPr>
            <a:r>
              <a:rPr lang="fr-FR" sz="1000" b="1" dirty="0"/>
              <a:t>Conclusion</a:t>
            </a:r>
          </a:p>
          <a:p>
            <a:pPr marL="288000">
              <a:lnSpc>
                <a:spcPct val="110000"/>
              </a:lnSpc>
            </a:pPr>
            <a:endParaRPr lang="fr-FR" sz="200" dirty="0"/>
          </a:p>
        </p:txBody>
      </p:sp>
      <p:grpSp>
        <p:nvGrpSpPr>
          <p:cNvPr id="19" name="Groupe 18">
            <a:extLst>
              <a:ext uri="{FF2B5EF4-FFF2-40B4-BE49-F238E27FC236}">
                <a16:creationId xmlns:a16="http://schemas.microsoft.com/office/drawing/2014/main" id="{EF630557-A16B-B83A-700E-413F190CDFB0}"/>
              </a:ext>
            </a:extLst>
          </p:cNvPr>
          <p:cNvGrpSpPr/>
          <p:nvPr/>
        </p:nvGrpSpPr>
        <p:grpSpPr>
          <a:xfrm>
            <a:off x="464599" y="1018980"/>
            <a:ext cx="6557304" cy="5268698"/>
            <a:chOff x="464599" y="1018980"/>
            <a:chExt cx="6557304" cy="5268698"/>
          </a:xfrm>
        </p:grpSpPr>
        <p:sp>
          <p:nvSpPr>
            <p:cNvPr id="17" name="Rectangle : coins arrondis 16">
              <a:extLst>
                <a:ext uri="{FF2B5EF4-FFF2-40B4-BE49-F238E27FC236}">
                  <a16:creationId xmlns:a16="http://schemas.microsoft.com/office/drawing/2014/main" id="{F9042210-1BB6-DCDB-A09D-BABEDDDD9C60}"/>
                </a:ext>
              </a:extLst>
            </p:cNvPr>
            <p:cNvSpPr/>
            <p:nvPr/>
          </p:nvSpPr>
          <p:spPr>
            <a:xfrm>
              <a:off x="464599" y="1018980"/>
              <a:ext cx="6557304" cy="5268698"/>
            </a:xfrm>
            <a:prstGeom prst="roundRect">
              <a:avLst>
                <a:gd name="adj" fmla="val 24737"/>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lang="fr-FR" dirty="0">
                  <a:solidFill>
                    <a:schemeClr val="bg1"/>
                  </a:solidFill>
                </a:rPr>
                <a:t>L'objectif de cette étude était d'identifier les leviers de succès d'un morceau sur la plateforme Spotify en analysant un échantillon des 952 titres les plus écoutés en 2023. Dans un premier temps, la modélisation statistique démontre que la portée médiatique (présence dans les charts Spotify) et la dimension temporelle (année de sortie) sont les prédicteurs les plus importants du nombre de </a:t>
              </a:r>
              <a:r>
                <a:rPr lang="fr-FR" dirty="0" err="1">
                  <a:solidFill>
                    <a:schemeClr val="bg1"/>
                  </a:solidFill>
                </a:rPr>
                <a:t>streams</a:t>
              </a:r>
              <a:r>
                <a:rPr lang="fr-FR" dirty="0">
                  <a:solidFill>
                    <a:schemeClr val="bg1"/>
                  </a:solidFill>
                </a:rPr>
                <a:t>. Toutefois ce modèle peut être remis en cause pour plusieurs raisons, dans un premier temps les morceaux sur lesquels portent la modélisation sont les plus populaires de 2023. Ainsi le modèle ne permet pas réellement de prédire le succès d’un morceau peu connu ou qui va paraître. De plus, certaines années sont sous-représentées dans notre jeu de données initial pouvant introduire un biais à notre analyse.</a:t>
              </a:r>
            </a:p>
          </p:txBody>
        </p:sp>
        <p:sp>
          <p:nvSpPr>
            <p:cNvPr id="18" name="Rectangle : coins arrondis 17">
              <a:extLst>
                <a:ext uri="{FF2B5EF4-FFF2-40B4-BE49-F238E27FC236}">
                  <a16:creationId xmlns:a16="http://schemas.microsoft.com/office/drawing/2014/main" id="{C5BC3CBE-C1EE-6A67-EE8D-47B1ED6AC992}"/>
                </a:ext>
              </a:extLst>
            </p:cNvPr>
            <p:cNvSpPr/>
            <p:nvPr/>
          </p:nvSpPr>
          <p:spPr>
            <a:xfrm>
              <a:off x="2799737" y="1019036"/>
              <a:ext cx="1887027"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a:t>Conclusion</a:t>
              </a:r>
              <a:endParaRPr lang="fr-FR"/>
            </a:p>
          </p:txBody>
        </p:sp>
      </p:grpSp>
      <p:grpSp>
        <p:nvGrpSpPr>
          <p:cNvPr id="20" name="Groupe 19">
            <a:extLst>
              <a:ext uri="{FF2B5EF4-FFF2-40B4-BE49-F238E27FC236}">
                <a16:creationId xmlns:a16="http://schemas.microsoft.com/office/drawing/2014/main" id="{4B2F1A7E-B22A-B6DC-8B84-DFC7C0EC888B}"/>
              </a:ext>
            </a:extLst>
          </p:cNvPr>
          <p:cNvGrpSpPr/>
          <p:nvPr/>
        </p:nvGrpSpPr>
        <p:grpSpPr>
          <a:xfrm>
            <a:off x="7415631" y="1676360"/>
            <a:ext cx="4500324" cy="3762261"/>
            <a:chOff x="464599" y="1018979"/>
            <a:chExt cx="6557304" cy="4257096"/>
          </a:xfrm>
        </p:grpSpPr>
        <p:sp>
          <p:nvSpPr>
            <p:cNvPr id="21" name="Rectangle : coins arrondis 20">
              <a:extLst>
                <a:ext uri="{FF2B5EF4-FFF2-40B4-BE49-F238E27FC236}">
                  <a16:creationId xmlns:a16="http://schemas.microsoft.com/office/drawing/2014/main" id="{82101FE5-DED5-6734-B56A-8606DD056855}"/>
                </a:ext>
              </a:extLst>
            </p:cNvPr>
            <p:cNvSpPr/>
            <p:nvPr/>
          </p:nvSpPr>
          <p:spPr>
            <a:xfrm>
              <a:off x="464599" y="1018979"/>
              <a:ext cx="6557304" cy="4257096"/>
            </a:xfrm>
            <a:prstGeom prst="roundRect">
              <a:avLst>
                <a:gd name="adj" fmla="val 24737"/>
              </a:avLst>
            </a:prstGeom>
            <a:noFill/>
            <a:ln w="57150">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endParaRPr lang="fr-FR" dirty="0">
                <a:solidFill>
                  <a:schemeClr val="bg1"/>
                </a:solidFill>
              </a:endParaRPr>
            </a:p>
            <a:p>
              <a:pPr lvl="0" algn="ctr" eaLnBrk="0" fontAlgn="base" hangingPunct="0">
                <a:spcBef>
                  <a:spcPct val="0"/>
                </a:spcBef>
                <a:spcAft>
                  <a:spcPct val="0"/>
                </a:spcAft>
              </a:pPr>
              <a:endParaRPr lang="fr-FR" dirty="0">
                <a:solidFill>
                  <a:schemeClr val="bg1"/>
                </a:solidFill>
              </a:endParaRPr>
            </a:p>
            <a:p>
              <a:pPr lvl="0" algn="ctr" eaLnBrk="0" fontAlgn="base" hangingPunct="0">
                <a:spcBef>
                  <a:spcPct val="0"/>
                </a:spcBef>
                <a:spcAft>
                  <a:spcPct val="0"/>
                </a:spcAft>
              </a:pPr>
              <a:endParaRPr lang="fr-FR" dirty="0">
                <a:solidFill>
                  <a:schemeClr val="bg1"/>
                </a:solidFill>
              </a:endParaRPr>
            </a:p>
            <a:p>
              <a:pPr lvl="0" algn="ctr" eaLnBrk="0" fontAlgn="base" hangingPunct="0">
                <a:spcBef>
                  <a:spcPct val="0"/>
                </a:spcBef>
                <a:spcAft>
                  <a:spcPct val="0"/>
                </a:spcAft>
              </a:pPr>
              <a:r>
                <a:rPr lang="fr-FR" dirty="0">
                  <a:solidFill>
                    <a:schemeClr val="bg1"/>
                  </a:solidFill>
                </a:rPr>
                <a:t>Cette étude ouvre la voie à plusieurs axes de développement pour la prédiction du succès d’un morceau. Enrichir le jeu de données avec des indicateurs de viralité provenant de  réseaux sociaux (</a:t>
              </a:r>
              <a:r>
                <a:rPr lang="fr-FR" dirty="0" err="1">
                  <a:solidFill>
                    <a:schemeClr val="bg1"/>
                  </a:solidFill>
                </a:rPr>
                <a:t>TikTok</a:t>
              </a:r>
              <a:r>
                <a:rPr lang="fr-FR" dirty="0">
                  <a:solidFill>
                    <a:schemeClr val="bg1"/>
                  </a:solidFill>
                </a:rPr>
                <a:t>, Instagram…), dont l'influence est très importante aujourd’hui. Développer des modèles spécifiques par genre musical, car les facteurs de succès d’un morceau diffèrent fortement selon le genre d’un morceau.</a:t>
              </a:r>
            </a:p>
            <a:p>
              <a:pPr lvl="0" algn="ctr" eaLnBrk="0" fontAlgn="base" hangingPunct="0">
                <a:spcBef>
                  <a:spcPct val="0"/>
                </a:spcBef>
                <a:spcAft>
                  <a:spcPct val="0"/>
                </a:spcAft>
              </a:pPr>
              <a:endParaRPr lang="fr-FR">
                <a:solidFill>
                  <a:schemeClr val="bg1"/>
                </a:solidFill>
              </a:endParaRPr>
            </a:p>
            <a:p>
              <a:pPr lvl="0" algn="ctr" eaLnBrk="0" fontAlgn="base" hangingPunct="0">
                <a:spcBef>
                  <a:spcPct val="0"/>
                </a:spcBef>
                <a:spcAft>
                  <a:spcPct val="0"/>
                </a:spcAft>
              </a:pPr>
              <a:endParaRPr lang="fr-FR">
                <a:solidFill>
                  <a:schemeClr val="bg1"/>
                </a:solidFill>
              </a:endParaRPr>
            </a:p>
          </p:txBody>
        </p:sp>
        <p:sp>
          <p:nvSpPr>
            <p:cNvPr id="22" name="Rectangle : coins arrondis 21">
              <a:extLst>
                <a:ext uri="{FF2B5EF4-FFF2-40B4-BE49-F238E27FC236}">
                  <a16:creationId xmlns:a16="http://schemas.microsoft.com/office/drawing/2014/main" id="{CD606889-8E00-CA52-74CF-66A831F7B2E2}"/>
                </a:ext>
              </a:extLst>
            </p:cNvPr>
            <p:cNvSpPr/>
            <p:nvPr/>
          </p:nvSpPr>
          <p:spPr>
            <a:xfrm>
              <a:off x="2021851" y="1018980"/>
              <a:ext cx="3442798" cy="396046"/>
            </a:xfrm>
            <a:prstGeom prst="roundRect">
              <a:avLst>
                <a:gd name="adj" fmla="val 50000"/>
              </a:avLst>
            </a:prstGeom>
            <a:solidFill>
              <a:srgbClr val="2EBD59"/>
            </a:solidFill>
            <a:ln>
              <a:solidFill>
                <a:srgbClr val="2EBD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a:t>Perspectives</a:t>
              </a:r>
              <a:endParaRPr lang="fr-FR"/>
            </a:p>
          </p:txBody>
        </p:sp>
      </p:grpSp>
    </p:spTree>
    <p:extLst>
      <p:ext uri="{BB962C8B-B14F-4D97-AF65-F5344CB8AC3E}">
        <p14:creationId xmlns:p14="http://schemas.microsoft.com/office/powerpoint/2010/main" val="3218712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B62DF199-0D66-D2D2-A8D7-62C1A313678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C37B885-9844-C18A-2986-0FB77E70F7E6}"/>
              </a:ext>
            </a:extLst>
          </p:cNvPr>
          <p:cNvSpPr>
            <a:spLocks noGrp="1"/>
          </p:cNvSpPr>
          <p:nvPr>
            <p:ph type="ftr" sz="quarter" idx="11"/>
          </p:nvPr>
        </p:nvSpPr>
        <p:spPr/>
        <p:txBody>
          <a:bodyPr/>
          <a:lstStyle/>
          <a:p>
            <a:r>
              <a:rPr lang="en-US" dirty="0">
                <a:solidFill>
                  <a:srgbClr val="B3B3B3"/>
                </a:solidFill>
              </a:rPr>
              <a:t>PENVEN Carl | PETIT Sevan | RONARC'H Joshua | TIYAL Taha</a:t>
            </a:r>
          </a:p>
        </p:txBody>
      </p:sp>
      <p:sp>
        <p:nvSpPr>
          <p:cNvPr id="5" name="Slide Number Placeholder 4">
            <a:extLst>
              <a:ext uri="{FF2B5EF4-FFF2-40B4-BE49-F238E27FC236}">
                <a16:creationId xmlns:a16="http://schemas.microsoft.com/office/drawing/2014/main" id="{F75E22E9-00B5-B92A-DAF9-D9304C3FF278}"/>
              </a:ext>
            </a:extLst>
          </p:cNvPr>
          <p:cNvSpPr>
            <a:spLocks noGrp="1"/>
          </p:cNvSpPr>
          <p:nvPr>
            <p:ph type="sldNum" sz="quarter" idx="12"/>
          </p:nvPr>
        </p:nvSpPr>
        <p:spPr/>
        <p:txBody>
          <a:bodyPr/>
          <a:lstStyle/>
          <a:p>
            <a:fld id="{5D5C5C60-63A0-401E-A392-47CD3E86B338}" type="slidenum">
              <a:rPr lang="fr-FR" dirty="0" smtClean="0">
                <a:solidFill>
                  <a:srgbClr val="B3B3B3"/>
                </a:solidFill>
              </a:rPr>
              <a:t>18</a:t>
            </a:fld>
            <a:endParaRPr lang="en-US">
              <a:solidFill>
                <a:srgbClr val="B3B3B3"/>
              </a:solidFill>
            </a:endParaRPr>
          </a:p>
        </p:txBody>
      </p:sp>
      <p:sp>
        <p:nvSpPr>
          <p:cNvPr id="2" name="Rectangle 1">
            <a:extLst>
              <a:ext uri="{FF2B5EF4-FFF2-40B4-BE49-F238E27FC236}">
                <a16:creationId xmlns:a16="http://schemas.microsoft.com/office/drawing/2014/main" id="{1D89AC26-75F9-983F-9C07-50F536F7B926}"/>
              </a:ext>
            </a:extLst>
          </p:cNvPr>
          <p:cNvSpPr/>
          <p:nvPr/>
        </p:nvSpPr>
        <p:spPr>
          <a:xfrm>
            <a:off x="1417414" y="3103631"/>
            <a:ext cx="9357173" cy="650738"/>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0000"/>
              </a:lnSpc>
            </a:pPr>
            <a:r>
              <a:rPr lang="fr-FR" sz="2800" b="1" dirty="0">
                <a:solidFill>
                  <a:schemeClr val="bg1"/>
                </a:solidFill>
              </a:rPr>
              <a:t>Merci pour votre attention !</a:t>
            </a:r>
          </a:p>
        </p:txBody>
      </p:sp>
      <p:pic>
        <p:nvPicPr>
          <p:cNvPr id="6" name="Picture 3">
            <a:extLst>
              <a:ext uri="{FF2B5EF4-FFF2-40B4-BE49-F238E27FC236}">
                <a16:creationId xmlns:a16="http://schemas.microsoft.com/office/drawing/2014/main" id="{3075FAAD-2CA6-5D79-46DA-47D567232116}"/>
              </a:ext>
            </a:extLst>
          </p:cNvPr>
          <p:cNvPicPr>
            <a:picLocks noChangeAspect="1"/>
          </p:cNvPicPr>
          <p:nvPr/>
        </p:nvPicPr>
        <p:blipFill>
          <a:blip r:embed="rId2"/>
          <a:stretch>
            <a:fillRect/>
          </a:stretch>
        </p:blipFill>
        <p:spPr>
          <a:xfrm>
            <a:off x="1" y="6412442"/>
            <a:ext cx="464598" cy="451839"/>
          </a:xfrm>
          <a:prstGeom prst="rect">
            <a:avLst/>
          </a:prstGeom>
        </p:spPr>
      </p:pic>
    </p:spTree>
    <p:extLst>
      <p:ext uri="{BB962C8B-B14F-4D97-AF65-F5344CB8AC3E}">
        <p14:creationId xmlns:p14="http://schemas.microsoft.com/office/powerpoint/2010/main" val="2776147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76B552DD-F78D-BDF0-03A4-5D5C5914373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59542AA-018F-7194-501E-00DAF14EDEEA}"/>
              </a:ext>
            </a:extLst>
          </p:cNvPr>
          <p:cNvSpPr/>
          <p:nvPr/>
        </p:nvSpPr>
        <p:spPr>
          <a:xfrm>
            <a:off x="179900" y="748779"/>
            <a:ext cx="11752565" cy="5395751"/>
          </a:xfrm>
          <a:prstGeom prst="rect">
            <a:avLst/>
          </a:prstGeom>
          <a:noFill/>
          <a:ln w="57150">
            <a:solidFill>
              <a:srgbClr val="1DB9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1276458C-B48E-9609-3235-5D6AA9559E9D}"/>
              </a:ext>
            </a:extLst>
          </p:cNvPr>
          <p:cNvSpPr/>
          <p:nvPr/>
        </p:nvSpPr>
        <p:spPr>
          <a:xfrm>
            <a:off x="-909039" y="41158"/>
            <a:ext cx="9357173" cy="456422"/>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6325">
              <a:lnSpc>
                <a:spcPct val="110000"/>
              </a:lnSpc>
            </a:pPr>
            <a:r>
              <a:rPr lang="fr-FR" sz="2800" b="1" dirty="0">
                <a:solidFill>
                  <a:schemeClr val="bg1"/>
                </a:solidFill>
              </a:rPr>
              <a:t>Annexe 1</a:t>
            </a:r>
          </a:p>
        </p:txBody>
      </p:sp>
      <p:graphicFrame>
        <p:nvGraphicFramePr>
          <p:cNvPr id="6" name="Tableau 5">
            <a:extLst>
              <a:ext uri="{FF2B5EF4-FFF2-40B4-BE49-F238E27FC236}">
                <a16:creationId xmlns:a16="http://schemas.microsoft.com/office/drawing/2014/main" id="{0ADA046E-A1F7-E35F-B557-3BFDEEB7F3F1}"/>
              </a:ext>
            </a:extLst>
          </p:cNvPr>
          <p:cNvGraphicFramePr>
            <a:graphicFrameLocks noGrp="1"/>
          </p:cNvGraphicFramePr>
          <p:nvPr>
            <p:extLst>
              <p:ext uri="{D42A27DB-BD31-4B8C-83A1-F6EECF244321}">
                <p14:modId xmlns:p14="http://schemas.microsoft.com/office/powerpoint/2010/main" val="3483320806"/>
              </p:ext>
            </p:extLst>
          </p:nvPr>
        </p:nvGraphicFramePr>
        <p:xfrm>
          <a:off x="456328" y="1174977"/>
          <a:ext cx="5490464" cy="4876125"/>
        </p:xfrm>
        <a:graphic>
          <a:graphicData uri="http://schemas.openxmlformats.org/drawingml/2006/table">
            <a:tbl>
              <a:tblPr firstRow="1" firstCol="1" bandRow="1">
                <a:tableStyleId>{5C22544A-7EE6-4342-B048-85BDC9FD1C3A}</a:tableStyleId>
              </a:tblPr>
              <a:tblGrid>
                <a:gridCol w="1332325">
                  <a:extLst>
                    <a:ext uri="{9D8B030D-6E8A-4147-A177-3AD203B41FA5}">
                      <a16:colId xmlns:a16="http://schemas.microsoft.com/office/drawing/2014/main" val="405006172"/>
                    </a:ext>
                  </a:extLst>
                </a:gridCol>
                <a:gridCol w="1182673">
                  <a:extLst>
                    <a:ext uri="{9D8B030D-6E8A-4147-A177-3AD203B41FA5}">
                      <a16:colId xmlns:a16="http://schemas.microsoft.com/office/drawing/2014/main" val="2679076608"/>
                    </a:ext>
                  </a:extLst>
                </a:gridCol>
                <a:gridCol w="2975466">
                  <a:extLst>
                    <a:ext uri="{9D8B030D-6E8A-4147-A177-3AD203B41FA5}">
                      <a16:colId xmlns:a16="http://schemas.microsoft.com/office/drawing/2014/main" val="814119336"/>
                    </a:ext>
                  </a:extLst>
                </a:gridCol>
              </a:tblGrid>
              <a:tr h="321807">
                <a:tc>
                  <a:txBody>
                    <a:bodyPr/>
                    <a:lstStyle/>
                    <a:p>
                      <a:pPr algn="ctr">
                        <a:lnSpc>
                          <a:spcPct val="115000"/>
                        </a:lnSpc>
                        <a:spcAft>
                          <a:spcPts val="800"/>
                        </a:spcAft>
                        <a:buNone/>
                      </a:pPr>
                      <a:r>
                        <a:rPr lang="fr-FR" sz="700" kern="100" dirty="0">
                          <a:effectLst/>
                        </a:rPr>
                        <a:t>Nom de la variable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lnSpc>
                          <a:spcPct val="115000"/>
                        </a:lnSpc>
                        <a:spcAft>
                          <a:spcPts val="800"/>
                        </a:spcAft>
                        <a:buNone/>
                      </a:pPr>
                      <a:r>
                        <a:rPr lang="fr-FR" sz="700" kern="100" dirty="0">
                          <a:effectLst/>
                        </a:rPr>
                        <a:t>Type de variable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lnSpc>
                          <a:spcPct val="115000"/>
                        </a:lnSpc>
                        <a:spcAft>
                          <a:spcPts val="800"/>
                        </a:spcAft>
                        <a:buNone/>
                      </a:pPr>
                      <a:r>
                        <a:rPr lang="fr-FR" sz="700" kern="100" dirty="0">
                          <a:effectLst/>
                        </a:rPr>
                        <a:t>Description de la variable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79648479"/>
                  </a:ext>
                </a:extLst>
              </a:tr>
              <a:tr h="321807">
                <a:tc>
                  <a:txBody>
                    <a:bodyPr/>
                    <a:lstStyle/>
                    <a:p>
                      <a:pPr algn="ctr">
                        <a:lnSpc>
                          <a:spcPct val="115000"/>
                        </a:lnSpc>
                        <a:spcAft>
                          <a:spcPts val="800"/>
                        </a:spcAft>
                        <a:buNone/>
                      </a:pPr>
                      <a:r>
                        <a:rPr lang="fr-FR" sz="700" kern="100" dirty="0" err="1">
                          <a:effectLst/>
                        </a:rPr>
                        <a:t>streams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dirty="0">
                          <a:effectLst/>
                        </a:rPr>
                        <a:t>Quantitative discrète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Nombre de </a:t>
                      </a:r>
                      <a:r>
                        <a:rPr lang="fr-FR" sz="700" kern="100" dirty="0" err="1">
                          <a:effectLst/>
                        </a:rPr>
                        <a:t>streams</a:t>
                      </a:r>
                      <a:r>
                        <a:rPr lang="fr-FR" sz="700" kern="100" dirty="0">
                          <a:effectLst/>
                        </a:rPr>
                        <a:t> total de la musique sur Spotify</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08974609"/>
                  </a:ext>
                </a:extLst>
              </a:tr>
              <a:tr h="321807">
                <a:tc>
                  <a:txBody>
                    <a:bodyPr/>
                    <a:lstStyle/>
                    <a:p>
                      <a:pPr algn="ctr">
                        <a:lnSpc>
                          <a:spcPct val="115000"/>
                        </a:lnSpc>
                        <a:spcAft>
                          <a:spcPts val="800"/>
                        </a:spcAft>
                        <a:buNone/>
                      </a:pPr>
                      <a:r>
                        <a:rPr lang="fr-FR" sz="700" kern="100" dirty="0" err="1">
                          <a:effectLst/>
                        </a:rPr>
                        <a:t>artist_count</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dirty="0">
                          <a:effectLst/>
                        </a:rPr>
                        <a:t>Quantitative discrète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Nombre d’artistes ayant participé à la musique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4117481968"/>
                  </a:ext>
                </a:extLst>
              </a:tr>
              <a:tr h="486796">
                <a:tc>
                  <a:txBody>
                    <a:bodyPr/>
                    <a:lstStyle/>
                    <a:p>
                      <a:pPr algn="ctr">
                        <a:lnSpc>
                          <a:spcPct val="115000"/>
                        </a:lnSpc>
                        <a:spcAft>
                          <a:spcPts val="800"/>
                        </a:spcAft>
                        <a:buNone/>
                      </a:pPr>
                      <a:r>
                        <a:rPr lang="fr-FR" sz="700" kern="100" dirty="0" err="1">
                          <a:effectLst/>
                        </a:rPr>
                        <a:t>in_spotify_playlists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dirty="0">
                          <a:effectLst/>
                        </a:rPr>
                        <a:t>Quantitative discrète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Nombre total de playlists Spotify dans lesquelles la chanson est incluse (comptage des apparitions dans des playlists publiques)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38424553"/>
                  </a:ext>
                </a:extLst>
              </a:tr>
              <a:tr h="816772">
                <a:tc>
                  <a:txBody>
                    <a:bodyPr/>
                    <a:lstStyle/>
                    <a:p>
                      <a:pPr algn="ctr">
                        <a:lnSpc>
                          <a:spcPct val="115000"/>
                        </a:lnSpc>
                        <a:spcAft>
                          <a:spcPts val="800"/>
                        </a:spcAft>
                        <a:buNone/>
                      </a:pPr>
                      <a:r>
                        <a:rPr lang="fr-FR" sz="700" kern="100" dirty="0" err="1">
                          <a:effectLst/>
                        </a:rPr>
                        <a:t>in_spotify_charts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dirty="0">
                          <a:effectLst/>
                        </a:rPr>
                        <a:t>Quantitative discrète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a:lnSpc>
                          <a:spcPct val="115000"/>
                        </a:lnSpc>
                        <a:spcAft>
                          <a:spcPts val="800"/>
                        </a:spcAft>
                        <a:buNone/>
                      </a:pPr>
                      <a:r>
                        <a:rPr lang="fr-FR" sz="700" kern="100" dirty="0">
                          <a:effectLst/>
                        </a:rPr>
                        <a:t>Nombre de classements Spotify (charts, généralement par pays ou région) dans lesquels la chanson apparaît. Une valeur de 0 indique que la chanson n’est présente dans aucun classement.</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240738984"/>
                  </a:ext>
                </a:extLst>
              </a:tr>
              <a:tr h="486796">
                <a:tc>
                  <a:txBody>
                    <a:bodyPr/>
                    <a:lstStyle/>
                    <a:p>
                      <a:pPr algn="ctr">
                        <a:lnSpc>
                          <a:spcPct val="115000"/>
                        </a:lnSpc>
                        <a:spcAft>
                          <a:spcPts val="800"/>
                        </a:spcAft>
                        <a:buNone/>
                      </a:pPr>
                      <a:r>
                        <a:rPr lang="fr-FR" sz="700" kern="100" dirty="0" err="1">
                          <a:effectLst/>
                        </a:rPr>
                        <a:t>in_apple_playlists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discrète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Nombre total de playlists Apple dans lesquelles la chanson est incluse (comptage des apparitions dans des playlists publiques)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82135783"/>
                  </a:ext>
                </a:extLst>
              </a:tr>
              <a:tr h="816772">
                <a:tc>
                  <a:txBody>
                    <a:bodyPr/>
                    <a:lstStyle/>
                    <a:p>
                      <a:pPr algn="ctr">
                        <a:lnSpc>
                          <a:spcPct val="115000"/>
                        </a:lnSpc>
                        <a:spcAft>
                          <a:spcPts val="800"/>
                        </a:spcAft>
                        <a:buNone/>
                      </a:pPr>
                      <a:r>
                        <a:rPr lang="fr-FR" sz="700" kern="100" dirty="0" err="1">
                          <a:effectLst/>
                        </a:rPr>
                        <a:t>in_apple_charts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discrète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Nombre de classements Apple (charts, généralement par pays ou région) dans lesquels la chanson apparaît. Une valeur de 0 indique que la chanson n’est présente dans aucun classement.</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3923522806"/>
                  </a:ext>
                </a:extLst>
              </a:tr>
              <a:tr h="486796">
                <a:tc>
                  <a:txBody>
                    <a:bodyPr/>
                    <a:lstStyle/>
                    <a:p>
                      <a:pPr algn="ctr">
                        <a:lnSpc>
                          <a:spcPct val="115000"/>
                        </a:lnSpc>
                        <a:spcAft>
                          <a:spcPts val="800"/>
                        </a:spcAft>
                        <a:buNone/>
                      </a:pPr>
                      <a:r>
                        <a:rPr lang="fr-FR" sz="700" kern="100" dirty="0" err="1">
                          <a:effectLst/>
                        </a:rPr>
                        <a:t>in_deezer_playlists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discrète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Nombre total de playlists Deezer dans lesquelles la chanson est incluse (comptage des apparitions dans des playlists publiques)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73653868"/>
                  </a:ext>
                </a:extLst>
              </a:tr>
              <a:tr h="816772">
                <a:tc>
                  <a:txBody>
                    <a:bodyPr/>
                    <a:lstStyle/>
                    <a:p>
                      <a:pPr algn="ctr">
                        <a:lnSpc>
                          <a:spcPct val="115000"/>
                        </a:lnSpc>
                        <a:spcAft>
                          <a:spcPts val="800"/>
                        </a:spcAft>
                        <a:buNone/>
                      </a:pPr>
                      <a:r>
                        <a:rPr lang="fr-FR" sz="700" kern="100" dirty="0" err="1">
                          <a:effectLst/>
                        </a:rPr>
                        <a:t>in_deezer_charts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discrète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Nombre de classements Deezer (charts, généralement par pays ou région) dans lesquels la chanson apparaît. Une valeur de 0 indique que la chanson n’est présente dans aucun classement.</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1122" marR="4112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457791143"/>
                  </a:ext>
                </a:extLst>
              </a:tr>
            </a:tbl>
          </a:graphicData>
        </a:graphic>
      </p:graphicFrame>
      <p:sp>
        <p:nvSpPr>
          <p:cNvPr id="7" name="Rectangle 6">
            <a:extLst>
              <a:ext uri="{FF2B5EF4-FFF2-40B4-BE49-F238E27FC236}">
                <a16:creationId xmlns:a16="http://schemas.microsoft.com/office/drawing/2014/main" id="{0AF2F477-3B40-DEC3-1087-0AF326A0B90C}"/>
              </a:ext>
            </a:extLst>
          </p:cNvPr>
          <p:cNvSpPr/>
          <p:nvPr/>
        </p:nvSpPr>
        <p:spPr>
          <a:xfrm>
            <a:off x="179899" y="724194"/>
            <a:ext cx="11782059" cy="409907"/>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358775">
              <a:lnSpc>
                <a:spcPct val="110000"/>
              </a:lnSpc>
            </a:pPr>
            <a:r>
              <a:rPr lang="fr-FR" sz="2400" b="1" dirty="0">
                <a:solidFill>
                  <a:schemeClr val="bg1"/>
                </a:solidFill>
              </a:rPr>
              <a:t>DICTIONNAIRE DES DONNÉES</a:t>
            </a:r>
          </a:p>
        </p:txBody>
      </p:sp>
      <p:graphicFrame>
        <p:nvGraphicFramePr>
          <p:cNvPr id="8" name="Tableau 7">
            <a:extLst>
              <a:ext uri="{FF2B5EF4-FFF2-40B4-BE49-F238E27FC236}">
                <a16:creationId xmlns:a16="http://schemas.microsoft.com/office/drawing/2014/main" id="{ACC36D0B-F7B1-3FA9-0857-299FAE781D4A}"/>
              </a:ext>
            </a:extLst>
          </p:cNvPr>
          <p:cNvGraphicFramePr>
            <a:graphicFrameLocks noGrp="1"/>
          </p:cNvGraphicFramePr>
          <p:nvPr>
            <p:extLst>
              <p:ext uri="{D42A27DB-BD31-4B8C-83A1-F6EECF244321}">
                <p14:modId xmlns:p14="http://schemas.microsoft.com/office/powerpoint/2010/main" val="876780959"/>
              </p:ext>
            </p:extLst>
          </p:nvPr>
        </p:nvGraphicFramePr>
        <p:xfrm>
          <a:off x="6229619" y="1168288"/>
          <a:ext cx="5534552" cy="4878001"/>
        </p:xfrm>
        <a:graphic>
          <a:graphicData uri="http://schemas.openxmlformats.org/drawingml/2006/table">
            <a:tbl>
              <a:tblPr firstRow="1" firstCol="1" bandRow="1">
                <a:tableStyleId>{5C22544A-7EE6-4342-B048-85BDC9FD1C3A}</a:tableStyleId>
              </a:tblPr>
              <a:tblGrid>
                <a:gridCol w="1343024">
                  <a:extLst>
                    <a:ext uri="{9D8B030D-6E8A-4147-A177-3AD203B41FA5}">
                      <a16:colId xmlns:a16="http://schemas.microsoft.com/office/drawing/2014/main" val="2374110197"/>
                    </a:ext>
                  </a:extLst>
                </a:gridCol>
                <a:gridCol w="1192170">
                  <a:extLst>
                    <a:ext uri="{9D8B030D-6E8A-4147-A177-3AD203B41FA5}">
                      <a16:colId xmlns:a16="http://schemas.microsoft.com/office/drawing/2014/main" val="3991359552"/>
                    </a:ext>
                  </a:extLst>
                </a:gridCol>
                <a:gridCol w="2999358">
                  <a:extLst>
                    <a:ext uri="{9D8B030D-6E8A-4147-A177-3AD203B41FA5}">
                      <a16:colId xmlns:a16="http://schemas.microsoft.com/office/drawing/2014/main" val="784707541"/>
                    </a:ext>
                  </a:extLst>
                </a:gridCol>
              </a:tblGrid>
              <a:tr h="667659">
                <a:tc>
                  <a:txBody>
                    <a:bodyPr/>
                    <a:lstStyle/>
                    <a:p>
                      <a:pPr algn="ctr">
                        <a:lnSpc>
                          <a:spcPct val="115000"/>
                        </a:lnSpc>
                        <a:spcAft>
                          <a:spcPts val="800"/>
                        </a:spcAft>
                        <a:buNone/>
                      </a:pPr>
                      <a:r>
                        <a:rPr lang="fr-FR" sz="700" kern="100" dirty="0" err="1">
                          <a:effectLst/>
                        </a:rPr>
                        <a:t>in_shazam_charts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b="0" kern="100" dirty="0">
                          <a:solidFill>
                            <a:schemeClr val="tx1"/>
                          </a:solidFill>
                          <a:effectLst/>
                        </a:rPr>
                        <a:t>Quantitative discrète</a:t>
                      </a:r>
                      <a:endParaRPr lang="fr-FR" sz="700" b="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b="0" kern="100" dirty="0">
                          <a:solidFill>
                            <a:schemeClr val="dk1"/>
                          </a:solidFill>
                          <a:effectLst/>
                          <a:latin typeface="+mn-lt"/>
                          <a:ea typeface="+mn-ea"/>
                          <a:cs typeface="+mn-cs"/>
                        </a:rPr>
                        <a:t>Nombre de classements </a:t>
                      </a:r>
                      <a:r>
                        <a:rPr lang="fr-FR" sz="700" b="0" kern="100" dirty="0" err="1">
                          <a:solidFill>
                            <a:schemeClr val="dk1"/>
                          </a:solidFill>
                          <a:effectLst/>
                          <a:latin typeface="+mn-lt"/>
                          <a:ea typeface="+mn-ea"/>
                          <a:cs typeface="+mn-cs"/>
                        </a:rPr>
                        <a:t>Shazam</a:t>
                      </a:r>
                      <a:r>
                        <a:rPr lang="fr-FR" sz="700" b="0" kern="100" dirty="0">
                          <a:solidFill>
                            <a:schemeClr val="dk1"/>
                          </a:solidFill>
                          <a:effectLst/>
                          <a:latin typeface="+mn-lt"/>
                          <a:ea typeface="+mn-ea"/>
                          <a:cs typeface="+mn-cs"/>
                        </a:rPr>
                        <a:t> (charts, généralement par pays ou région) dans lesquels la chanson apparaît. Une valeur de 0 indique que la chanson n’est présente dans aucun classement.</a:t>
                      </a:r>
                    </a:p>
                  </a:txBody>
                  <a:tcPr marL="40301" marR="40301"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2512068"/>
                  </a:ext>
                </a:extLst>
              </a:tr>
              <a:tr h="667659">
                <a:tc>
                  <a:txBody>
                    <a:bodyPr/>
                    <a:lstStyle/>
                    <a:p>
                      <a:pPr algn="ctr">
                        <a:lnSpc>
                          <a:spcPct val="115000"/>
                        </a:lnSpc>
                        <a:spcAft>
                          <a:spcPts val="800"/>
                        </a:spcAft>
                        <a:buNone/>
                      </a:pPr>
                      <a:r>
                        <a:rPr lang="fr-FR" sz="700" kern="100" dirty="0">
                          <a:effectLst/>
                        </a:rPr>
                        <a:t>Bpm</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dirty="0">
                          <a:effectLst/>
                        </a:rPr>
                        <a:t>Quantitative continue (mais discrétisée dans le jeu de données)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Beat (pulsation musicale) par minute, une mesure du tempo de la musique. Fort BPM : musique rapide, faible BPM : musique plus lente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590680704"/>
                  </a:ext>
                </a:extLst>
              </a:tr>
              <a:tr h="263057">
                <a:tc>
                  <a:txBody>
                    <a:bodyPr/>
                    <a:lstStyle/>
                    <a:p>
                      <a:pPr algn="ctr">
                        <a:lnSpc>
                          <a:spcPct val="115000"/>
                        </a:lnSpc>
                        <a:spcAft>
                          <a:spcPts val="800"/>
                        </a:spcAft>
                        <a:buNone/>
                      </a:pPr>
                      <a:r>
                        <a:rPr lang="fr-FR" sz="700" kern="100" dirty="0" err="1">
                          <a:effectLst/>
                        </a:rPr>
                        <a:t>danceability</a:t>
                      </a:r>
                      <a:r>
                        <a:rPr lang="fr-FR" sz="700" kern="100" dirty="0">
                          <a:effectLst/>
                        </a:rPr>
                        <a:t>_%</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continue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Pourcentage indiquant à quel point la chanson est adaptée à la danse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29248010"/>
                  </a:ext>
                </a:extLst>
              </a:tr>
              <a:tr h="344649">
                <a:tc>
                  <a:txBody>
                    <a:bodyPr/>
                    <a:lstStyle/>
                    <a:p>
                      <a:pPr algn="ctr">
                        <a:lnSpc>
                          <a:spcPct val="115000"/>
                        </a:lnSpc>
                        <a:spcAft>
                          <a:spcPts val="800"/>
                        </a:spcAft>
                        <a:buNone/>
                      </a:pPr>
                      <a:r>
                        <a:rPr lang="fr-FR" sz="700" kern="100">
                          <a:effectLst/>
                        </a:rPr>
                        <a:t>valence_%</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dirty="0">
                          <a:effectLst/>
                        </a:rPr>
                        <a:t>Quantitative continue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Positivité du contenu musical de la chanson (ambiance joyeuse vs. triste)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2487966271"/>
                  </a:ext>
                </a:extLst>
              </a:tr>
              <a:tr h="263057">
                <a:tc>
                  <a:txBody>
                    <a:bodyPr/>
                    <a:lstStyle/>
                    <a:p>
                      <a:pPr algn="ctr">
                        <a:lnSpc>
                          <a:spcPct val="115000"/>
                        </a:lnSpc>
                        <a:spcAft>
                          <a:spcPts val="800"/>
                        </a:spcAft>
                        <a:buNone/>
                      </a:pPr>
                      <a:r>
                        <a:rPr lang="fr-FR" sz="700" kern="100" dirty="0" err="1">
                          <a:effectLst/>
                        </a:rPr>
                        <a:t>energy</a:t>
                      </a:r>
                      <a:r>
                        <a:rPr lang="fr-FR" sz="700" kern="100" dirty="0">
                          <a:effectLst/>
                        </a:rPr>
                        <a:t>_%</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continue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Niveau perçu d’énergie de la chanson</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639611"/>
                  </a:ext>
                </a:extLst>
              </a:tr>
              <a:tr h="263057">
                <a:tc>
                  <a:txBody>
                    <a:bodyPr/>
                    <a:lstStyle/>
                    <a:p>
                      <a:pPr algn="ctr">
                        <a:lnSpc>
                          <a:spcPct val="115000"/>
                        </a:lnSpc>
                        <a:spcAft>
                          <a:spcPts val="800"/>
                        </a:spcAft>
                        <a:buNone/>
                      </a:pPr>
                      <a:r>
                        <a:rPr lang="fr-FR" sz="700" kern="100" dirty="0" err="1">
                          <a:effectLst/>
                        </a:rPr>
                        <a:t>acousticness</a:t>
                      </a:r>
                      <a:r>
                        <a:rPr lang="fr-FR" sz="700" kern="100" dirty="0">
                          <a:effectLst/>
                        </a:rPr>
                        <a:t>_%</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continue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Proportion de son acoustique dans la chanson</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728737532"/>
                  </a:ext>
                </a:extLst>
              </a:tr>
              <a:tr h="263057">
                <a:tc>
                  <a:txBody>
                    <a:bodyPr/>
                    <a:lstStyle/>
                    <a:p>
                      <a:pPr algn="ctr">
                        <a:lnSpc>
                          <a:spcPct val="115000"/>
                        </a:lnSpc>
                        <a:spcAft>
                          <a:spcPts val="800"/>
                        </a:spcAft>
                        <a:buNone/>
                      </a:pPr>
                      <a:r>
                        <a:rPr lang="fr-FR" sz="700" kern="100" dirty="0" err="1">
                          <a:effectLst/>
                        </a:rPr>
                        <a:t>instrumentalness</a:t>
                      </a:r>
                      <a:r>
                        <a:rPr lang="fr-FR" sz="700" kern="100" dirty="0">
                          <a:effectLst/>
                        </a:rPr>
                        <a:t>_%</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continue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Proportion de contenu instrumental dans la chanson</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95292120"/>
                  </a:ext>
                </a:extLst>
              </a:tr>
              <a:tr h="263057">
                <a:tc>
                  <a:txBody>
                    <a:bodyPr/>
                    <a:lstStyle/>
                    <a:p>
                      <a:pPr algn="ctr">
                        <a:lnSpc>
                          <a:spcPct val="115000"/>
                        </a:lnSpc>
                        <a:spcAft>
                          <a:spcPts val="800"/>
                        </a:spcAft>
                        <a:buNone/>
                      </a:pPr>
                      <a:r>
                        <a:rPr lang="fr-FR" sz="700" kern="100" dirty="0" err="1">
                          <a:effectLst/>
                        </a:rPr>
                        <a:t>liveness</a:t>
                      </a:r>
                      <a:r>
                        <a:rPr lang="fr-FR" sz="700" kern="100" dirty="0">
                          <a:effectLst/>
                        </a:rPr>
                        <a:t>_%</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continue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Présence d’éléments de performance live dans la chanson</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1271585656"/>
                  </a:ext>
                </a:extLst>
              </a:tr>
              <a:tr h="263057">
                <a:tc>
                  <a:txBody>
                    <a:bodyPr/>
                    <a:lstStyle/>
                    <a:p>
                      <a:pPr algn="ctr">
                        <a:lnSpc>
                          <a:spcPct val="115000"/>
                        </a:lnSpc>
                        <a:spcAft>
                          <a:spcPts val="800"/>
                        </a:spcAft>
                        <a:buNone/>
                      </a:pPr>
                      <a:r>
                        <a:rPr lang="fr-FR" sz="700" kern="100">
                          <a:effectLst/>
                        </a:rPr>
                        <a:t>speechiness_%</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Quantitative continue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Proportion de paroles parlées dans la chanson</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10803774"/>
                  </a:ext>
                </a:extLst>
              </a:tr>
              <a:tr h="263057">
                <a:tc>
                  <a:txBody>
                    <a:bodyPr/>
                    <a:lstStyle/>
                    <a:p>
                      <a:pPr algn="ctr">
                        <a:lnSpc>
                          <a:spcPct val="115000"/>
                        </a:lnSpc>
                        <a:spcAft>
                          <a:spcPts val="800"/>
                        </a:spcAft>
                        <a:buNone/>
                      </a:pPr>
                      <a:r>
                        <a:rPr lang="fr-FR" sz="700" kern="100" dirty="0" err="1">
                          <a:effectLst/>
                        </a:rPr>
                        <a:t>track_name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Qualitative nominale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Nom de la musique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1458088351"/>
                  </a:ext>
                </a:extLst>
              </a:tr>
              <a:tr h="263057">
                <a:tc>
                  <a:txBody>
                    <a:bodyPr/>
                    <a:lstStyle/>
                    <a:p>
                      <a:pPr algn="ctr">
                        <a:lnSpc>
                          <a:spcPct val="115000"/>
                        </a:lnSpc>
                        <a:spcAft>
                          <a:spcPts val="800"/>
                        </a:spcAft>
                        <a:buNone/>
                      </a:pPr>
                      <a:r>
                        <a:rPr lang="fr-FR" sz="700" kern="100" dirty="0" err="1">
                          <a:effectLst/>
                        </a:rPr>
                        <a:t>artist</a:t>
                      </a:r>
                      <a:r>
                        <a:rPr lang="fr-FR" sz="700" kern="100" dirty="0">
                          <a:effectLst/>
                        </a:rPr>
                        <a:t>(s)_</a:t>
                      </a:r>
                      <a:r>
                        <a:rPr lang="fr-FR" sz="700" kern="100" dirty="0" err="1">
                          <a:effectLst/>
                        </a:rPr>
                        <a:t>name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Qualitative nominale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Nom du ou des </a:t>
                      </a:r>
                      <a:r>
                        <a:rPr lang="fr-FR" sz="700" kern="100" dirty="0" err="1">
                          <a:effectLst/>
                        </a:rPr>
                        <a:t>artiste.s</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51910178"/>
                  </a:ext>
                </a:extLst>
              </a:tr>
              <a:tr h="263057">
                <a:tc>
                  <a:txBody>
                    <a:bodyPr/>
                    <a:lstStyle/>
                    <a:p>
                      <a:pPr algn="ctr">
                        <a:lnSpc>
                          <a:spcPct val="115000"/>
                        </a:lnSpc>
                        <a:spcAft>
                          <a:spcPts val="800"/>
                        </a:spcAft>
                        <a:buNone/>
                      </a:pPr>
                      <a:r>
                        <a:rPr lang="fr-FR" sz="700" kern="100" dirty="0">
                          <a:effectLst/>
                        </a:rPr>
                        <a:t>Key</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Qualitative nominale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La note principale (tonique) autour de laquelle la musique est construite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622823580"/>
                  </a:ext>
                </a:extLst>
              </a:tr>
              <a:tr h="397924">
                <a:tc>
                  <a:txBody>
                    <a:bodyPr/>
                    <a:lstStyle/>
                    <a:p>
                      <a:pPr algn="ctr">
                        <a:lnSpc>
                          <a:spcPct val="115000"/>
                        </a:lnSpc>
                        <a:spcAft>
                          <a:spcPts val="800"/>
                        </a:spcAft>
                        <a:buNone/>
                      </a:pPr>
                      <a:r>
                        <a:rPr lang="fr-FR" sz="700" kern="100" dirty="0">
                          <a:effectLst/>
                        </a:rPr>
                        <a:t>Mode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a:effectLst/>
                        </a:rPr>
                        <a:t>Qualitative nominale</a:t>
                      </a:r>
                      <a:endParaRPr lang="fr-FR" sz="700" kern="10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Deux modalités : Minor / Major. Correspond à l’ambiance générale du son plus ou moins joyeux</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57589636"/>
                  </a:ext>
                </a:extLst>
              </a:tr>
              <a:tr h="128190">
                <a:tc>
                  <a:txBody>
                    <a:bodyPr/>
                    <a:lstStyle/>
                    <a:p>
                      <a:pPr algn="ctr">
                        <a:lnSpc>
                          <a:spcPct val="115000"/>
                        </a:lnSpc>
                        <a:spcAft>
                          <a:spcPts val="800"/>
                        </a:spcAft>
                        <a:buNone/>
                      </a:pPr>
                      <a:r>
                        <a:rPr lang="fr-FR" sz="700" kern="100" dirty="0" err="1">
                          <a:effectLst/>
                        </a:rPr>
                        <a:t>released_year</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dirty="0">
                          <a:effectLst/>
                        </a:rPr>
                        <a:t>Temporelle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Année de sortie de la musique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487937909"/>
                  </a:ext>
                </a:extLst>
              </a:tr>
              <a:tr h="176217">
                <a:tc>
                  <a:txBody>
                    <a:bodyPr/>
                    <a:lstStyle/>
                    <a:p>
                      <a:pPr algn="ctr">
                        <a:lnSpc>
                          <a:spcPct val="115000"/>
                        </a:lnSpc>
                        <a:spcAft>
                          <a:spcPts val="800"/>
                        </a:spcAft>
                        <a:buNone/>
                      </a:pPr>
                      <a:r>
                        <a:rPr lang="fr-FR" sz="700" kern="100" dirty="0" err="1">
                          <a:effectLst/>
                        </a:rPr>
                        <a:t>released_month</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dirty="0">
                          <a:effectLst/>
                        </a:rPr>
                        <a:t>Temporelle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lnSpc>
                          <a:spcPct val="115000"/>
                        </a:lnSpc>
                        <a:spcAft>
                          <a:spcPts val="800"/>
                        </a:spcAft>
                        <a:buNone/>
                      </a:pPr>
                      <a:r>
                        <a:rPr lang="fr-FR" sz="700" kern="100" dirty="0">
                          <a:effectLst/>
                        </a:rPr>
                        <a:t>Mois de sortie de la musique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65931093"/>
                  </a:ext>
                </a:extLst>
              </a:tr>
              <a:tr h="128190">
                <a:tc>
                  <a:txBody>
                    <a:bodyPr/>
                    <a:lstStyle/>
                    <a:p>
                      <a:pPr algn="ctr">
                        <a:lnSpc>
                          <a:spcPct val="115000"/>
                        </a:lnSpc>
                        <a:spcAft>
                          <a:spcPts val="800"/>
                        </a:spcAft>
                        <a:buNone/>
                      </a:pPr>
                      <a:r>
                        <a:rPr lang="fr-FR" sz="700" kern="100" dirty="0" err="1">
                          <a:effectLst/>
                        </a:rPr>
                        <a:t>released_day</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EBD59"/>
                    </a:solidFill>
                  </a:tcPr>
                </a:tc>
                <a:tc>
                  <a:txBody>
                    <a:bodyPr/>
                    <a:lstStyle/>
                    <a:p>
                      <a:pPr algn="ctr">
                        <a:lnSpc>
                          <a:spcPct val="115000"/>
                        </a:lnSpc>
                        <a:spcAft>
                          <a:spcPts val="800"/>
                        </a:spcAft>
                        <a:buNone/>
                      </a:pPr>
                      <a:r>
                        <a:rPr lang="fr-FR" sz="700" kern="100" dirty="0">
                          <a:effectLst/>
                        </a:rPr>
                        <a:t>Temporelle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B3B3B3"/>
                    </a:solidFill>
                  </a:tcPr>
                </a:tc>
                <a:tc>
                  <a:txBody>
                    <a:bodyPr/>
                    <a:lstStyle/>
                    <a:p>
                      <a:pPr algn="ctr">
                        <a:lnSpc>
                          <a:spcPct val="115000"/>
                        </a:lnSpc>
                        <a:spcAft>
                          <a:spcPts val="800"/>
                        </a:spcAft>
                        <a:buNone/>
                      </a:pPr>
                      <a:r>
                        <a:rPr lang="fr-FR" sz="700" kern="100" dirty="0">
                          <a:effectLst/>
                        </a:rPr>
                        <a:t>Jour de sortie de la musique</a:t>
                      </a:r>
                      <a:endParaRPr lang="fr-FR"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0301" marR="40301"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B3B3B3"/>
                    </a:solidFill>
                  </a:tcPr>
                </a:tc>
                <a:extLst>
                  <a:ext uri="{0D108BD9-81ED-4DB2-BD59-A6C34878D82A}">
                    <a16:rowId xmlns:a16="http://schemas.microsoft.com/office/drawing/2014/main" val="1648078454"/>
                  </a:ext>
                </a:extLst>
              </a:tr>
            </a:tbl>
          </a:graphicData>
        </a:graphic>
      </p:graphicFrame>
      <p:sp>
        <p:nvSpPr>
          <p:cNvPr id="10" name="Bouton d’action : vide 9">
            <a:hlinkClick r:id="rId2" action="ppaction://hlinksldjump" highlightClick="1"/>
            <a:extLst>
              <a:ext uri="{FF2B5EF4-FFF2-40B4-BE49-F238E27FC236}">
                <a16:creationId xmlns:a16="http://schemas.microsoft.com/office/drawing/2014/main" id="{6CDB2BBC-43F4-7A9D-27CE-7C2C8EA2F235}"/>
              </a:ext>
            </a:extLst>
          </p:cNvPr>
          <p:cNvSpPr/>
          <p:nvPr/>
        </p:nvSpPr>
        <p:spPr>
          <a:xfrm>
            <a:off x="10834914" y="6374570"/>
            <a:ext cx="1142044" cy="319314"/>
          </a:xfrm>
          <a:prstGeom prst="actionButtonBlank">
            <a:avLst/>
          </a:prstGeom>
          <a:solidFill>
            <a:srgbClr val="2EBD59"/>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Retour </a:t>
            </a:r>
          </a:p>
        </p:txBody>
      </p:sp>
      <p:pic>
        <p:nvPicPr>
          <p:cNvPr id="11" name="Picture 3">
            <a:extLst>
              <a:ext uri="{FF2B5EF4-FFF2-40B4-BE49-F238E27FC236}">
                <a16:creationId xmlns:a16="http://schemas.microsoft.com/office/drawing/2014/main" id="{B2F68AE9-3D9C-4710-B736-1ED13DE0C905}"/>
              </a:ext>
            </a:extLst>
          </p:cNvPr>
          <p:cNvPicPr>
            <a:picLocks noChangeAspect="1"/>
          </p:cNvPicPr>
          <p:nvPr/>
        </p:nvPicPr>
        <p:blipFill>
          <a:blip r:embed="rId3"/>
          <a:stretch>
            <a:fillRect/>
          </a:stretch>
        </p:blipFill>
        <p:spPr>
          <a:xfrm>
            <a:off x="1" y="6412442"/>
            <a:ext cx="464598" cy="451839"/>
          </a:xfrm>
          <a:prstGeom prst="rect">
            <a:avLst/>
          </a:prstGeom>
        </p:spPr>
      </p:pic>
    </p:spTree>
    <p:extLst>
      <p:ext uri="{BB962C8B-B14F-4D97-AF65-F5344CB8AC3E}">
        <p14:creationId xmlns:p14="http://schemas.microsoft.com/office/powerpoint/2010/main" val="1884232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E1864DA4-A113-D21B-AC4B-D24EFBEB079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D15032F-301B-C65D-5452-FC34F4B9BD70}"/>
              </a:ext>
            </a:extLst>
          </p:cNvPr>
          <p:cNvSpPr/>
          <p:nvPr/>
        </p:nvSpPr>
        <p:spPr>
          <a:xfrm>
            <a:off x="215042" y="713178"/>
            <a:ext cx="11727401" cy="5431644"/>
          </a:xfrm>
          <a:prstGeom prst="rect">
            <a:avLst/>
          </a:prstGeom>
          <a:noFill/>
          <a:ln w="57150">
            <a:solidFill>
              <a:srgbClr val="1DB9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Rectangle 1">
            <a:extLst>
              <a:ext uri="{FF2B5EF4-FFF2-40B4-BE49-F238E27FC236}">
                <a16:creationId xmlns:a16="http://schemas.microsoft.com/office/drawing/2014/main" id="{93C653C6-3288-2D97-57FD-C3D08D11D9B7}"/>
              </a:ext>
            </a:extLst>
          </p:cNvPr>
          <p:cNvSpPr/>
          <p:nvPr/>
        </p:nvSpPr>
        <p:spPr>
          <a:xfrm>
            <a:off x="-909039" y="41158"/>
            <a:ext cx="9357173" cy="456422"/>
          </a:xfrm>
          <a:prstGeom prst="rect">
            <a:avLst/>
          </a:prstGeom>
          <a:solidFill>
            <a:srgbClr val="2EB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1076325">
              <a:lnSpc>
                <a:spcPct val="110000"/>
              </a:lnSpc>
            </a:pPr>
            <a:r>
              <a:rPr lang="fr-FR" sz="2800" b="1" dirty="0">
                <a:solidFill>
                  <a:schemeClr val="bg1"/>
                </a:solidFill>
              </a:rPr>
              <a:t>Annexe 2</a:t>
            </a:r>
          </a:p>
        </p:txBody>
      </p:sp>
      <p:sp>
        <p:nvSpPr>
          <p:cNvPr id="10" name="Bouton d’action : vide 9">
            <a:hlinkClick r:id="" action="ppaction://noaction" highlightClick="1"/>
            <a:extLst>
              <a:ext uri="{FF2B5EF4-FFF2-40B4-BE49-F238E27FC236}">
                <a16:creationId xmlns:a16="http://schemas.microsoft.com/office/drawing/2014/main" id="{23907754-76E6-36D7-01B7-CCB274244EC6}"/>
              </a:ext>
            </a:extLst>
          </p:cNvPr>
          <p:cNvSpPr/>
          <p:nvPr/>
        </p:nvSpPr>
        <p:spPr>
          <a:xfrm>
            <a:off x="10834914" y="6403325"/>
            <a:ext cx="1142044" cy="319314"/>
          </a:xfrm>
          <a:prstGeom prst="actionButtonBlank">
            <a:avLst/>
          </a:prstGeom>
          <a:solidFill>
            <a:srgbClr val="2EBD59"/>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hlinkClick r:id="rId2" action="ppaction://hlinksldjump" highlightClick="1">
                  <a:extLst>
                    <a:ext uri="{A12FA001-AC4F-418D-AE19-62706E023703}">
                      <ahyp:hlinkClr xmlns:ahyp="http://schemas.microsoft.com/office/drawing/2018/hyperlinkcolor" val="tx"/>
                    </a:ext>
                  </a:extLst>
                </a:hlinkClick>
              </a:rPr>
              <a:t>Retour</a:t>
            </a:r>
            <a:r>
              <a:rPr lang="fr-FR" b="1" dirty="0">
                <a:solidFill>
                  <a:schemeClr val="bg1"/>
                </a:solidFill>
              </a:rPr>
              <a:t> </a:t>
            </a:r>
          </a:p>
        </p:txBody>
      </p:sp>
      <p:pic>
        <p:nvPicPr>
          <p:cNvPr id="11" name="Picture 3">
            <a:extLst>
              <a:ext uri="{FF2B5EF4-FFF2-40B4-BE49-F238E27FC236}">
                <a16:creationId xmlns:a16="http://schemas.microsoft.com/office/drawing/2014/main" id="{B1F2CF4A-478B-5A70-3781-BA616F0608CD}"/>
              </a:ext>
            </a:extLst>
          </p:cNvPr>
          <p:cNvPicPr>
            <a:picLocks noChangeAspect="1"/>
          </p:cNvPicPr>
          <p:nvPr/>
        </p:nvPicPr>
        <p:blipFill>
          <a:blip r:embed="rId3"/>
          <a:stretch>
            <a:fillRect/>
          </a:stretch>
        </p:blipFill>
        <p:spPr>
          <a:xfrm>
            <a:off x="1" y="6412442"/>
            <a:ext cx="464598" cy="451839"/>
          </a:xfrm>
          <a:prstGeom prst="rect">
            <a:avLst/>
          </a:prstGeom>
        </p:spPr>
      </p:pic>
      <p:sp>
        <p:nvSpPr>
          <p:cNvPr id="5" name="ZoneTexte 4">
            <a:extLst>
              <a:ext uri="{FF2B5EF4-FFF2-40B4-BE49-F238E27FC236}">
                <a16:creationId xmlns:a16="http://schemas.microsoft.com/office/drawing/2014/main" id="{79CC0A45-BDDF-6D8A-3C16-64CF878871B5}"/>
              </a:ext>
            </a:extLst>
          </p:cNvPr>
          <p:cNvSpPr txBox="1"/>
          <p:nvPr/>
        </p:nvSpPr>
        <p:spPr>
          <a:xfrm>
            <a:off x="215042" y="724451"/>
            <a:ext cx="11727401" cy="461665"/>
          </a:xfrm>
          <a:prstGeom prst="rect">
            <a:avLst/>
          </a:prstGeom>
          <a:solidFill>
            <a:srgbClr val="1DB954"/>
          </a:solidFill>
        </p:spPr>
        <p:txBody>
          <a:bodyPr wrap="square" rtlCol="0">
            <a:spAutoFit/>
          </a:bodyPr>
          <a:lstStyle/>
          <a:p>
            <a:r>
              <a:rPr lang="fr-FR" sz="2400" b="1" dirty="0">
                <a:solidFill>
                  <a:schemeClr val="bg1"/>
                </a:solidFill>
              </a:rPr>
              <a:t>Top 10 des morceaux les plus écoutés</a:t>
            </a:r>
          </a:p>
        </p:txBody>
      </p:sp>
      <p:pic>
        <p:nvPicPr>
          <p:cNvPr id="21" name="Image 20" descr="Une image contenant texte, capture d’écran, Police, nombre&#10;&#10;Le contenu généré par l’IA peut être incorrect.">
            <a:extLst>
              <a:ext uri="{FF2B5EF4-FFF2-40B4-BE49-F238E27FC236}">
                <a16:creationId xmlns:a16="http://schemas.microsoft.com/office/drawing/2014/main" id="{E6922F5D-3BA4-0FE1-B987-6058693C44B4}"/>
              </a:ext>
            </a:extLst>
          </p:cNvPr>
          <p:cNvPicPr>
            <a:picLocks noChangeAspect="1"/>
          </p:cNvPicPr>
          <p:nvPr/>
        </p:nvPicPr>
        <p:blipFill>
          <a:blip r:embed="rId4">
            <a:extLst>
              <a:ext uri="{28A0092B-C50C-407E-A947-70E740481C1C}">
                <a14:useLocalDpi xmlns:a14="http://schemas.microsoft.com/office/drawing/2010/main" val="0"/>
              </a:ext>
            </a:extLst>
          </a:blip>
          <a:srcRect t="6629" b="1835"/>
          <a:stretch>
            <a:fillRect/>
          </a:stretch>
        </p:blipFill>
        <p:spPr>
          <a:xfrm>
            <a:off x="1766426" y="1197388"/>
            <a:ext cx="8659148" cy="4897267"/>
          </a:xfrm>
          <a:prstGeom prst="rect">
            <a:avLst/>
          </a:prstGeom>
        </p:spPr>
      </p:pic>
    </p:spTree>
    <p:extLst>
      <p:ext uri="{BB962C8B-B14F-4D97-AF65-F5344CB8AC3E}">
        <p14:creationId xmlns:p14="http://schemas.microsoft.com/office/powerpoint/2010/main" val="358191941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6B7C8C118F0C44DA1818FAE4F6F3E78" ma:contentTypeVersion="5" ma:contentTypeDescription="Crée un document." ma:contentTypeScope="" ma:versionID="0d4a21936d50400c5a8190cd6d0379df">
  <xsd:schema xmlns:xsd="http://www.w3.org/2001/XMLSchema" xmlns:xs="http://www.w3.org/2001/XMLSchema" xmlns:p="http://schemas.microsoft.com/office/2006/metadata/properties" xmlns:ns3="923af07c-4932-46a9-9ad9-55c398c21c2e" targetNamespace="http://schemas.microsoft.com/office/2006/metadata/properties" ma:root="true" ma:fieldsID="107388338cd00134eca20efe52c49b7f" ns3:_="">
    <xsd:import namespace="923af07c-4932-46a9-9ad9-55c398c21c2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3af07c-4932-46a9-9ad9-55c398c21c2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29A831-E773-4A4D-95FF-FDAAC0142C50}">
  <ds:schemaRefs>
    <ds:schemaRef ds:uri="http://schemas.microsoft.com/sharepoint/v3/contenttype/forms"/>
  </ds:schemaRefs>
</ds:datastoreItem>
</file>

<file path=customXml/itemProps2.xml><?xml version="1.0" encoding="utf-8"?>
<ds:datastoreItem xmlns:ds="http://schemas.openxmlformats.org/officeDocument/2006/customXml" ds:itemID="{1E2619DA-4E37-44E9-B0B0-DB3DB52A06E6}">
  <ds:schemaRefs>
    <ds:schemaRef ds:uri="923af07c-4932-46a9-9ad9-55c398c21c2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60CE9E4-A7F7-485A-B1A7-73A30CE307CB}">
  <ds:schemaRefs>
    <ds:schemaRef ds:uri="http://purl.org/dc/dcmitype/"/>
    <ds:schemaRef ds:uri="http://www.w3.org/XML/1998/namespace"/>
    <ds:schemaRef ds:uri="http://schemas.microsoft.com/office/infopath/2007/PartnerControls"/>
    <ds:schemaRef ds:uri="923af07c-4932-46a9-9ad9-55c398c21c2e"/>
    <ds:schemaRef ds:uri="http://schemas.openxmlformats.org/package/2006/metadata/core-properties"/>
    <ds:schemaRef ds:uri="http://schemas.microsoft.com/office/2006/documentManagement/types"/>
    <ds:schemaRef ds:uri="http://schemas.microsoft.com/office/2006/metadata/properties"/>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0</TotalTime>
  <Words>2832</Words>
  <Application>Microsoft Office PowerPoint</Application>
  <PresentationFormat>Grand écran</PresentationFormat>
  <Paragraphs>385</Paragraphs>
  <Slides>20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20</vt:i4>
      </vt:variant>
    </vt:vector>
  </HeadingPairs>
  <TitlesOfParts>
    <vt:vector size="26" baseType="lpstr">
      <vt:lpstr>Aptos</vt:lpstr>
      <vt:lpstr>Aptos Display</vt:lpstr>
      <vt:lpstr>Arial</vt:lpstr>
      <vt:lpstr>Calibri</vt:lpstr>
      <vt:lpstr>Google Sans Text</vt:lpstr>
      <vt:lpstr>Thème Office</vt:lpstr>
      <vt:lpstr>Analyse de la popularité des musiques sur Spotify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Sevan Petit</dc:creator>
  <cp:lastModifiedBy>Carl Penven</cp:lastModifiedBy>
  <cp:revision>15</cp:revision>
  <dcterms:created xsi:type="dcterms:W3CDTF">2026-02-11T14:22:24Z</dcterms:created>
  <dcterms:modified xsi:type="dcterms:W3CDTF">2026-03-26T08:07:13Z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0x010100A6B7C8C118F0C44DA1818FAE4F6F3E78</vt:lpwstr>
  </property>
</Properties>
</file>